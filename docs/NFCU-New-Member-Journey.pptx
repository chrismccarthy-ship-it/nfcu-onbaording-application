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15b4a3e-732d-da7c-8433-a5d4f97a9fa2}">
          <p14:sldIdLst>
            <p14:sldId id="256"/>
          </p14:sldIdLst>
        </p14:section>
        <p14:section name="The journey" id="{838f9c0a-eba5-6e88-7fe5-e710658a33d4}">
          <p14:sldIdLst>
            <p14:sldId id="257"/>
          </p14:sldIdLst>
        </p14:section>
        <p14:section name="Targeting" id="{48eed251-3131-b474-950f-4bd21a3cad7b}">
          <p14:sldIdLst>
            <p14:sldId id="258"/>
            <p14:sldId id="259"/>
            <p14:sldId id="260"/>
          </p14:sldIdLst>
        </p14:section>
        <p14:section name="Join and apply" id="{b8dba828-241a-a28a-d9af-6d35505310ba}">
          <p14:sldIdLst>
            <p14:sldId id="261"/>
            <p14:sldId id="262"/>
            <p14:sldId id="263"/>
            <p14:sldId id="264"/>
            <p14:sldId id="265"/>
            <p14:sldId id="266"/>
            <p14:sldId id="267"/>
            <p14:sldId id="268"/>
            <p14:sldId id="269"/>
            <p14:sldId id="270"/>
          </p14:sldIdLst>
        </p14:section>
        <p14:section name="Open accounts" id="{2471036c-f9b1-39ef-d3c2-500a3e500983}">
          <p14:sldIdLst>
            <p14:sldId id="271"/>
            <p14:sldId id="272"/>
            <p14:sldId id="273"/>
            <p14:sldId id="274"/>
          </p14:sldIdLst>
        </p14:section>
        <p14:section name="First 30 days" id="{1865edec-49ba-9eb4-73fc-57e53df9e82d}">
          <p14:sldIdLst>
            <p14:sldId id="275"/>
            <p14:sldId id="276"/>
            <p14:sldId id="277"/>
            <p14:sldId id="278"/>
          </p14:sldIdLst>
        </p14:section>
        <p14:section name="Measure and grow" id="{8642d0d0-6b66-cb23-5aa8-4bb0d9c3f9e7}">
          <p14:sldIdLst>
            <p14:sldId id="279"/>
            <p14:sldId id="280"/>
            <p14:sldId id="281"/>
          </p14:sldIdLst>
        </p14:section>
        <p14:section name="Appendix" id="{ee1af30c-e3f1-2e72-0b5b-b21a5da77345}">
          <p14:sldIdLst>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want to show you a member relationship that started from nothing. Ethan Carter has never banked with Navy Federal. By the end of this story he's a member with a funded savings and checking account, an active debit card and his paycheck on its way.
We'll follow him through five moments: how we reach him, how he joins and applies, how a banker opens his accounts, his first 30 days, and how Navy Federal measures the whole funnel.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journey on one page. Everything you'll see runs on one platform and one member record, so each step hands off to the next without re-keying.
The first moment, targeting, is the strategy we'd recommend. The four after it are working in the demo org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one is targeting: who Navy Federal reaches, and where they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Ethan's story starts before he ever visits the website. The best prospects for Navy Federal are the people already next to a member: spouses, fiancés, adult children and roommates. They're eligible on day one.
With Data Cloud, Navy Federal can build those segments from the household data it already has, then reach them with a personalized email or a member referral that lands on the open account page. To be clear, this targeting piece is our recommended approach, it isn't built in the demo org.
Ethan is exactly that prospect: he's Lauren Bailey's fiancé, and he's been with the same bank since high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campaign lands: the new checking offer. One button, join and open your account, and it goes straight to the application we're about to see.
Because every campaign uses the same front door, Navy Federal can see which segment and which message brought each new member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two: Ethan joins Navy Federal and applies for checking in a single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Ethan lands on one page: join Navy Federal and apply in one step. The progress ring and the five steps tell him exactly how long this will take.
We start with eligibility, because that's the first question a credit union has to answer. He sees every way to qualify, and if he picks none of these, we stop and offer help instead of collecting data we can't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Ethan isn't military himself. He qualifies as a household member of Lauren Bailey, an existing member and his fiancée. He names her, picks the relationship, and gets an immediate answer: you're eligible to join.
That's the targeting segment paying off. Existing members bring their households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basics: name, contact details, date of birth, address and citizenship. His Social Security number is masked as he types and stored encrypted.
He enters this once. The same details become his member record and his account application, so nobody asks him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documents. He uploads a photo of his driver's license and proof that he lives in the same household.
Those files go straight onto the case. When the banker opens his accounts, the ID is already there. No email back and forth, no "can you send that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heart of it. Every member opens a Membership Savings Account with five dollars, and that's included automatically.
In the same flow, Ethan adds the product he came for: checking, with a $250 opening deposit transferred from his current bank, and a debit card.
That's the difference between joining and then applying, and joining by applying.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he submits, Ethan sees everything on one screen, can edit any section, and certifies that it's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he's in. He gets his reference numbers, a plain explanation of what happens next, and a private link to his first 30 days checklist. The same link arrives in his welcome email; in the demo every welcome email goes to the shared demo inbox, so you can open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that one click, Salesforce captured Ethan as a Lead from the website and immediately converted him into a Person Account. Navy Federal's prospect data and member data are the same data.
In the same transaction the system created his deposit application for savings and checking, his onboarding record, the case for the contact center, and attached his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case your banker receives. It's routed like any other case, and it arrives complete: who Ethan is, how he's eligible, what he applied for, and his documents.
The Service Rep Assistant is set up with a Navy Federal Member Onboarding topic, so its plan follows the same steps: confirm eligibility, gather what's needed, verify identity, then open the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three moves to the banker, who verifies Ethan and opens his accounts in one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a video appointment, the banker opens the Open Deposit Accounts action. Step one shows what Ethan applied for: the Membership Savings Account and Everyday Checking with a debit card, his eligibility, and the ID he uploaded.
The banker can drop a product or add overdraft protection with Ethan right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is KYC. The banker asks the customer identification questions: occupation and employer, source of funds, expected deposits and the purpose of the account. The ID details are read from the document Ethan already uploaded.
Then one click runs five checks: identity, document authentication, OFAC sanctions screening, deposit account history and address verification. In the demo these are simulated. In production they'd be the vendors Navy Federal already uses, called through MuleSoft, with results stored on the member's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opens the accounts. Salesforce creates his savings and checking as financial accounts with Ethan as the owner, marks the application approved, and records the KYC result.
Then the opening deposits post: $255 from his external account. The debit card is ordered in the same step. Ethan leaves the call as a funded 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four is what happens after the accounts open, the part that turns a new account into a primary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most banks leave to a stack of mail: the first 30 days. Ethan opens the private link from his welcome email. No login to set up yet.
He sees his progress, his two accounts and live balances, and the three things left to do: activate his card, move his paycheck, and set up digital banking.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card arrives, he activates it with the last four digits and his date of birth.
Then the step that keeps people at their old bank: switching direct deposit. We fill in the form for him with his employer, Navy Federal's routing number and his checking account, and he sends it to payroll. If he has questions, the Ask Me Anything agent answers from the "How do I switch my direct deposit" knowledge article.
Card activation and the payroll hand-off are simulated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he's done. Every step Ethan finished was logged on his case, so the banker and the Service Rep Assistant know exactly where he is without calling him.
This is the moment that matters: Ethan isn't just a new account, his paycheck lands here. That's a primary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five is how Navy Federal measures the whole journey and what it means for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everything lives on one platform, Navy Federal can measure the whole journey as one funnel. Every stage you just saw is a field on a record the demo creates: the lead, the conversion, the application, the KYC result, the financial account, the card status and the direct deposit status.
So you can see where new members stall. If people open accounts but never switch their paycheck, you know where to put the next nudge, whether that's an email, a banker call or an agent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mean for Navy Federal? You grow through the households you already serve. You replace two applications with one. KYC happens inside the conversation instead of in a back-office queue.
Accounts are funded on day one, and the first 30 days turn a new account into a primary relationship. And because it's one record from prospect to member, you can measure every step.
That's a brand-new relationship, prospect to member to primary, in one integrated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technical team: every Experience Cloud page in the journey with its URL, and every Lightning web component and where it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data model: standard Financial Services Cloud objects carry the deposit relationship, and two demo objects carry the onboarding record and the product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Apex, flows, agent topics, knowledge articles and permission sets behind it, plus the demo rule that welcome emails always go to the shared demo inbox.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4337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EA3C4"/>
                </a:solidFill>
                <a:latin typeface="Segoe UI"/>
                <a:ea typeface="Segoe UI"/>
                <a:cs typeface="Segoe U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43370"/>
          </a:solidFill>
          <a:ln/>
        </p:spPr>
      </p:sp>
      <p:sp>
        <p:nvSpPr>
          <p:cNvPr id="3" name="Shape 1"/>
          <p:cNvSpPr/>
          <p:nvPr/>
        </p:nvSpPr>
        <p:spPr>
          <a:xfrm>
            <a:off x="0" y="0"/>
            <a:ext cx="1280160" cy="73152"/>
          </a:xfrm>
          <a:prstGeom prst="rect">
            <a:avLst/>
          </a:prstGeom>
          <a:solidFill>
            <a:srgbClr val="ED780F"/>
          </a:solidFill>
          <a:ln/>
        </p:spPr>
      </p:sp>
      <p:sp>
        <p:nvSpPr>
          <p:cNvPr id="4" name="Text 2"/>
          <p:cNvSpPr/>
          <p:nvPr/>
        </p:nvSpPr>
        <p:spPr>
          <a:xfrm>
            <a:off x="457200" y="4800600"/>
            <a:ext cx="4572000" cy="201168"/>
          </a:xfrm>
          <a:prstGeom prst="rect">
            <a:avLst/>
          </a:prstGeom>
          <a:noFill/>
          <a:ln/>
        </p:spPr>
        <p:txBody>
          <a:bodyPr wrap="square" lIns="0" tIns="0" rIns="0" bIns="0" rtlCol="0" anchor="ctr"/>
          <a:lstStyle/>
          <a:p>
            <a:pPr indent="0" marL="0">
              <a:buNone/>
            </a:pPr>
            <a:r>
              <a:rPr lang="en-US" sz="800" b="1" spc="200" kern="0" dirty="0">
                <a:solidFill>
                  <a:srgbClr val="5A6577"/>
                </a:solidFill>
                <a:latin typeface="Segoe UI" pitchFamily="34" charset="0"/>
                <a:ea typeface="Segoe UI" pitchFamily="34" charset="-122"/>
                <a:cs typeface="Segoe UI" pitchFamily="34" charset="-120"/>
              </a:rPr>
              <a:t>NAVY FEDERAL  ·  NEW MEMBER JOURNEY</a:t>
            </a:r>
            <a:endParaRPr lang="en-US" sz="8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EA3C4"/>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ackdrop circle"/>
          <p:cNvSpPr/>
          <p:nvPr/>
        </p:nvSpPr>
        <p:spPr>
          <a:xfrm>
            <a:off x="5852160" y="-1463040"/>
            <a:ext cx="4754880" cy="4754880"/>
          </a:xfrm>
          <a:prstGeom prst="ellipse">
            <a:avLst/>
          </a:prstGeom>
          <a:solidFill>
            <a:srgbClr val="021C3E"/>
          </a:solidFill>
          <a:ln w="12700">
            <a:solidFill>
              <a:srgbClr val="021C3E"/>
            </a:solidFill>
            <a:prstDash val="solid"/>
          </a:ln>
        </p:spPr>
      </p:sp>
      <p:sp>
        <p:nvSpPr>
          <p:cNvPr id="3" name="Accent circle"/>
          <p:cNvSpPr/>
          <p:nvPr/>
        </p:nvSpPr>
        <p:spPr>
          <a:xfrm>
            <a:off x="6949440" y="2377440"/>
            <a:ext cx="3291840" cy="3291840"/>
          </a:xfrm>
          <a:prstGeom prst="ellipse">
            <a:avLst/>
          </a:prstGeom>
          <a:solidFill>
            <a:srgbClr val="ED780F">
              <a:alpha val="20000"/>
            </a:srgbClr>
          </a:solidFill>
          <a:ln w="12700">
            <a:solidFill>
              <a:srgbClr val="ED780F">
                <a:alpha val="20000"/>
              </a:srgbClr>
            </a:solidFill>
            <a:prstDash val="solid"/>
          </a:ln>
        </p:spPr>
      </p:sp>
      <p:sp>
        <p:nvSpPr>
          <p:cNvPr id="4" name="Accent bar"/>
          <p:cNvSpPr/>
          <p:nvPr/>
        </p:nvSpPr>
        <p:spPr>
          <a:xfrm>
            <a:off x="548640" y="1234440"/>
            <a:ext cx="822960" cy="64008"/>
          </a:xfrm>
          <a:prstGeom prst="rect">
            <a:avLst/>
          </a:prstGeom>
          <a:solidFill>
            <a:srgbClr val="ED780F"/>
          </a:solidFill>
          <a:ln w="12700">
            <a:solidFill>
              <a:srgbClr val="ED780F"/>
            </a:solidFill>
            <a:prstDash val="solid"/>
          </a:ln>
        </p:spPr>
      </p:sp>
      <p:sp>
        <p:nvSpPr>
          <p:cNvPr id="5" name="Text 3"/>
          <p:cNvSpPr txBox="1"/>
          <p:nvPr/>
        </p:nvSpPr>
        <p:spPr>
          <a:xfrm>
            <a:off x="548640" y="914400"/>
            <a:ext cx="5486400" cy="274320"/>
          </a:xfrm>
          <a:prstGeom prst="rect">
            <a:avLst/>
          </a:prstGeom>
          <a:noFill/>
          <a:ln/>
        </p:spPr>
        <p:txBody>
          <a:bodyPr wrap="square" lIns="0" tIns="0" rIns="0" bIns="0" rtlCol="0" anchor="t"/>
          <a:lstStyle/>
          <a:p>
            <a:pPr indent="0" marL="0">
              <a:buNone/>
            </a:pPr>
            <a:r>
              <a:rPr lang="en-US" sz="1100" b="1" spc="300" kern="0" dirty="0">
                <a:solidFill>
                  <a:srgbClr val="ED780F"/>
                </a:solidFill>
                <a:latin typeface="Segoe UI" pitchFamily="34" charset="0"/>
                <a:ea typeface="Segoe UI" pitchFamily="34" charset="-122"/>
                <a:cs typeface="Segoe UI" pitchFamily="34" charset="-120"/>
              </a:rPr>
              <a:t>NAVY FEDERAL CREDIT UNION</a:t>
            </a:r>
            <a:endParaRPr lang="en-US" sz="1100" dirty="0"/>
          </a:p>
        </p:txBody>
      </p:sp>
      <p:sp>
        <p:nvSpPr>
          <p:cNvPr id="6" name="Text 4"/>
          <p:cNvSpPr txBox="1"/>
          <p:nvPr/>
        </p:nvSpPr>
        <p:spPr>
          <a:xfrm>
            <a:off x="548640" y="1463040"/>
            <a:ext cx="6035040" cy="1463040"/>
          </a:xfrm>
          <a:prstGeom prst="rect">
            <a:avLst/>
          </a:prstGeom>
          <a:noFill/>
          <a:ln/>
        </p:spPr>
        <p:txBody>
          <a:bodyPr wrap="square" lIns="0" tIns="0" rIns="0" bIns="0" rtlCol="0" anchor="t">
            <a:normAutofit/>
          </a:bodyPr>
          <a:lstStyle/>
          <a:p>
            <a:pPr indent="0" marL="0">
              <a:buNone/>
            </a:pPr>
            <a:r>
              <a:rPr lang="en-US" sz="4000" dirty="0">
                <a:solidFill>
                  <a:srgbClr val="FFFFFF"/>
                </a:solidFill>
                <a:latin typeface="Segoe UI Semibold" pitchFamily="34" charset="0"/>
                <a:ea typeface="Segoe UI Semibold" pitchFamily="34" charset="-122"/>
                <a:cs typeface="Segoe UI Semibold" pitchFamily="34" charset="-120"/>
              </a:rPr>
              <a:t>A brand-new member, start to finish</a:t>
            </a:r>
            <a:endParaRPr lang="en-US" sz="4000" dirty="0"/>
          </a:p>
        </p:txBody>
      </p:sp>
      <p:sp>
        <p:nvSpPr>
          <p:cNvPr id="7" name="Text 5"/>
          <p:cNvSpPr txBox="1"/>
          <p:nvPr/>
        </p:nvSpPr>
        <p:spPr>
          <a:xfrm>
            <a:off x="548640" y="2971800"/>
            <a:ext cx="5669280" cy="411480"/>
          </a:xfrm>
          <a:prstGeom prst="rect">
            <a:avLst/>
          </a:prstGeom>
          <a:noFill/>
          <a:ln/>
        </p:spPr>
        <p:txBody>
          <a:bodyPr wrap="square" lIns="0" tIns="0" rIns="0" bIns="0" rtlCol="0" anchor="t"/>
          <a:lstStyle/>
          <a:p>
            <a:pPr indent="0" marL="0">
              <a:buNone/>
            </a:pPr>
            <a:r>
              <a:rPr lang="en-US" sz="1600" dirty="0">
                <a:solidFill>
                  <a:srgbClr val="C9D6EA"/>
                </a:solidFill>
                <a:latin typeface="Segoe UI" pitchFamily="34" charset="0"/>
                <a:ea typeface="Segoe UI" pitchFamily="34" charset="-122"/>
                <a:cs typeface="Segoe UI" pitchFamily="34" charset="-120"/>
              </a:rPr>
              <a:t>Prospect to funded, primary member in one connected journey</a:t>
            </a:r>
            <a:endParaRPr lang="en-US" sz="1600" dirty="0"/>
          </a:p>
        </p:txBody>
      </p:sp>
      <p:sp>
        <p:nvSpPr>
          <p:cNvPr id="8" name="Text 6"/>
          <p:cNvSpPr txBox="1"/>
          <p:nvPr/>
        </p:nvSpPr>
        <p:spPr>
          <a:xfrm>
            <a:off x="548640" y="4160520"/>
            <a:ext cx="6400800" cy="274320"/>
          </a:xfrm>
          <a:prstGeom prst="rect">
            <a:avLst/>
          </a:prstGeom>
          <a:noFill/>
          <a:ln/>
        </p:spPr>
        <p:txBody>
          <a:bodyPr wrap="square" lIns="0" tIns="0" rIns="0" bIns="0" rtlCol="0" anchor="t"/>
          <a:lstStyle/>
          <a:p>
            <a:pPr indent="0" marL="0">
              <a:buNone/>
            </a:pPr>
            <a:r>
              <a:rPr lang="en-US" sz="1050" b="1" dirty="0">
                <a:solidFill>
                  <a:srgbClr val="8EA3C4"/>
                </a:solidFill>
                <a:latin typeface="Segoe UI" pitchFamily="34" charset="0"/>
                <a:ea typeface="Segoe UI" pitchFamily="34" charset="-122"/>
                <a:cs typeface="Segoe UI" pitchFamily="34" charset="-120"/>
              </a:rPr>
              <a:t>Experience Cloud  ·  Service Cloud  ·  Financial Services Cloud  ·  Agentforce</a:t>
            </a:r>
            <a:endParaRPr lang="en-US" sz="105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EA3C4"/>
                </a:solidFill>
                <a:latin typeface="Segoe UI"/>
                <a:ea typeface="Segoe UI"/>
                <a:cs typeface="Segoe U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411480"/>
            <a:ext cx="8229600" cy="219456"/>
          </a:xfrm>
          <a:prstGeom prst="rect">
            <a:avLst/>
          </a:prstGeom>
          <a:noFill/>
          <a:ln/>
        </p:spPr>
        <p:txBody>
          <a:bodyPr wrap="square" lIns="0" tIns="0" rIns="0" bIns="0" rtlCol="0" anchor="t"/>
          <a:lstStyle/>
          <a:p>
            <a:pPr indent="0" marL="0">
              <a:buNone/>
            </a:pPr>
            <a:r>
              <a:rPr lang="en-US" sz="900" b="1" spc="250" kern="0" dirty="0">
                <a:solidFill>
                  <a:srgbClr val="ED780F"/>
                </a:solidFill>
                <a:latin typeface="Segoe UI" pitchFamily="34" charset="0"/>
                <a:ea typeface="Segoe UI" pitchFamily="34" charset="-122"/>
                <a:cs typeface="Segoe UI" pitchFamily="34" charset="-120"/>
              </a:rPr>
              <a:t>THE JOURNEY</a:t>
            </a:r>
            <a:endParaRPr lang="en-US" sz="900" dirty="0"/>
          </a:p>
        </p:txBody>
      </p:sp>
      <p:sp>
        <p:nvSpPr>
          <p:cNvPr id="3" name="Text 1"/>
          <p:cNvSpPr txBox="1"/>
          <p:nvPr/>
        </p:nvSpPr>
        <p:spPr>
          <a:xfrm>
            <a:off x="457200" y="658368"/>
            <a:ext cx="8229600" cy="548640"/>
          </a:xfrm>
          <a:prstGeom prst="rect">
            <a:avLst/>
          </a:prstGeom>
          <a:noFill/>
          <a:ln/>
        </p:spPr>
        <p:txBody>
          <a:bodyPr wrap="square" lIns="0" tIns="0" rIns="0" bIns="0" rtlCol="0" anchor="t">
            <a:normAutofit/>
          </a:bodyPr>
          <a:lstStyle/>
          <a:p>
            <a:pPr indent="0" marL="0">
              <a:buNone/>
            </a:pPr>
            <a:r>
              <a:rPr lang="en-US" sz="2800" dirty="0">
                <a:solidFill>
                  <a:srgbClr val="FFFFFF"/>
                </a:solidFill>
                <a:latin typeface="Segoe UI Semibold" pitchFamily="34" charset="0"/>
                <a:ea typeface="Segoe UI Semibold" pitchFamily="34" charset="-122"/>
                <a:cs typeface="Segoe UI Semibold" pitchFamily="34" charset="-120"/>
              </a:rPr>
              <a:t>Five moments in a new deposit relationship</a:t>
            </a:r>
            <a:endParaRPr lang="en-US" sz="2800" dirty="0"/>
          </a:p>
        </p:txBody>
      </p:sp>
      <p:sp>
        <p:nvSpPr>
          <p:cNvPr id="4" name="Timeline"/>
          <p:cNvSpPr/>
          <p:nvPr/>
        </p:nvSpPr>
        <p:spPr>
          <a:xfrm>
            <a:off x="777240" y="1828800"/>
            <a:ext cx="7589520" cy="0"/>
          </a:xfrm>
          <a:prstGeom prst="line">
            <a:avLst/>
          </a:prstGeom>
          <a:noFill/>
          <a:ln w="19050">
            <a:solidFill>
              <a:srgbClr val="3A5A8C"/>
            </a:solidFill>
            <a:prstDash val="dash"/>
          </a:ln>
        </p:spPr>
      </p:sp>
      <p:sp>
        <p:nvSpPr>
          <p:cNvPr id="5" name="Step 1"/>
          <p:cNvSpPr/>
          <p:nvPr/>
        </p:nvSpPr>
        <p:spPr>
          <a:xfrm>
            <a:off x="502920" y="1508760"/>
            <a:ext cx="640080" cy="640080"/>
          </a:xfrm>
          <a:prstGeom prst="ellipse">
            <a:avLst/>
          </a:prstGeom>
          <a:solidFill>
            <a:srgbClr val="043370"/>
          </a:solidFill>
          <a:ln w="19050">
            <a:solidFill>
              <a:srgbClr val="ED780F"/>
            </a:solidFill>
            <a:prstDash val="solid"/>
          </a:ln>
        </p:spPr>
      </p:sp>
      <p:sp>
        <p:nvSpPr>
          <p:cNvPr id="6" name="Text 4"/>
          <p:cNvSpPr txBox="1"/>
          <p:nvPr/>
        </p:nvSpPr>
        <p:spPr>
          <a:xfrm>
            <a:off x="502920" y="1508760"/>
            <a:ext cx="640080" cy="640080"/>
          </a:xfrm>
          <a:prstGeom prst="rect">
            <a:avLst/>
          </a:prstGeom>
          <a:noFill/>
          <a:ln/>
        </p:spPr>
        <p:txBody>
          <a:bodyPr wrap="square" lIns="0" tIns="0" rIns="0" bIns="0" rtlCol="0" anchor="ctr"/>
          <a:lstStyle/>
          <a:p>
            <a:pPr algn="ctr" indent="0" marL="0">
              <a:buNone/>
            </a:pPr>
            <a:r>
              <a:rPr lang="en-US" sz="2000" dirty="0">
                <a:solidFill>
                  <a:srgbClr val="ED780F"/>
                </a:solidFill>
                <a:latin typeface="Segoe UI Semibold" pitchFamily="34" charset="0"/>
                <a:ea typeface="Segoe UI Semibold" pitchFamily="34" charset="-122"/>
                <a:cs typeface="Segoe UI Semibold" pitchFamily="34" charset="-120"/>
              </a:rPr>
              <a:t>1</a:t>
            </a:r>
            <a:endParaRPr lang="en-US" sz="2000" dirty="0"/>
          </a:p>
        </p:txBody>
      </p:sp>
      <p:sp>
        <p:nvSpPr>
          <p:cNvPr id="7" name="Text 5"/>
          <p:cNvSpPr txBox="1"/>
          <p:nvPr/>
        </p:nvSpPr>
        <p:spPr>
          <a:xfrm>
            <a:off x="457200" y="2377440"/>
            <a:ext cx="1554480" cy="548640"/>
          </a:xfrm>
          <a:prstGeom prst="rect">
            <a:avLst/>
          </a:prstGeom>
          <a:noFill/>
          <a:ln/>
        </p:spPr>
        <p:txBody>
          <a:bodyPr wrap="square" lIns="0" tIns="0" rIns="0" bIns="0" rtlCol="0" anchor="t"/>
          <a:lstStyle/>
          <a:p>
            <a:pPr indent="0" marL="0">
              <a:buNone/>
            </a:pPr>
            <a:r>
              <a:rPr lang="en-US" sz="1500" dirty="0">
                <a:solidFill>
                  <a:srgbClr val="FFFFFF"/>
                </a:solidFill>
                <a:latin typeface="Segoe UI Semibold" pitchFamily="34" charset="0"/>
                <a:ea typeface="Segoe UI Semibold" pitchFamily="34" charset="-122"/>
                <a:cs typeface="Segoe UI Semibold" pitchFamily="34" charset="-120"/>
              </a:rPr>
              <a:t>Targeting</a:t>
            </a:r>
            <a:endParaRPr lang="en-US" sz="1500" dirty="0"/>
          </a:p>
        </p:txBody>
      </p:sp>
      <p:sp>
        <p:nvSpPr>
          <p:cNvPr id="8" name="Text 6"/>
          <p:cNvSpPr txBox="1"/>
          <p:nvPr/>
        </p:nvSpPr>
        <p:spPr>
          <a:xfrm>
            <a:off x="457200" y="2926080"/>
            <a:ext cx="1508760" cy="868680"/>
          </a:xfrm>
          <a:prstGeom prst="rect">
            <a:avLst/>
          </a:prstGeom>
          <a:noFill/>
          <a:ln/>
        </p:spPr>
        <p:txBody>
          <a:bodyPr wrap="square" lIns="0" tIns="0" rIns="0" bIns="0" rtlCol="0" anchor="t"/>
          <a:lstStyle/>
          <a:p>
            <a:pPr indent="0" marL="0">
              <a:buNone/>
            </a:pPr>
            <a:r>
              <a:rPr lang="en-US" sz="1100" dirty="0">
                <a:solidFill>
                  <a:srgbClr val="C9D6EA"/>
                </a:solidFill>
                <a:latin typeface="Segoe UI" pitchFamily="34" charset="0"/>
                <a:ea typeface="Segoe UI" pitchFamily="34" charset="-122"/>
                <a:cs typeface="Segoe UI" pitchFamily="34" charset="-120"/>
              </a:rPr>
              <a:t>Reach the households of existing members</a:t>
            </a:r>
            <a:endParaRPr lang="en-US" sz="1100" dirty="0"/>
          </a:p>
        </p:txBody>
      </p:sp>
      <p:sp>
        <p:nvSpPr>
          <p:cNvPr id="9" name="Tag 1"/>
          <p:cNvSpPr/>
          <p:nvPr/>
        </p:nvSpPr>
        <p:spPr>
          <a:xfrm>
            <a:off x="457200" y="3931920"/>
            <a:ext cx="1325880" cy="246888"/>
          </a:xfrm>
          <a:prstGeom prst="roundRect">
            <a:avLst>
              <a:gd name="adj" fmla="val 48148"/>
            </a:avLst>
          </a:prstGeom>
          <a:solidFill>
            <a:srgbClr val="043370"/>
          </a:solidFill>
          <a:ln w="9525">
            <a:solidFill>
              <a:srgbClr val="8EA3C4"/>
            </a:solidFill>
            <a:prstDash val="dash"/>
          </a:ln>
        </p:spPr>
      </p:sp>
      <p:sp>
        <p:nvSpPr>
          <p:cNvPr id="10" name="Text 8"/>
          <p:cNvSpPr txBox="1"/>
          <p:nvPr/>
        </p:nvSpPr>
        <p:spPr>
          <a:xfrm>
            <a:off x="457200" y="3931920"/>
            <a:ext cx="1325880" cy="246888"/>
          </a:xfrm>
          <a:prstGeom prst="rect">
            <a:avLst/>
          </a:prstGeom>
          <a:noFill/>
          <a:ln/>
        </p:spPr>
        <p:txBody>
          <a:bodyPr wrap="square" lIns="0" tIns="0" rIns="0" bIns="0" rtlCol="0" anchor="ctr"/>
          <a:lstStyle/>
          <a:p>
            <a:pPr algn="ctr" indent="0" marL="0">
              <a:buNone/>
            </a:pPr>
            <a:r>
              <a:rPr lang="en-US" sz="750" b="1" spc="100" kern="0" dirty="0">
                <a:solidFill>
                  <a:srgbClr val="8EA3C4"/>
                </a:solidFill>
                <a:latin typeface="Segoe UI" pitchFamily="34" charset="0"/>
                <a:ea typeface="Segoe UI" pitchFamily="34" charset="-122"/>
                <a:cs typeface="Segoe UI" pitchFamily="34" charset="-120"/>
              </a:rPr>
              <a:t>CONCEPT</a:t>
            </a:r>
            <a:endParaRPr lang="en-US" sz="750" dirty="0"/>
          </a:p>
        </p:txBody>
      </p:sp>
      <p:sp>
        <p:nvSpPr>
          <p:cNvPr id="11" name="Step 2"/>
          <p:cNvSpPr/>
          <p:nvPr/>
        </p:nvSpPr>
        <p:spPr>
          <a:xfrm>
            <a:off x="2185416" y="1508760"/>
            <a:ext cx="640080" cy="640080"/>
          </a:xfrm>
          <a:prstGeom prst="ellipse">
            <a:avLst/>
          </a:prstGeom>
          <a:solidFill>
            <a:srgbClr val="ED780F"/>
          </a:solidFill>
          <a:ln w="19050">
            <a:solidFill>
              <a:srgbClr val="ED780F"/>
            </a:solidFill>
            <a:prstDash val="solid"/>
          </a:ln>
        </p:spPr>
      </p:sp>
      <p:sp>
        <p:nvSpPr>
          <p:cNvPr id="12" name="Text 10"/>
          <p:cNvSpPr txBox="1"/>
          <p:nvPr/>
        </p:nvSpPr>
        <p:spPr>
          <a:xfrm>
            <a:off x="2185416" y="1508760"/>
            <a:ext cx="640080" cy="640080"/>
          </a:xfrm>
          <a:prstGeom prst="rect">
            <a:avLst/>
          </a:prstGeom>
          <a:noFill/>
          <a:ln/>
        </p:spPr>
        <p:txBody>
          <a:bodyPr wrap="square" lIns="0" tIns="0" rIns="0" bIns="0" rtlCol="0" anchor="ctr"/>
          <a:lstStyle/>
          <a:p>
            <a:pPr algn="ctr" indent="0" marL="0">
              <a:buNone/>
            </a:pPr>
            <a:r>
              <a:rPr lang="en-US" sz="2000" dirty="0">
                <a:solidFill>
                  <a:srgbClr val="FFFFFF"/>
                </a:solidFill>
                <a:latin typeface="Segoe UI Semibold" pitchFamily="34" charset="0"/>
                <a:ea typeface="Segoe UI Semibold" pitchFamily="34" charset="-122"/>
                <a:cs typeface="Segoe UI Semibold" pitchFamily="34" charset="-120"/>
              </a:rPr>
              <a:t>2</a:t>
            </a:r>
            <a:endParaRPr lang="en-US" sz="2000" dirty="0"/>
          </a:p>
        </p:txBody>
      </p:sp>
      <p:sp>
        <p:nvSpPr>
          <p:cNvPr id="13" name="Text 11"/>
          <p:cNvSpPr txBox="1"/>
          <p:nvPr/>
        </p:nvSpPr>
        <p:spPr>
          <a:xfrm>
            <a:off x="2139696" y="2377440"/>
            <a:ext cx="1554480" cy="548640"/>
          </a:xfrm>
          <a:prstGeom prst="rect">
            <a:avLst/>
          </a:prstGeom>
          <a:noFill/>
          <a:ln/>
        </p:spPr>
        <p:txBody>
          <a:bodyPr wrap="square" lIns="0" tIns="0" rIns="0" bIns="0" rtlCol="0" anchor="t"/>
          <a:lstStyle/>
          <a:p>
            <a:pPr indent="0" marL="0">
              <a:buNone/>
            </a:pPr>
            <a:r>
              <a:rPr lang="en-US" sz="1500" dirty="0">
                <a:solidFill>
                  <a:srgbClr val="FFFFFF"/>
                </a:solidFill>
                <a:latin typeface="Segoe UI Semibold" pitchFamily="34" charset="0"/>
                <a:ea typeface="Segoe UI Semibold" pitchFamily="34" charset="-122"/>
                <a:cs typeface="Segoe UI Semibold" pitchFamily="34" charset="-120"/>
              </a:rPr>
              <a:t>Join and apply</a:t>
            </a:r>
            <a:endParaRPr lang="en-US" sz="1500" dirty="0"/>
          </a:p>
        </p:txBody>
      </p:sp>
      <p:sp>
        <p:nvSpPr>
          <p:cNvPr id="14" name="Text 12"/>
          <p:cNvSpPr txBox="1"/>
          <p:nvPr/>
        </p:nvSpPr>
        <p:spPr>
          <a:xfrm>
            <a:off x="2139696" y="2926080"/>
            <a:ext cx="1508760" cy="868680"/>
          </a:xfrm>
          <a:prstGeom prst="rect">
            <a:avLst/>
          </a:prstGeom>
          <a:noFill/>
          <a:ln/>
        </p:spPr>
        <p:txBody>
          <a:bodyPr wrap="square" lIns="0" tIns="0" rIns="0" bIns="0" rtlCol="0" anchor="t"/>
          <a:lstStyle/>
          <a:p>
            <a:pPr indent="0" marL="0">
              <a:buNone/>
            </a:pPr>
            <a:r>
              <a:rPr lang="en-US" sz="1100" dirty="0">
                <a:solidFill>
                  <a:srgbClr val="C9D6EA"/>
                </a:solidFill>
                <a:latin typeface="Segoe UI" pitchFamily="34" charset="0"/>
                <a:ea typeface="Segoe UI" pitchFamily="34" charset="-122"/>
                <a:cs typeface="Segoe UI" pitchFamily="34" charset="-120"/>
              </a:rPr>
              <a:t>Membership and checking in one application</a:t>
            </a:r>
            <a:endParaRPr lang="en-US" sz="1100" dirty="0"/>
          </a:p>
        </p:txBody>
      </p:sp>
      <p:sp>
        <p:nvSpPr>
          <p:cNvPr id="15" name="Tag 2"/>
          <p:cNvSpPr/>
          <p:nvPr/>
        </p:nvSpPr>
        <p:spPr>
          <a:xfrm>
            <a:off x="2139696" y="3931920"/>
            <a:ext cx="1325880" cy="246888"/>
          </a:xfrm>
          <a:prstGeom prst="roundRect">
            <a:avLst>
              <a:gd name="adj" fmla="val 48148"/>
            </a:avLst>
          </a:prstGeom>
          <a:solidFill>
            <a:srgbClr val="0E3F80"/>
          </a:solidFill>
          <a:ln w="9525">
            <a:solidFill>
              <a:srgbClr val="0E3F80"/>
            </a:solidFill>
            <a:prstDash val="solid"/>
          </a:ln>
        </p:spPr>
      </p:sp>
      <p:sp>
        <p:nvSpPr>
          <p:cNvPr id="16" name="Text 14"/>
          <p:cNvSpPr txBox="1"/>
          <p:nvPr/>
        </p:nvSpPr>
        <p:spPr>
          <a:xfrm>
            <a:off x="2139696" y="3931920"/>
            <a:ext cx="1325880" cy="246888"/>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Segoe UI" pitchFamily="34" charset="0"/>
                <a:ea typeface="Segoe UI" pitchFamily="34" charset="-122"/>
                <a:cs typeface="Segoe UI" pitchFamily="34" charset="-120"/>
              </a:rPr>
              <a:t>EXPERIENCE CLOUD</a:t>
            </a:r>
            <a:endParaRPr lang="en-US" sz="750" dirty="0"/>
          </a:p>
        </p:txBody>
      </p:sp>
      <p:sp>
        <p:nvSpPr>
          <p:cNvPr id="17" name="Step 3"/>
          <p:cNvSpPr/>
          <p:nvPr/>
        </p:nvSpPr>
        <p:spPr>
          <a:xfrm>
            <a:off x="3867912" y="1508760"/>
            <a:ext cx="640080" cy="640080"/>
          </a:xfrm>
          <a:prstGeom prst="ellipse">
            <a:avLst/>
          </a:prstGeom>
          <a:solidFill>
            <a:srgbClr val="ED780F"/>
          </a:solidFill>
          <a:ln w="19050">
            <a:solidFill>
              <a:srgbClr val="ED780F"/>
            </a:solidFill>
            <a:prstDash val="solid"/>
          </a:ln>
        </p:spPr>
      </p:sp>
      <p:sp>
        <p:nvSpPr>
          <p:cNvPr id="18" name="Text 16"/>
          <p:cNvSpPr txBox="1"/>
          <p:nvPr/>
        </p:nvSpPr>
        <p:spPr>
          <a:xfrm>
            <a:off x="3867912" y="1508760"/>
            <a:ext cx="640080" cy="640080"/>
          </a:xfrm>
          <a:prstGeom prst="rect">
            <a:avLst/>
          </a:prstGeom>
          <a:noFill/>
          <a:ln/>
        </p:spPr>
        <p:txBody>
          <a:bodyPr wrap="square" lIns="0" tIns="0" rIns="0" bIns="0" rtlCol="0" anchor="ctr"/>
          <a:lstStyle/>
          <a:p>
            <a:pPr algn="ctr" indent="0" marL="0">
              <a:buNone/>
            </a:pPr>
            <a:r>
              <a:rPr lang="en-US" sz="2000" dirty="0">
                <a:solidFill>
                  <a:srgbClr val="FFFFFF"/>
                </a:solidFill>
                <a:latin typeface="Segoe UI Semibold" pitchFamily="34" charset="0"/>
                <a:ea typeface="Segoe UI Semibold" pitchFamily="34" charset="-122"/>
                <a:cs typeface="Segoe UI Semibold" pitchFamily="34" charset="-120"/>
              </a:rPr>
              <a:t>3</a:t>
            </a:r>
            <a:endParaRPr lang="en-US" sz="2000" dirty="0"/>
          </a:p>
        </p:txBody>
      </p:sp>
      <p:sp>
        <p:nvSpPr>
          <p:cNvPr id="19" name="Text 17"/>
          <p:cNvSpPr txBox="1"/>
          <p:nvPr/>
        </p:nvSpPr>
        <p:spPr>
          <a:xfrm>
            <a:off x="3822192" y="2377440"/>
            <a:ext cx="1554480" cy="548640"/>
          </a:xfrm>
          <a:prstGeom prst="rect">
            <a:avLst/>
          </a:prstGeom>
          <a:noFill/>
          <a:ln/>
        </p:spPr>
        <p:txBody>
          <a:bodyPr wrap="square" lIns="0" tIns="0" rIns="0" bIns="0" rtlCol="0" anchor="t"/>
          <a:lstStyle/>
          <a:p>
            <a:pPr indent="0" marL="0">
              <a:buNone/>
            </a:pPr>
            <a:r>
              <a:rPr lang="en-US" sz="1500" dirty="0">
                <a:solidFill>
                  <a:srgbClr val="FFFFFF"/>
                </a:solidFill>
                <a:latin typeface="Segoe UI Semibold" pitchFamily="34" charset="0"/>
                <a:ea typeface="Segoe UI Semibold" pitchFamily="34" charset="-122"/>
                <a:cs typeface="Segoe UI Semibold" pitchFamily="34" charset="-120"/>
              </a:rPr>
              <a:t>Open accounts</a:t>
            </a:r>
            <a:endParaRPr lang="en-US" sz="1500" dirty="0"/>
          </a:p>
        </p:txBody>
      </p:sp>
      <p:sp>
        <p:nvSpPr>
          <p:cNvPr id="20" name="Text 18"/>
          <p:cNvSpPr txBox="1"/>
          <p:nvPr/>
        </p:nvSpPr>
        <p:spPr>
          <a:xfrm>
            <a:off x="3822192" y="2926080"/>
            <a:ext cx="1508760" cy="868680"/>
          </a:xfrm>
          <a:prstGeom prst="rect">
            <a:avLst/>
          </a:prstGeom>
          <a:noFill/>
          <a:ln/>
        </p:spPr>
        <p:txBody>
          <a:bodyPr wrap="square" lIns="0" tIns="0" rIns="0" bIns="0" rtlCol="0" anchor="t"/>
          <a:lstStyle/>
          <a:p>
            <a:pPr indent="0" marL="0">
              <a:buNone/>
            </a:pPr>
            <a:r>
              <a:rPr lang="en-US" sz="1100" dirty="0">
                <a:solidFill>
                  <a:srgbClr val="C9D6EA"/>
                </a:solidFill>
                <a:latin typeface="Segoe UI" pitchFamily="34" charset="0"/>
                <a:ea typeface="Segoe UI" pitchFamily="34" charset="-122"/>
                <a:cs typeface="Segoe UI" pitchFamily="34" charset="-120"/>
              </a:rPr>
              <a:t>KYC, identity checks, open and fund</a:t>
            </a:r>
            <a:endParaRPr lang="en-US" sz="1100" dirty="0"/>
          </a:p>
        </p:txBody>
      </p:sp>
      <p:sp>
        <p:nvSpPr>
          <p:cNvPr id="21" name="Tag 3"/>
          <p:cNvSpPr/>
          <p:nvPr/>
        </p:nvSpPr>
        <p:spPr>
          <a:xfrm>
            <a:off x="3822192" y="3931920"/>
            <a:ext cx="1325880" cy="246888"/>
          </a:xfrm>
          <a:prstGeom prst="roundRect">
            <a:avLst>
              <a:gd name="adj" fmla="val 48148"/>
            </a:avLst>
          </a:prstGeom>
          <a:solidFill>
            <a:srgbClr val="0E3F80"/>
          </a:solidFill>
          <a:ln w="9525">
            <a:solidFill>
              <a:srgbClr val="0E3F80"/>
            </a:solidFill>
            <a:prstDash val="solid"/>
          </a:ln>
        </p:spPr>
      </p:sp>
      <p:sp>
        <p:nvSpPr>
          <p:cNvPr id="22" name="Text 20"/>
          <p:cNvSpPr txBox="1"/>
          <p:nvPr/>
        </p:nvSpPr>
        <p:spPr>
          <a:xfrm>
            <a:off x="3822192" y="3931920"/>
            <a:ext cx="1325880" cy="246888"/>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Segoe UI" pitchFamily="34" charset="0"/>
                <a:ea typeface="Segoe UI" pitchFamily="34" charset="-122"/>
                <a:cs typeface="Segoe UI" pitchFamily="34" charset="-120"/>
              </a:rPr>
              <a:t>SERVICE CLOUD</a:t>
            </a:r>
            <a:endParaRPr lang="en-US" sz="750" dirty="0"/>
          </a:p>
        </p:txBody>
      </p:sp>
      <p:sp>
        <p:nvSpPr>
          <p:cNvPr id="23" name="Step 4"/>
          <p:cNvSpPr/>
          <p:nvPr/>
        </p:nvSpPr>
        <p:spPr>
          <a:xfrm>
            <a:off x="5550408" y="1508760"/>
            <a:ext cx="640080" cy="640080"/>
          </a:xfrm>
          <a:prstGeom prst="ellipse">
            <a:avLst/>
          </a:prstGeom>
          <a:solidFill>
            <a:srgbClr val="ED780F"/>
          </a:solidFill>
          <a:ln w="19050">
            <a:solidFill>
              <a:srgbClr val="ED780F"/>
            </a:solidFill>
            <a:prstDash val="solid"/>
          </a:ln>
        </p:spPr>
      </p:sp>
      <p:sp>
        <p:nvSpPr>
          <p:cNvPr id="24" name="Text 22"/>
          <p:cNvSpPr txBox="1"/>
          <p:nvPr/>
        </p:nvSpPr>
        <p:spPr>
          <a:xfrm>
            <a:off x="5550408" y="1508760"/>
            <a:ext cx="640080" cy="640080"/>
          </a:xfrm>
          <a:prstGeom prst="rect">
            <a:avLst/>
          </a:prstGeom>
          <a:noFill/>
          <a:ln/>
        </p:spPr>
        <p:txBody>
          <a:bodyPr wrap="square" lIns="0" tIns="0" rIns="0" bIns="0" rtlCol="0" anchor="ctr"/>
          <a:lstStyle/>
          <a:p>
            <a:pPr algn="ctr" indent="0" marL="0">
              <a:buNone/>
            </a:pPr>
            <a:r>
              <a:rPr lang="en-US" sz="2000" dirty="0">
                <a:solidFill>
                  <a:srgbClr val="FFFFFF"/>
                </a:solidFill>
                <a:latin typeface="Segoe UI Semibold" pitchFamily="34" charset="0"/>
                <a:ea typeface="Segoe UI Semibold" pitchFamily="34" charset="-122"/>
                <a:cs typeface="Segoe UI Semibold" pitchFamily="34" charset="-120"/>
              </a:rPr>
              <a:t>4</a:t>
            </a:r>
            <a:endParaRPr lang="en-US" sz="2000" dirty="0"/>
          </a:p>
        </p:txBody>
      </p:sp>
      <p:sp>
        <p:nvSpPr>
          <p:cNvPr id="25" name="Text 23"/>
          <p:cNvSpPr txBox="1"/>
          <p:nvPr/>
        </p:nvSpPr>
        <p:spPr>
          <a:xfrm>
            <a:off x="5504688" y="2377440"/>
            <a:ext cx="1554480" cy="548640"/>
          </a:xfrm>
          <a:prstGeom prst="rect">
            <a:avLst/>
          </a:prstGeom>
          <a:noFill/>
          <a:ln/>
        </p:spPr>
        <p:txBody>
          <a:bodyPr wrap="square" lIns="0" tIns="0" rIns="0" bIns="0" rtlCol="0" anchor="t"/>
          <a:lstStyle/>
          <a:p>
            <a:pPr indent="0" marL="0">
              <a:buNone/>
            </a:pPr>
            <a:r>
              <a:rPr lang="en-US" sz="1500" dirty="0">
                <a:solidFill>
                  <a:srgbClr val="FFFFFF"/>
                </a:solidFill>
                <a:latin typeface="Segoe UI Semibold" pitchFamily="34" charset="0"/>
                <a:ea typeface="Segoe UI Semibold" pitchFamily="34" charset="-122"/>
                <a:cs typeface="Segoe UI Semibold" pitchFamily="34" charset="-120"/>
              </a:rPr>
              <a:t>First 30 days</a:t>
            </a:r>
            <a:endParaRPr lang="en-US" sz="1500" dirty="0"/>
          </a:p>
        </p:txBody>
      </p:sp>
      <p:sp>
        <p:nvSpPr>
          <p:cNvPr id="26" name="Text 24"/>
          <p:cNvSpPr txBox="1"/>
          <p:nvPr/>
        </p:nvSpPr>
        <p:spPr>
          <a:xfrm>
            <a:off x="5504688" y="2926080"/>
            <a:ext cx="1508760" cy="868680"/>
          </a:xfrm>
          <a:prstGeom prst="rect">
            <a:avLst/>
          </a:prstGeom>
          <a:noFill/>
          <a:ln/>
        </p:spPr>
        <p:txBody>
          <a:bodyPr wrap="square" lIns="0" tIns="0" rIns="0" bIns="0" rtlCol="0" anchor="t"/>
          <a:lstStyle/>
          <a:p>
            <a:pPr indent="0" marL="0">
              <a:buNone/>
            </a:pPr>
            <a:r>
              <a:rPr lang="en-US" sz="1100" dirty="0">
                <a:solidFill>
                  <a:srgbClr val="C9D6EA"/>
                </a:solidFill>
                <a:latin typeface="Segoe UI" pitchFamily="34" charset="0"/>
                <a:ea typeface="Segoe UI" pitchFamily="34" charset="-122"/>
                <a:cs typeface="Segoe UI" pitchFamily="34" charset="-120"/>
              </a:rPr>
              <a:t>Card, direct deposit, digital banking</a:t>
            </a:r>
            <a:endParaRPr lang="en-US" sz="1100" dirty="0"/>
          </a:p>
        </p:txBody>
      </p:sp>
      <p:sp>
        <p:nvSpPr>
          <p:cNvPr id="27" name="Tag 4"/>
          <p:cNvSpPr/>
          <p:nvPr/>
        </p:nvSpPr>
        <p:spPr>
          <a:xfrm>
            <a:off x="5504688" y="3931920"/>
            <a:ext cx="1325880" cy="246888"/>
          </a:xfrm>
          <a:prstGeom prst="roundRect">
            <a:avLst>
              <a:gd name="adj" fmla="val 48148"/>
            </a:avLst>
          </a:prstGeom>
          <a:solidFill>
            <a:srgbClr val="0E3F80"/>
          </a:solidFill>
          <a:ln w="9525">
            <a:solidFill>
              <a:srgbClr val="0E3F80"/>
            </a:solidFill>
            <a:prstDash val="solid"/>
          </a:ln>
        </p:spPr>
      </p:sp>
      <p:sp>
        <p:nvSpPr>
          <p:cNvPr id="28" name="Text 26"/>
          <p:cNvSpPr txBox="1"/>
          <p:nvPr/>
        </p:nvSpPr>
        <p:spPr>
          <a:xfrm>
            <a:off x="5504688" y="3931920"/>
            <a:ext cx="1325880" cy="246888"/>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Segoe UI" pitchFamily="34" charset="0"/>
                <a:ea typeface="Segoe UI" pitchFamily="34" charset="-122"/>
                <a:cs typeface="Segoe UI" pitchFamily="34" charset="-120"/>
              </a:rPr>
              <a:t>EXPERIENCE CLOUD</a:t>
            </a:r>
            <a:endParaRPr lang="en-US" sz="750" dirty="0"/>
          </a:p>
        </p:txBody>
      </p:sp>
      <p:sp>
        <p:nvSpPr>
          <p:cNvPr id="29" name="Step 5"/>
          <p:cNvSpPr/>
          <p:nvPr/>
        </p:nvSpPr>
        <p:spPr>
          <a:xfrm>
            <a:off x="7232904" y="1508760"/>
            <a:ext cx="640080" cy="640080"/>
          </a:xfrm>
          <a:prstGeom prst="ellipse">
            <a:avLst/>
          </a:prstGeom>
          <a:solidFill>
            <a:srgbClr val="ED780F"/>
          </a:solidFill>
          <a:ln w="19050">
            <a:solidFill>
              <a:srgbClr val="ED780F"/>
            </a:solidFill>
            <a:prstDash val="solid"/>
          </a:ln>
        </p:spPr>
      </p:sp>
      <p:sp>
        <p:nvSpPr>
          <p:cNvPr id="30" name="Text 28"/>
          <p:cNvSpPr txBox="1"/>
          <p:nvPr/>
        </p:nvSpPr>
        <p:spPr>
          <a:xfrm>
            <a:off x="7232904" y="1508760"/>
            <a:ext cx="640080" cy="640080"/>
          </a:xfrm>
          <a:prstGeom prst="rect">
            <a:avLst/>
          </a:prstGeom>
          <a:noFill/>
          <a:ln/>
        </p:spPr>
        <p:txBody>
          <a:bodyPr wrap="square" lIns="0" tIns="0" rIns="0" bIns="0" rtlCol="0" anchor="ctr"/>
          <a:lstStyle/>
          <a:p>
            <a:pPr algn="ctr" indent="0" marL="0">
              <a:buNone/>
            </a:pPr>
            <a:r>
              <a:rPr lang="en-US" sz="2000" dirty="0">
                <a:solidFill>
                  <a:srgbClr val="FFFFFF"/>
                </a:solidFill>
                <a:latin typeface="Segoe UI Semibold" pitchFamily="34" charset="0"/>
                <a:ea typeface="Segoe UI Semibold" pitchFamily="34" charset="-122"/>
                <a:cs typeface="Segoe UI Semibold" pitchFamily="34" charset="-120"/>
              </a:rPr>
              <a:t>5</a:t>
            </a:r>
            <a:endParaRPr lang="en-US" sz="2000" dirty="0"/>
          </a:p>
        </p:txBody>
      </p:sp>
      <p:sp>
        <p:nvSpPr>
          <p:cNvPr id="31" name="Text 29"/>
          <p:cNvSpPr txBox="1"/>
          <p:nvPr/>
        </p:nvSpPr>
        <p:spPr>
          <a:xfrm>
            <a:off x="7187184" y="2377440"/>
            <a:ext cx="1554480" cy="548640"/>
          </a:xfrm>
          <a:prstGeom prst="rect">
            <a:avLst/>
          </a:prstGeom>
          <a:noFill/>
          <a:ln/>
        </p:spPr>
        <p:txBody>
          <a:bodyPr wrap="square" lIns="0" tIns="0" rIns="0" bIns="0" rtlCol="0" anchor="t"/>
          <a:lstStyle/>
          <a:p>
            <a:pPr indent="0" marL="0">
              <a:buNone/>
            </a:pPr>
            <a:r>
              <a:rPr lang="en-US" sz="1500" dirty="0">
                <a:solidFill>
                  <a:srgbClr val="FFFFFF"/>
                </a:solidFill>
                <a:latin typeface="Segoe UI Semibold" pitchFamily="34" charset="0"/>
                <a:ea typeface="Segoe UI Semibold" pitchFamily="34" charset="-122"/>
                <a:cs typeface="Segoe UI Semibold" pitchFamily="34" charset="-120"/>
              </a:rPr>
              <a:t>Measure and grow</a:t>
            </a:r>
            <a:endParaRPr lang="en-US" sz="1500" dirty="0"/>
          </a:p>
        </p:txBody>
      </p:sp>
      <p:sp>
        <p:nvSpPr>
          <p:cNvPr id="32" name="Text 30"/>
          <p:cNvSpPr txBox="1"/>
          <p:nvPr/>
        </p:nvSpPr>
        <p:spPr>
          <a:xfrm>
            <a:off x="7187184" y="2926080"/>
            <a:ext cx="1508760" cy="868680"/>
          </a:xfrm>
          <a:prstGeom prst="rect">
            <a:avLst/>
          </a:prstGeom>
          <a:noFill/>
          <a:ln/>
        </p:spPr>
        <p:txBody>
          <a:bodyPr wrap="square" lIns="0" tIns="0" rIns="0" bIns="0" rtlCol="0" anchor="t"/>
          <a:lstStyle/>
          <a:p>
            <a:pPr indent="0" marL="0">
              <a:buNone/>
            </a:pPr>
            <a:r>
              <a:rPr lang="en-US" sz="1100" dirty="0">
                <a:solidFill>
                  <a:srgbClr val="C9D6EA"/>
                </a:solidFill>
                <a:latin typeface="Segoe UI" pitchFamily="34" charset="0"/>
                <a:ea typeface="Segoe UI" pitchFamily="34" charset="-122"/>
                <a:cs typeface="Segoe UI" pitchFamily="34" charset="-120"/>
              </a:rPr>
              <a:t>One funnel from prospect to primary</a:t>
            </a:r>
            <a:endParaRPr lang="en-US" sz="1100" dirty="0"/>
          </a:p>
        </p:txBody>
      </p:sp>
      <p:sp>
        <p:nvSpPr>
          <p:cNvPr id="33" name="Tag 5"/>
          <p:cNvSpPr/>
          <p:nvPr/>
        </p:nvSpPr>
        <p:spPr>
          <a:xfrm>
            <a:off x="7187184" y="3931920"/>
            <a:ext cx="1325880" cy="246888"/>
          </a:xfrm>
          <a:prstGeom prst="roundRect">
            <a:avLst>
              <a:gd name="adj" fmla="val 48148"/>
            </a:avLst>
          </a:prstGeom>
          <a:solidFill>
            <a:srgbClr val="0E3F80"/>
          </a:solidFill>
          <a:ln w="9525">
            <a:solidFill>
              <a:srgbClr val="0E3F80"/>
            </a:solidFill>
            <a:prstDash val="solid"/>
          </a:ln>
        </p:spPr>
      </p:sp>
      <p:sp>
        <p:nvSpPr>
          <p:cNvPr id="34" name="Text 32"/>
          <p:cNvSpPr txBox="1"/>
          <p:nvPr/>
        </p:nvSpPr>
        <p:spPr>
          <a:xfrm>
            <a:off x="7187184" y="3931920"/>
            <a:ext cx="1325880" cy="246888"/>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Segoe UI" pitchFamily="34" charset="0"/>
                <a:ea typeface="Segoe UI" pitchFamily="34" charset="-122"/>
                <a:cs typeface="Segoe UI" pitchFamily="34" charset="-120"/>
              </a:rPr>
              <a:t>REPORTS</a:t>
            </a:r>
            <a:endParaRPr lang="en-US" sz="75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EA3C4"/>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822960"/>
            <a:ext cx="2743200" cy="2011680"/>
          </a:xfrm>
          <a:prstGeom prst="rect">
            <a:avLst/>
          </a:prstGeom>
          <a:noFill/>
          <a:ln/>
        </p:spPr>
        <p:txBody>
          <a:bodyPr wrap="square" lIns="0" tIns="0" rIns="0" bIns="0" rtlCol="0" anchor="ctr"/>
          <a:lstStyle/>
          <a:p>
            <a:pPr indent="0" marL="0">
              <a:buNone/>
            </a:pPr>
            <a:r>
              <a:rPr lang="en-US" sz="13000" dirty="0">
                <a:solidFill>
                  <a:srgbClr val="ED780F"/>
                </a:solidFill>
                <a:latin typeface="Segoe UI Semibold" pitchFamily="34" charset="0"/>
                <a:ea typeface="Segoe UI Semibold" pitchFamily="34" charset="-122"/>
                <a:cs typeface="Segoe UI Semibold" pitchFamily="34" charset="-120"/>
              </a:rPr>
              <a:t>01</a:t>
            </a:r>
            <a:endParaRPr lang="en-US" sz="13000" dirty="0"/>
          </a:p>
        </p:txBody>
      </p:sp>
      <p:sp>
        <p:nvSpPr>
          <p:cNvPr id="3" name="Divider rule"/>
          <p:cNvSpPr/>
          <p:nvPr/>
        </p:nvSpPr>
        <p:spPr>
          <a:xfrm>
            <a:off x="3246120" y="1143000"/>
            <a:ext cx="0" cy="1371600"/>
          </a:xfrm>
          <a:prstGeom prst="line">
            <a:avLst/>
          </a:prstGeom>
          <a:noFill/>
          <a:ln w="15875">
            <a:solidFill>
              <a:srgbClr val="3A5A8C"/>
            </a:solidFill>
            <a:prstDash val="solid"/>
          </a:ln>
        </p:spPr>
      </p:sp>
      <p:sp>
        <p:nvSpPr>
          <p:cNvPr id="4" name="Text 2"/>
          <p:cNvSpPr txBox="1"/>
          <p:nvPr/>
        </p:nvSpPr>
        <p:spPr>
          <a:xfrm>
            <a:off x="3566160" y="1234440"/>
            <a:ext cx="5120640" cy="219456"/>
          </a:xfrm>
          <a:prstGeom prst="rect">
            <a:avLst/>
          </a:prstGeom>
          <a:noFill/>
          <a:ln/>
        </p:spPr>
        <p:txBody>
          <a:bodyPr wrap="square" lIns="0" tIns="0" rIns="0" bIns="0" rtlCol="0" anchor="t"/>
          <a:lstStyle/>
          <a:p>
            <a:pPr indent="0" marL="0">
              <a:buNone/>
            </a:pPr>
            <a:r>
              <a:rPr lang="en-US" sz="900" b="1" spc="250" kern="0" dirty="0">
                <a:solidFill>
                  <a:srgbClr val="ED780F"/>
                </a:solidFill>
                <a:latin typeface="Segoe UI" pitchFamily="34" charset="0"/>
                <a:ea typeface="Segoe UI" pitchFamily="34" charset="-122"/>
                <a:cs typeface="Segoe UI" pitchFamily="34" charset="-120"/>
              </a:rPr>
              <a:t>ACT 1 · TARGETING</a:t>
            </a:r>
            <a:endParaRPr lang="en-US" sz="900" dirty="0"/>
          </a:p>
        </p:txBody>
      </p:sp>
      <p:sp>
        <p:nvSpPr>
          <p:cNvPr id="5" name="Text 3"/>
          <p:cNvSpPr txBox="1"/>
          <p:nvPr/>
        </p:nvSpPr>
        <p:spPr>
          <a:xfrm>
            <a:off x="3566160" y="1554480"/>
            <a:ext cx="5120640" cy="1188720"/>
          </a:xfrm>
          <a:prstGeom prst="rect">
            <a:avLst/>
          </a:prstGeom>
          <a:noFill/>
          <a:ln/>
        </p:spPr>
        <p:txBody>
          <a:bodyPr wrap="square" lIns="0" tIns="0" rIns="0" bIns="0" rtlCol="0" anchor="t">
            <a:normAutofit/>
          </a:bodyPr>
          <a:lstStyle/>
          <a:p>
            <a:pPr indent="0" marL="0">
              <a:buNone/>
            </a:pPr>
            <a:r>
              <a:rPr lang="en-US" sz="3200" dirty="0">
                <a:solidFill>
                  <a:srgbClr val="FFFFFF"/>
                </a:solidFill>
                <a:latin typeface="Segoe UI Semibold" pitchFamily="34" charset="0"/>
                <a:ea typeface="Segoe UI Semibold" pitchFamily="34" charset="-122"/>
                <a:cs typeface="Segoe UI Semibold" pitchFamily="34" charset="-120"/>
              </a:rPr>
              <a:t>Reach the people closest to membership</a:t>
            </a:r>
            <a:endParaRPr lang="en-US" sz="3200" dirty="0"/>
          </a:p>
        </p:txBody>
      </p:sp>
      <p:sp>
        <p:nvSpPr>
          <p:cNvPr id="6" name="Tracker 1"/>
          <p:cNvSpPr/>
          <p:nvPr/>
        </p:nvSpPr>
        <p:spPr>
          <a:xfrm>
            <a:off x="457200" y="3977640"/>
            <a:ext cx="1554480" cy="54864"/>
          </a:xfrm>
          <a:prstGeom prst="rect">
            <a:avLst/>
          </a:prstGeom>
          <a:solidFill>
            <a:srgbClr val="ED780F"/>
          </a:solidFill>
          <a:ln w="12700">
            <a:solidFill>
              <a:srgbClr val="ED780F"/>
            </a:solidFill>
            <a:prstDash val="solid"/>
          </a:ln>
        </p:spPr>
      </p:sp>
      <p:sp>
        <p:nvSpPr>
          <p:cNvPr id="7" name="Text 5"/>
          <p:cNvSpPr txBox="1"/>
          <p:nvPr/>
        </p:nvSpPr>
        <p:spPr>
          <a:xfrm>
            <a:off x="457200" y="4114800"/>
            <a:ext cx="1554480" cy="228600"/>
          </a:xfrm>
          <a:prstGeom prst="rect">
            <a:avLst/>
          </a:prstGeom>
          <a:noFill/>
          <a:ln/>
        </p:spPr>
        <p:txBody>
          <a:bodyPr wrap="square" lIns="0" tIns="0" rIns="0" bIns="0" rtlCol="0" anchor="t"/>
          <a:lstStyle/>
          <a:p>
            <a:pPr indent="0" marL="0">
              <a:buNone/>
            </a:pPr>
            <a:r>
              <a:rPr lang="en-US" sz="900" b="1" dirty="0">
                <a:solidFill>
                  <a:srgbClr val="FFFFFF"/>
                </a:solidFill>
                <a:latin typeface="Segoe UI" pitchFamily="34" charset="0"/>
                <a:ea typeface="Segoe UI" pitchFamily="34" charset="-122"/>
                <a:cs typeface="Segoe UI" pitchFamily="34" charset="-120"/>
              </a:rPr>
              <a:t>1  Targeting</a:t>
            </a:r>
            <a:endParaRPr lang="en-US" sz="900" dirty="0"/>
          </a:p>
        </p:txBody>
      </p:sp>
      <p:sp>
        <p:nvSpPr>
          <p:cNvPr id="8" name="Tracker 2"/>
          <p:cNvSpPr/>
          <p:nvPr/>
        </p:nvSpPr>
        <p:spPr>
          <a:xfrm>
            <a:off x="2121408" y="3977640"/>
            <a:ext cx="1554480" cy="54864"/>
          </a:xfrm>
          <a:prstGeom prst="rect">
            <a:avLst/>
          </a:prstGeom>
          <a:solidFill>
            <a:srgbClr val="2B4C7E"/>
          </a:solidFill>
          <a:ln w="12700">
            <a:solidFill>
              <a:srgbClr val="2B4C7E"/>
            </a:solidFill>
            <a:prstDash val="solid"/>
          </a:ln>
        </p:spPr>
      </p:sp>
      <p:sp>
        <p:nvSpPr>
          <p:cNvPr id="9" name="Text 7"/>
          <p:cNvSpPr txBox="1"/>
          <p:nvPr/>
        </p:nvSpPr>
        <p:spPr>
          <a:xfrm>
            <a:off x="2121408"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2  Join and apply</a:t>
            </a:r>
            <a:endParaRPr lang="en-US" sz="900" dirty="0"/>
          </a:p>
        </p:txBody>
      </p:sp>
      <p:sp>
        <p:nvSpPr>
          <p:cNvPr id="10" name="Tracker 3"/>
          <p:cNvSpPr/>
          <p:nvPr/>
        </p:nvSpPr>
        <p:spPr>
          <a:xfrm>
            <a:off x="3785616" y="3977640"/>
            <a:ext cx="1554480" cy="54864"/>
          </a:xfrm>
          <a:prstGeom prst="rect">
            <a:avLst/>
          </a:prstGeom>
          <a:solidFill>
            <a:srgbClr val="2B4C7E"/>
          </a:solidFill>
          <a:ln w="12700">
            <a:solidFill>
              <a:srgbClr val="2B4C7E"/>
            </a:solidFill>
            <a:prstDash val="solid"/>
          </a:ln>
        </p:spPr>
      </p:sp>
      <p:sp>
        <p:nvSpPr>
          <p:cNvPr id="11" name="Text 9"/>
          <p:cNvSpPr txBox="1"/>
          <p:nvPr/>
        </p:nvSpPr>
        <p:spPr>
          <a:xfrm>
            <a:off x="3785616"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3  Open accounts</a:t>
            </a:r>
            <a:endParaRPr lang="en-US" sz="900" dirty="0"/>
          </a:p>
        </p:txBody>
      </p:sp>
      <p:sp>
        <p:nvSpPr>
          <p:cNvPr id="12" name="Tracker 4"/>
          <p:cNvSpPr/>
          <p:nvPr/>
        </p:nvSpPr>
        <p:spPr>
          <a:xfrm>
            <a:off x="5449824" y="3977640"/>
            <a:ext cx="1554480" cy="54864"/>
          </a:xfrm>
          <a:prstGeom prst="rect">
            <a:avLst/>
          </a:prstGeom>
          <a:solidFill>
            <a:srgbClr val="2B4C7E"/>
          </a:solidFill>
          <a:ln w="12700">
            <a:solidFill>
              <a:srgbClr val="2B4C7E"/>
            </a:solidFill>
            <a:prstDash val="solid"/>
          </a:ln>
        </p:spPr>
      </p:sp>
      <p:sp>
        <p:nvSpPr>
          <p:cNvPr id="13" name="Text 11"/>
          <p:cNvSpPr txBox="1"/>
          <p:nvPr/>
        </p:nvSpPr>
        <p:spPr>
          <a:xfrm>
            <a:off x="5449824"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4  First 30 days</a:t>
            </a:r>
            <a:endParaRPr lang="en-US" sz="900" dirty="0"/>
          </a:p>
        </p:txBody>
      </p:sp>
      <p:sp>
        <p:nvSpPr>
          <p:cNvPr id="14" name="Tracker 5"/>
          <p:cNvSpPr/>
          <p:nvPr/>
        </p:nvSpPr>
        <p:spPr>
          <a:xfrm>
            <a:off x="7114032" y="3977640"/>
            <a:ext cx="1554480" cy="54864"/>
          </a:xfrm>
          <a:prstGeom prst="rect">
            <a:avLst/>
          </a:prstGeom>
          <a:solidFill>
            <a:srgbClr val="2B4C7E"/>
          </a:solidFill>
          <a:ln w="12700">
            <a:solidFill>
              <a:srgbClr val="2B4C7E"/>
            </a:solidFill>
            <a:prstDash val="solid"/>
          </a:ln>
        </p:spPr>
      </p:sp>
      <p:sp>
        <p:nvSpPr>
          <p:cNvPr id="15" name="Text 13"/>
          <p:cNvSpPr txBox="1"/>
          <p:nvPr/>
        </p:nvSpPr>
        <p:spPr>
          <a:xfrm>
            <a:off x="7114032"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5  Measure and grow</a:t>
            </a:r>
            <a:endParaRPr lang="en-US" sz="9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EA3C4"/>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8229600"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1 · TARGETING · RECOMMENDED APPROACH · NOT BUILT IN THE DEMO ORG</a:t>
            </a:r>
            <a:endParaRPr lang="en-US" sz="900" dirty="0"/>
          </a:p>
        </p:txBody>
      </p:sp>
      <p:sp>
        <p:nvSpPr>
          <p:cNvPr id="3" name="Text 1"/>
          <p:cNvSpPr txBox="1"/>
          <p:nvPr/>
        </p:nvSpPr>
        <p:spPr>
          <a:xfrm>
            <a:off x="457200" y="566928"/>
            <a:ext cx="8229600" cy="548640"/>
          </a:xfrm>
          <a:prstGeom prst="rect">
            <a:avLst/>
          </a:prstGeom>
          <a:noFill/>
          <a:ln/>
        </p:spPr>
        <p:txBody>
          <a:bodyPr wrap="square" lIns="0" tIns="0" rIns="0" bIns="0" rtlCol="0" anchor="t">
            <a:normAutofit/>
          </a:bodyPr>
          <a:lstStyle/>
          <a:p>
            <a:pPr indent="0" marL="0">
              <a:buNone/>
            </a:pPr>
            <a:r>
              <a:rPr lang="en-US" sz="2600" dirty="0">
                <a:solidFill>
                  <a:srgbClr val="043370"/>
                </a:solidFill>
                <a:latin typeface="Segoe UI Semibold" pitchFamily="34" charset="0"/>
                <a:ea typeface="Segoe UI Semibold" pitchFamily="34" charset="-122"/>
                <a:cs typeface="Segoe UI Semibold" pitchFamily="34" charset="-120"/>
              </a:rPr>
              <a:t>Start with the people closest to membership</a:t>
            </a:r>
            <a:endParaRPr lang="en-US" sz="2600" dirty="0"/>
          </a:p>
        </p:txBody>
      </p:sp>
      <p:sp>
        <p:nvSpPr>
          <p:cNvPr id="4" name="Segment 1"/>
          <p:cNvSpPr/>
          <p:nvPr/>
        </p:nvSpPr>
        <p:spPr>
          <a:xfrm>
            <a:off x="457200" y="1280160"/>
            <a:ext cx="2606040" cy="1783080"/>
          </a:xfrm>
          <a:prstGeom prst="roundRect">
            <a:avLst>
              <a:gd name="adj" fmla="val 6154"/>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5" name="Segment 1 accent"/>
          <p:cNvSpPr/>
          <p:nvPr/>
        </p:nvSpPr>
        <p:spPr>
          <a:xfrm>
            <a:off x="457200" y="1280160"/>
            <a:ext cx="64008" cy="1783080"/>
          </a:xfrm>
          <a:prstGeom prst="rect">
            <a:avLst/>
          </a:prstGeom>
          <a:solidFill>
            <a:srgbClr val="ED780F"/>
          </a:solidFill>
          <a:ln w="12700">
            <a:solidFill>
              <a:srgbClr val="ED780F"/>
            </a:solidFill>
            <a:prstDash val="solid"/>
          </a:ln>
        </p:spPr>
      </p:sp>
      <p:sp>
        <p:nvSpPr>
          <p:cNvPr id="6" name="Text 4"/>
          <p:cNvSpPr txBox="1"/>
          <p:nvPr/>
        </p:nvSpPr>
        <p:spPr>
          <a:xfrm>
            <a:off x="685800" y="1417320"/>
            <a:ext cx="2194560" cy="201168"/>
          </a:xfrm>
          <a:prstGeom prst="rect">
            <a:avLst/>
          </a:prstGeom>
          <a:noFill/>
          <a:ln/>
        </p:spPr>
        <p:txBody>
          <a:bodyPr wrap="square" lIns="0" tIns="0" rIns="0" bIns="0" rtlCol="0" anchor="t"/>
          <a:lstStyle/>
          <a:p>
            <a:pPr indent="0" marL="0">
              <a:buNone/>
            </a:pPr>
            <a:r>
              <a:rPr lang="en-US" sz="850" b="1" spc="200" kern="0" dirty="0">
                <a:solidFill>
                  <a:srgbClr val="5A6577"/>
                </a:solidFill>
                <a:latin typeface="Segoe UI" pitchFamily="34" charset="0"/>
                <a:ea typeface="Segoe UI" pitchFamily="34" charset="-122"/>
                <a:cs typeface="Segoe UI" pitchFamily="34" charset="-120"/>
              </a:rPr>
              <a:t>SEGMENT 1</a:t>
            </a:r>
            <a:endParaRPr lang="en-US" sz="850" dirty="0"/>
          </a:p>
        </p:txBody>
      </p:sp>
      <p:sp>
        <p:nvSpPr>
          <p:cNvPr id="7" name="Text 5"/>
          <p:cNvSpPr txBox="1"/>
          <p:nvPr/>
        </p:nvSpPr>
        <p:spPr>
          <a:xfrm>
            <a:off x="685800" y="1645920"/>
            <a:ext cx="2240280" cy="548640"/>
          </a:xfrm>
          <a:prstGeom prst="rect">
            <a:avLst/>
          </a:prstGeom>
          <a:noFill/>
          <a:ln/>
        </p:spPr>
        <p:txBody>
          <a:bodyPr wrap="square" lIns="0" tIns="0" rIns="0" bIns="0" rtlCol="0" anchor="t"/>
          <a:lstStyle/>
          <a:p>
            <a:pPr indent="0" marL="0">
              <a:buNone/>
            </a:pPr>
            <a:r>
              <a:rPr lang="en-US" sz="1450" dirty="0">
                <a:solidFill>
                  <a:srgbClr val="043370"/>
                </a:solidFill>
                <a:latin typeface="Segoe UI Semibold" pitchFamily="34" charset="0"/>
                <a:ea typeface="Segoe UI Semibold" pitchFamily="34" charset="-122"/>
                <a:cs typeface="Segoe UI Semibold" pitchFamily="34" charset="-120"/>
              </a:rPr>
              <a:t>Household members of members</a:t>
            </a:r>
            <a:endParaRPr lang="en-US" sz="1450" dirty="0"/>
          </a:p>
        </p:txBody>
      </p:sp>
      <p:sp>
        <p:nvSpPr>
          <p:cNvPr id="8" name="Text 6"/>
          <p:cNvSpPr txBox="1"/>
          <p:nvPr/>
        </p:nvSpPr>
        <p:spPr>
          <a:xfrm>
            <a:off x="685800" y="2240280"/>
            <a:ext cx="2240280" cy="777240"/>
          </a:xfrm>
          <a:prstGeom prst="rect">
            <a:avLst/>
          </a:prstGeom>
          <a:noFill/>
          <a:ln/>
        </p:spPr>
        <p:txBody>
          <a:bodyPr wrap="square" lIns="0" tIns="0" rIns="0" bIns="0" rtlCol="0" anchor="t"/>
          <a:lstStyle/>
          <a:p>
            <a:pPr indent="0" marL="0">
              <a:buNone/>
            </a:pPr>
            <a:r>
              <a:rPr lang="en-US" sz="1100" dirty="0">
                <a:solidFill>
                  <a:srgbClr val="14213D"/>
                </a:solidFill>
                <a:latin typeface="Segoe UI" pitchFamily="34" charset="0"/>
                <a:ea typeface="Segoe UI" pitchFamily="34" charset="-122"/>
                <a:cs typeface="Segoe UI" pitchFamily="34" charset="-120"/>
              </a:rPr>
              <a:t>Fiancés, spouses, parents and roommates of existing members already qualify to join.</a:t>
            </a:r>
            <a:endParaRPr lang="en-US" sz="1100" dirty="0"/>
          </a:p>
        </p:txBody>
      </p:sp>
      <p:sp>
        <p:nvSpPr>
          <p:cNvPr id="9" name="Segment 2"/>
          <p:cNvSpPr/>
          <p:nvPr/>
        </p:nvSpPr>
        <p:spPr>
          <a:xfrm>
            <a:off x="3246120" y="1280160"/>
            <a:ext cx="2606040" cy="1783080"/>
          </a:xfrm>
          <a:prstGeom prst="roundRect">
            <a:avLst>
              <a:gd name="adj" fmla="val 6154"/>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10" name="Segment 2 accent"/>
          <p:cNvSpPr/>
          <p:nvPr/>
        </p:nvSpPr>
        <p:spPr>
          <a:xfrm>
            <a:off x="3246120" y="1280160"/>
            <a:ext cx="64008" cy="1783080"/>
          </a:xfrm>
          <a:prstGeom prst="rect">
            <a:avLst/>
          </a:prstGeom>
          <a:solidFill>
            <a:srgbClr val="ED780F"/>
          </a:solidFill>
          <a:ln w="12700">
            <a:solidFill>
              <a:srgbClr val="ED780F"/>
            </a:solidFill>
            <a:prstDash val="solid"/>
          </a:ln>
        </p:spPr>
      </p:sp>
      <p:sp>
        <p:nvSpPr>
          <p:cNvPr id="11" name="Text 9"/>
          <p:cNvSpPr txBox="1"/>
          <p:nvPr/>
        </p:nvSpPr>
        <p:spPr>
          <a:xfrm>
            <a:off x="3474720" y="1417320"/>
            <a:ext cx="2194560" cy="201168"/>
          </a:xfrm>
          <a:prstGeom prst="rect">
            <a:avLst/>
          </a:prstGeom>
          <a:noFill/>
          <a:ln/>
        </p:spPr>
        <p:txBody>
          <a:bodyPr wrap="square" lIns="0" tIns="0" rIns="0" bIns="0" rtlCol="0" anchor="t"/>
          <a:lstStyle/>
          <a:p>
            <a:pPr indent="0" marL="0">
              <a:buNone/>
            </a:pPr>
            <a:r>
              <a:rPr lang="en-US" sz="850" b="1" spc="200" kern="0" dirty="0">
                <a:solidFill>
                  <a:srgbClr val="5A6577"/>
                </a:solidFill>
                <a:latin typeface="Segoe UI" pitchFamily="34" charset="0"/>
                <a:ea typeface="Segoe UI" pitchFamily="34" charset="-122"/>
                <a:cs typeface="Segoe UI" pitchFamily="34" charset="-120"/>
              </a:rPr>
              <a:t>SEGMENT 2</a:t>
            </a:r>
            <a:endParaRPr lang="en-US" sz="850" dirty="0"/>
          </a:p>
        </p:txBody>
      </p:sp>
      <p:sp>
        <p:nvSpPr>
          <p:cNvPr id="12" name="Text 10"/>
          <p:cNvSpPr txBox="1"/>
          <p:nvPr/>
        </p:nvSpPr>
        <p:spPr>
          <a:xfrm>
            <a:off x="3474720" y="1645920"/>
            <a:ext cx="2240280" cy="548640"/>
          </a:xfrm>
          <a:prstGeom prst="rect">
            <a:avLst/>
          </a:prstGeom>
          <a:noFill/>
          <a:ln/>
        </p:spPr>
        <p:txBody>
          <a:bodyPr wrap="square" lIns="0" tIns="0" rIns="0" bIns="0" rtlCol="0" anchor="t"/>
          <a:lstStyle/>
          <a:p>
            <a:pPr indent="0" marL="0">
              <a:buNone/>
            </a:pPr>
            <a:r>
              <a:rPr lang="en-US" sz="1450" dirty="0">
                <a:solidFill>
                  <a:srgbClr val="043370"/>
                </a:solidFill>
                <a:latin typeface="Segoe UI Semibold" pitchFamily="34" charset="0"/>
                <a:ea typeface="Segoe UI Semibold" pitchFamily="34" charset="-122"/>
                <a:cs typeface="Segoe UI Semibold" pitchFamily="34" charset="-120"/>
              </a:rPr>
              <a:t>Members’ children turning 18</a:t>
            </a:r>
            <a:endParaRPr lang="en-US" sz="1450" dirty="0"/>
          </a:p>
        </p:txBody>
      </p:sp>
      <p:sp>
        <p:nvSpPr>
          <p:cNvPr id="13" name="Text 11"/>
          <p:cNvSpPr txBox="1"/>
          <p:nvPr/>
        </p:nvSpPr>
        <p:spPr>
          <a:xfrm>
            <a:off x="3474720" y="2240280"/>
            <a:ext cx="2240280" cy="777240"/>
          </a:xfrm>
          <a:prstGeom prst="rect">
            <a:avLst/>
          </a:prstGeom>
          <a:noFill/>
          <a:ln/>
        </p:spPr>
        <p:txBody>
          <a:bodyPr wrap="square" lIns="0" tIns="0" rIns="0" bIns="0" rtlCol="0" anchor="t"/>
          <a:lstStyle/>
          <a:p>
            <a:pPr indent="0" marL="0">
              <a:buNone/>
            </a:pPr>
            <a:r>
              <a:rPr lang="en-US" sz="1100" dirty="0">
                <a:solidFill>
                  <a:srgbClr val="14213D"/>
                </a:solidFill>
                <a:latin typeface="Segoe UI" pitchFamily="34" charset="0"/>
                <a:ea typeface="Segoe UI" pitchFamily="34" charset="-122"/>
                <a:cs typeface="Segoe UI" pitchFamily="34" charset="-120"/>
              </a:rPr>
              <a:t>Life-event trigger to open their own membership and checking.</a:t>
            </a:r>
            <a:endParaRPr lang="en-US" sz="1100" dirty="0"/>
          </a:p>
        </p:txBody>
      </p:sp>
      <p:sp>
        <p:nvSpPr>
          <p:cNvPr id="14" name="Segment 3"/>
          <p:cNvSpPr/>
          <p:nvPr/>
        </p:nvSpPr>
        <p:spPr>
          <a:xfrm>
            <a:off x="6035040" y="1280160"/>
            <a:ext cx="2606040" cy="1783080"/>
          </a:xfrm>
          <a:prstGeom prst="roundRect">
            <a:avLst>
              <a:gd name="adj" fmla="val 6154"/>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15" name="Segment 3 accent"/>
          <p:cNvSpPr/>
          <p:nvPr/>
        </p:nvSpPr>
        <p:spPr>
          <a:xfrm>
            <a:off x="6035040" y="1280160"/>
            <a:ext cx="64008" cy="1783080"/>
          </a:xfrm>
          <a:prstGeom prst="rect">
            <a:avLst/>
          </a:prstGeom>
          <a:solidFill>
            <a:srgbClr val="ED780F"/>
          </a:solidFill>
          <a:ln w="12700">
            <a:solidFill>
              <a:srgbClr val="ED780F"/>
            </a:solidFill>
            <a:prstDash val="solid"/>
          </a:ln>
        </p:spPr>
      </p:sp>
      <p:sp>
        <p:nvSpPr>
          <p:cNvPr id="16" name="Text 14"/>
          <p:cNvSpPr txBox="1"/>
          <p:nvPr/>
        </p:nvSpPr>
        <p:spPr>
          <a:xfrm>
            <a:off x="6263640" y="1417320"/>
            <a:ext cx="2194560" cy="201168"/>
          </a:xfrm>
          <a:prstGeom prst="rect">
            <a:avLst/>
          </a:prstGeom>
          <a:noFill/>
          <a:ln/>
        </p:spPr>
        <p:txBody>
          <a:bodyPr wrap="square" lIns="0" tIns="0" rIns="0" bIns="0" rtlCol="0" anchor="t"/>
          <a:lstStyle/>
          <a:p>
            <a:pPr indent="0" marL="0">
              <a:buNone/>
            </a:pPr>
            <a:r>
              <a:rPr lang="en-US" sz="850" b="1" spc="200" kern="0" dirty="0">
                <a:solidFill>
                  <a:srgbClr val="5A6577"/>
                </a:solidFill>
                <a:latin typeface="Segoe UI" pitchFamily="34" charset="0"/>
                <a:ea typeface="Segoe UI" pitchFamily="34" charset="-122"/>
                <a:cs typeface="Segoe UI" pitchFamily="34" charset="-120"/>
              </a:rPr>
              <a:t>SEGMENT 3</a:t>
            </a:r>
            <a:endParaRPr lang="en-US" sz="850" dirty="0"/>
          </a:p>
        </p:txBody>
      </p:sp>
      <p:sp>
        <p:nvSpPr>
          <p:cNvPr id="17" name="Text 15"/>
          <p:cNvSpPr txBox="1"/>
          <p:nvPr/>
        </p:nvSpPr>
        <p:spPr>
          <a:xfrm>
            <a:off x="6263640" y="1645920"/>
            <a:ext cx="2240280" cy="548640"/>
          </a:xfrm>
          <a:prstGeom prst="rect">
            <a:avLst/>
          </a:prstGeom>
          <a:noFill/>
          <a:ln/>
        </p:spPr>
        <p:txBody>
          <a:bodyPr wrap="square" lIns="0" tIns="0" rIns="0" bIns="0" rtlCol="0" anchor="t"/>
          <a:lstStyle/>
          <a:p>
            <a:pPr indent="0" marL="0">
              <a:buNone/>
            </a:pPr>
            <a:r>
              <a:rPr lang="en-US" sz="1450" dirty="0">
                <a:solidFill>
                  <a:srgbClr val="043370"/>
                </a:solidFill>
                <a:latin typeface="Segoe UI Semibold" pitchFamily="34" charset="0"/>
                <a:ea typeface="Segoe UI Semibold" pitchFamily="34" charset="-122"/>
                <a:cs typeface="Segoe UI Semibold" pitchFamily="34" charset="-120"/>
              </a:rPr>
              <a:t>Transitioning service members</a:t>
            </a:r>
            <a:endParaRPr lang="en-US" sz="1450" dirty="0"/>
          </a:p>
        </p:txBody>
      </p:sp>
      <p:sp>
        <p:nvSpPr>
          <p:cNvPr id="18" name="Text 16"/>
          <p:cNvSpPr txBox="1"/>
          <p:nvPr/>
        </p:nvSpPr>
        <p:spPr>
          <a:xfrm>
            <a:off x="6263640" y="2240280"/>
            <a:ext cx="2240280" cy="777240"/>
          </a:xfrm>
          <a:prstGeom prst="rect">
            <a:avLst/>
          </a:prstGeom>
          <a:noFill/>
          <a:ln/>
        </p:spPr>
        <p:txBody>
          <a:bodyPr wrap="square" lIns="0" tIns="0" rIns="0" bIns="0" rtlCol="0" anchor="t"/>
          <a:lstStyle/>
          <a:p>
            <a:pPr indent="0" marL="0">
              <a:buNone/>
            </a:pPr>
            <a:r>
              <a:rPr lang="en-US" sz="1100" dirty="0">
                <a:solidFill>
                  <a:srgbClr val="14213D"/>
                </a:solidFill>
                <a:latin typeface="Segoe UI" pitchFamily="34" charset="0"/>
                <a:ea typeface="Segoe UI" pitchFamily="34" charset="-122"/>
                <a:cs typeface="Segoe UI" pitchFamily="34" charset="-120"/>
              </a:rPr>
              <a:t>Separation date and PCS moves signal a new banking need.</a:t>
            </a:r>
            <a:endParaRPr lang="en-US" sz="1100" dirty="0"/>
          </a:p>
        </p:txBody>
      </p:sp>
      <p:sp>
        <p:nvSpPr>
          <p:cNvPr id="19" name="Text 17"/>
          <p:cNvSpPr txBox="1"/>
          <p:nvPr/>
        </p:nvSpPr>
        <p:spPr>
          <a:xfrm>
            <a:off x="457200" y="3310128"/>
            <a:ext cx="8229600"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HOW A SEGMENT BECOMES A MEMBER</a:t>
            </a:r>
            <a:endParaRPr lang="en-US" sz="900" dirty="0"/>
          </a:p>
        </p:txBody>
      </p:sp>
      <p:sp>
        <p:nvSpPr>
          <p:cNvPr id="20" name="Flow 1"/>
          <p:cNvSpPr/>
          <p:nvPr/>
        </p:nvSpPr>
        <p:spPr>
          <a:xfrm>
            <a:off x="457200" y="3611880"/>
            <a:ext cx="1874520" cy="685800"/>
          </a:xfrm>
          <a:prstGeom prst="roundRect">
            <a:avLst>
              <a:gd name="adj" fmla="val 49333"/>
            </a:avLst>
          </a:prstGeom>
          <a:solidFill>
            <a:srgbClr val="043370"/>
          </a:solidFill>
          <a:ln w="12700">
            <a:solidFill>
              <a:srgbClr val="043370"/>
            </a:solidFill>
            <a:prstDash val="solid"/>
          </a:ln>
        </p:spPr>
      </p:sp>
      <p:sp>
        <p:nvSpPr>
          <p:cNvPr id="21" name="Text 19"/>
          <p:cNvSpPr txBox="1"/>
          <p:nvPr/>
        </p:nvSpPr>
        <p:spPr>
          <a:xfrm>
            <a:off x="566928" y="3611880"/>
            <a:ext cx="165506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Data Cloud segment</a:t>
            </a:r>
            <a:endParaRPr lang="en-US" sz="1100" dirty="0"/>
          </a:p>
        </p:txBody>
      </p:sp>
      <p:sp>
        <p:nvSpPr>
          <p:cNvPr id="22" name="Flow arrow 1"/>
          <p:cNvSpPr/>
          <p:nvPr/>
        </p:nvSpPr>
        <p:spPr>
          <a:xfrm>
            <a:off x="2359152" y="3849624"/>
            <a:ext cx="173736" cy="210312"/>
          </a:xfrm>
          <a:prstGeom prst="rightArrow">
            <a:avLst/>
          </a:prstGeom>
          <a:solidFill>
            <a:srgbClr val="ED780F"/>
          </a:solidFill>
          <a:ln w="12700">
            <a:solidFill>
              <a:srgbClr val="ED780F"/>
            </a:solidFill>
            <a:prstDash val="solid"/>
          </a:ln>
        </p:spPr>
      </p:sp>
      <p:sp>
        <p:nvSpPr>
          <p:cNvPr id="23" name="Flow 2"/>
          <p:cNvSpPr/>
          <p:nvPr/>
        </p:nvSpPr>
        <p:spPr>
          <a:xfrm>
            <a:off x="2560320" y="3611880"/>
            <a:ext cx="1874520" cy="685800"/>
          </a:xfrm>
          <a:prstGeom prst="roundRect">
            <a:avLst>
              <a:gd name="adj" fmla="val 49333"/>
            </a:avLst>
          </a:prstGeom>
          <a:solidFill>
            <a:srgbClr val="043370"/>
          </a:solidFill>
          <a:ln w="12700">
            <a:solidFill>
              <a:srgbClr val="043370"/>
            </a:solidFill>
            <a:prstDash val="solid"/>
          </a:ln>
        </p:spPr>
      </p:sp>
      <p:sp>
        <p:nvSpPr>
          <p:cNvPr id="24" name="Text 22"/>
          <p:cNvSpPr txBox="1"/>
          <p:nvPr/>
        </p:nvSpPr>
        <p:spPr>
          <a:xfrm>
            <a:off x="2670048" y="3611880"/>
            <a:ext cx="165506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Personalized email or member referral</a:t>
            </a:r>
            <a:endParaRPr lang="en-US" sz="1100" dirty="0"/>
          </a:p>
        </p:txBody>
      </p:sp>
      <p:sp>
        <p:nvSpPr>
          <p:cNvPr id="25" name="Flow arrow 2"/>
          <p:cNvSpPr/>
          <p:nvPr/>
        </p:nvSpPr>
        <p:spPr>
          <a:xfrm>
            <a:off x="4462272" y="3849624"/>
            <a:ext cx="173736" cy="210312"/>
          </a:xfrm>
          <a:prstGeom prst="rightArrow">
            <a:avLst/>
          </a:prstGeom>
          <a:solidFill>
            <a:srgbClr val="ED780F"/>
          </a:solidFill>
          <a:ln w="12700">
            <a:solidFill>
              <a:srgbClr val="ED780F"/>
            </a:solidFill>
            <a:prstDash val="solid"/>
          </a:ln>
        </p:spPr>
      </p:sp>
      <p:sp>
        <p:nvSpPr>
          <p:cNvPr id="26" name="Flow 3"/>
          <p:cNvSpPr/>
          <p:nvPr/>
        </p:nvSpPr>
        <p:spPr>
          <a:xfrm>
            <a:off x="4663440" y="3611880"/>
            <a:ext cx="1874520" cy="685800"/>
          </a:xfrm>
          <a:prstGeom prst="roundRect">
            <a:avLst>
              <a:gd name="adj" fmla="val 49333"/>
            </a:avLst>
          </a:prstGeom>
          <a:solidFill>
            <a:srgbClr val="043370"/>
          </a:solidFill>
          <a:ln w="12700">
            <a:solidFill>
              <a:srgbClr val="043370"/>
            </a:solidFill>
            <a:prstDash val="solid"/>
          </a:ln>
        </p:spPr>
      </p:sp>
      <p:sp>
        <p:nvSpPr>
          <p:cNvPr id="27" name="Text 25"/>
          <p:cNvSpPr txBox="1"/>
          <p:nvPr/>
        </p:nvSpPr>
        <p:spPr>
          <a:xfrm>
            <a:off x="4773168" y="3611880"/>
            <a:ext cx="165506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Open account page</a:t>
            </a:r>
            <a:endParaRPr lang="en-US" sz="1100" dirty="0"/>
          </a:p>
        </p:txBody>
      </p:sp>
      <p:sp>
        <p:nvSpPr>
          <p:cNvPr id="28" name="Flow arrow 3"/>
          <p:cNvSpPr/>
          <p:nvPr/>
        </p:nvSpPr>
        <p:spPr>
          <a:xfrm>
            <a:off x="6565392" y="3849624"/>
            <a:ext cx="173736" cy="210312"/>
          </a:xfrm>
          <a:prstGeom prst="rightArrow">
            <a:avLst/>
          </a:prstGeom>
          <a:solidFill>
            <a:srgbClr val="ED780F"/>
          </a:solidFill>
          <a:ln w="12700">
            <a:solidFill>
              <a:srgbClr val="ED780F"/>
            </a:solidFill>
            <a:prstDash val="solid"/>
          </a:ln>
        </p:spPr>
      </p:sp>
      <p:sp>
        <p:nvSpPr>
          <p:cNvPr id="29" name="Flow 4"/>
          <p:cNvSpPr/>
          <p:nvPr/>
        </p:nvSpPr>
        <p:spPr>
          <a:xfrm>
            <a:off x="6766560" y="3611880"/>
            <a:ext cx="1874520" cy="685800"/>
          </a:xfrm>
          <a:prstGeom prst="roundRect">
            <a:avLst>
              <a:gd name="adj" fmla="val 49333"/>
            </a:avLst>
          </a:prstGeom>
          <a:solidFill>
            <a:srgbClr val="ED780F"/>
          </a:solidFill>
          <a:ln w="12700">
            <a:solidFill>
              <a:srgbClr val="ED780F"/>
            </a:solidFill>
            <a:prstDash val="solid"/>
          </a:ln>
        </p:spPr>
      </p:sp>
      <p:sp>
        <p:nvSpPr>
          <p:cNvPr id="30" name="Text 28"/>
          <p:cNvSpPr txBox="1"/>
          <p:nvPr/>
        </p:nvSpPr>
        <p:spPr>
          <a:xfrm>
            <a:off x="6876288" y="3611880"/>
            <a:ext cx="165506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Join and apply</a:t>
            </a:r>
            <a:endParaRPr lang="en-US" sz="11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rowser frame"/>
          <p:cNvSpPr/>
          <p:nvPr/>
        </p:nvSpPr>
        <p:spPr>
          <a:xfrm>
            <a:off x="411480" y="320040"/>
            <a:ext cx="4244151" cy="4343400"/>
          </a:xfrm>
          <a:prstGeom prst="roundRect">
            <a:avLst>
              <a:gd name="adj" fmla="val 2585"/>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3" name="Browser bar"/>
          <p:cNvSpPr/>
          <p:nvPr/>
        </p:nvSpPr>
        <p:spPr>
          <a:xfrm>
            <a:off x="429768" y="338328"/>
            <a:ext cx="4207575" cy="256032"/>
          </a:xfrm>
          <a:prstGeom prst="rect">
            <a:avLst/>
          </a:prstGeom>
          <a:solidFill>
            <a:srgbClr val="EAF0F8"/>
          </a:solidFill>
          <a:ln w="12700">
            <a:solidFill>
              <a:srgbClr val="EAF0F8"/>
            </a:solidFill>
            <a:prstDash val="solid"/>
          </a:ln>
        </p:spPr>
      </p:sp>
      <p:sp>
        <p:nvSpPr>
          <p:cNvPr id="4" name="Browser dot 1"/>
          <p:cNvSpPr/>
          <p:nvPr/>
        </p:nvSpPr>
        <p:spPr>
          <a:xfrm>
            <a:off x="521208" y="411480"/>
            <a:ext cx="82296" cy="82296"/>
          </a:xfrm>
          <a:prstGeom prst="ellipse">
            <a:avLst/>
          </a:prstGeom>
          <a:solidFill>
            <a:srgbClr val="E46A5E"/>
          </a:solidFill>
          <a:ln w="12700">
            <a:solidFill>
              <a:srgbClr val="E46A5E"/>
            </a:solidFill>
            <a:prstDash val="solid"/>
          </a:ln>
        </p:spPr>
      </p:sp>
      <p:sp>
        <p:nvSpPr>
          <p:cNvPr id="5" name="Browser dot 2"/>
          <p:cNvSpPr/>
          <p:nvPr/>
        </p:nvSpPr>
        <p:spPr>
          <a:xfrm>
            <a:off x="649224" y="411480"/>
            <a:ext cx="82296" cy="82296"/>
          </a:xfrm>
          <a:prstGeom prst="ellipse">
            <a:avLst/>
          </a:prstGeom>
          <a:solidFill>
            <a:srgbClr val="F2B84B"/>
          </a:solidFill>
          <a:ln w="12700">
            <a:solidFill>
              <a:srgbClr val="F2B84B"/>
            </a:solidFill>
            <a:prstDash val="solid"/>
          </a:ln>
        </p:spPr>
      </p:sp>
      <p:sp>
        <p:nvSpPr>
          <p:cNvPr id="6" name="Browser dot 3"/>
          <p:cNvSpPr/>
          <p:nvPr/>
        </p:nvSpPr>
        <p:spPr>
          <a:xfrm>
            <a:off x="777240" y="411480"/>
            <a:ext cx="82296" cy="82296"/>
          </a:xfrm>
          <a:prstGeom prst="ellipse">
            <a:avLst/>
          </a:prstGeom>
          <a:solidFill>
            <a:srgbClr val="5DBB63"/>
          </a:solidFill>
          <a:ln w="12700">
            <a:solidFill>
              <a:srgbClr val="5DBB63"/>
            </a:solidFill>
            <a:prstDash val="solid"/>
          </a:ln>
        </p:spPr>
      </p:sp>
      <p:sp>
        <p:nvSpPr>
          <p:cNvPr id="7" name="Address bar"/>
          <p:cNvSpPr/>
          <p:nvPr/>
        </p:nvSpPr>
        <p:spPr>
          <a:xfrm>
            <a:off x="960120" y="374904"/>
            <a:ext cx="3291840" cy="164592"/>
          </a:xfrm>
          <a:prstGeom prst="roundRect">
            <a:avLst>
              <a:gd name="adj" fmla="val 50000"/>
            </a:avLst>
          </a:prstGeom>
          <a:solidFill>
            <a:srgbClr val="FFFFFF"/>
          </a:solidFill>
          <a:ln w="6350">
            <a:solidFill>
              <a:srgbClr val="D6DFEB"/>
            </a:solidFill>
            <a:prstDash val="solid"/>
          </a:ln>
        </p:spPr>
      </p:sp>
      <p:sp>
        <p:nvSpPr>
          <p:cNvPr id="8" name="Text 6"/>
          <p:cNvSpPr txBox="1"/>
          <p:nvPr/>
        </p:nvSpPr>
        <p:spPr>
          <a:xfrm>
            <a:off x="1051560" y="374904"/>
            <a:ext cx="3154680" cy="164592"/>
          </a:xfrm>
          <a:prstGeom prst="rect">
            <a:avLst/>
          </a:prstGeom>
          <a:noFill/>
          <a:ln/>
        </p:spPr>
        <p:txBody>
          <a:bodyPr wrap="square" lIns="0" tIns="0" rIns="0" bIns="0" rtlCol="0" anchor="ctr"/>
          <a:lstStyle/>
          <a:p>
            <a:pPr indent="0" marL="0">
              <a:buNone/>
            </a:pPr>
            <a:r>
              <a:rPr lang="en-US" sz="700" dirty="0">
                <a:solidFill>
                  <a:srgbClr val="5A6577"/>
                </a:solidFill>
                <a:latin typeface="Segoe UI" pitchFamily="34" charset="0"/>
                <a:ea typeface="Segoe UI" pitchFamily="34" charset="-122"/>
                <a:cs typeface="Segoe UI" pitchFamily="34" charset="-120"/>
              </a:rPr>
              <a:t>storm-6269dbe2d00053.my.site.com/consumer/s/open-account</a:t>
            </a:r>
            <a:endParaRPr lang="en-US" sz="700" dirty="0"/>
          </a:p>
        </p:txBody>
      </p:sp>
      <p:pic>
        <p:nvPicPr>
          <p:cNvPr id="9" name="Screenshot 10-open-account.jpg" descr="Open account page · SDO - Consumer site">    </p:cNvPr>
          <p:cNvPicPr>
            <a:picLocks noChangeAspect="1"/>
          </p:cNvPicPr>
          <p:nvPr/>
        </p:nvPicPr>
        <p:blipFill>
          <a:blip r:embed="rId1"/>
          <a:stretch>
            <a:fillRect/>
          </a:stretch>
        </p:blipFill>
        <p:spPr>
          <a:xfrm>
            <a:off x="411480" y="594360"/>
            <a:ext cx="4244151" cy="4069080"/>
          </a:xfrm>
          <a:prstGeom prst="rect">
            <a:avLst/>
          </a:prstGeom>
        </p:spPr>
      </p:pic>
      <p:sp>
        <p:nvSpPr>
          <p:cNvPr id="10" name="Text 7"/>
          <p:cNvSpPr txBox="1"/>
          <p:nvPr/>
        </p:nvSpPr>
        <p:spPr>
          <a:xfrm>
            <a:off x="5067111" y="502920"/>
            <a:ext cx="3665409"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1 · TARGETING</a:t>
            </a:r>
            <a:endParaRPr lang="en-US" sz="900" dirty="0"/>
          </a:p>
        </p:txBody>
      </p:sp>
      <p:sp>
        <p:nvSpPr>
          <p:cNvPr id="11" name="Text 8"/>
          <p:cNvSpPr txBox="1"/>
          <p:nvPr/>
        </p:nvSpPr>
        <p:spPr>
          <a:xfrm>
            <a:off x="5067111" y="777240"/>
            <a:ext cx="3665409" cy="1143000"/>
          </a:xfrm>
          <a:prstGeom prst="rect">
            <a:avLst/>
          </a:prstGeom>
          <a:noFill/>
          <a:ln/>
        </p:spPr>
        <p:txBody>
          <a:bodyPr wrap="square" lIns="0" tIns="0" rIns="0" bIns="0" rtlCol="0" anchor="t">
            <a:normAutofit/>
          </a:bodyPr>
          <a:lstStyle/>
          <a:p>
            <a:pPr indent="0" marL="0">
              <a:buNone/>
            </a:pPr>
            <a:r>
              <a:rPr lang="en-US" sz="2400" dirty="0">
                <a:solidFill>
                  <a:srgbClr val="043370"/>
                </a:solidFill>
                <a:latin typeface="Segoe UI Semibold" pitchFamily="34" charset="0"/>
                <a:ea typeface="Segoe UI Semibold" pitchFamily="34" charset="-122"/>
                <a:cs typeface="Segoe UI Semibold" pitchFamily="34" charset="-120"/>
              </a:rPr>
              <a:t>The offer lands on one front door</a:t>
            </a:r>
            <a:endParaRPr lang="en-US" sz="2400" dirty="0"/>
          </a:p>
        </p:txBody>
      </p:sp>
      <p:sp>
        <p:nvSpPr>
          <p:cNvPr id="12" name="Text 9"/>
          <p:cNvSpPr txBox="1"/>
          <p:nvPr/>
        </p:nvSpPr>
        <p:spPr>
          <a:xfrm>
            <a:off x="5067111" y="1920240"/>
            <a:ext cx="3665409" cy="365760"/>
          </a:xfrm>
          <a:prstGeom prst="rect">
            <a:avLst/>
          </a:prstGeom>
          <a:noFill/>
          <a:ln/>
        </p:spPr>
        <p:txBody>
          <a:bodyPr wrap="square" lIns="0" tIns="0" rIns="0" bIns="0" rtlCol="0" anchor="t"/>
          <a:lstStyle/>
          <a:p>
            <a:pPr indent="0" marL="0">
              <a:buNone/>
            </a:pPr>
            <a:r>
              <a:rPr lang="en-US" sz="1100" i="1" dirty="0">
                <a:solidFill>
                  <a:srgbClr val="5A6577"/>
                </a:solidFill>
                <a:latin typeface="Segoe UI" pitchFamily="34" charset="0"/>
                <a:ea typeface="Segoe UI" pitchFamily="34" charset="-122"/>
                <a:cs typeface="Segoe UI" pitchFamily="34" charset="-120"/>
              </a:rPr>
              <a:t>Open account page · SDO - Consumer site</a:t>
            </a:r>
            <a:endParaRPr lang="en-US" sz="1100" dirty="0"/>
          </a:p>
        </p:txBody>
      </p:sp>
      <p:sp>
        <p:nvSpPr>
          <p:cNvPr id="13" name="Point 1"/>
          <p:cNvSpPr/>
          <p:nvPr/>
        </p:nvSpPr>
        <p:spPr>
          <a:xfrm>
            <a:off x="5067111" y="2377440"/>
            <a:ext cx="329184" cy="329184"/>
          </a:xfrm>
          <a:prstGeom prst="roundRect">
            <a:avLst>
              <a:gd name="adj" fmla="val 22222"/>
            </a:avLst>
          </a:prstGeom>
          <a:solidFill>
            <a:srgbClr val="ED780F"/>
          </a:solidFill>
          <a:ln w="12700">
            <a:solidFill>
              <a:srgbClr val="ED780F"/>
            </a:solidFill>
            <a:prstDash val="solid"/>
          </a:ln>
        </p:spPr>
      </p:sp>
      <p:sp>
        <p:nvSpPr>
          <p:cNvPr id="14" name="Text 11"/>
          <p:cNvSpPr txBox="1"/>
          <p:nvPr/>
        </p:nvSpPr>
        <p:spPr>
          <a:xfrm>
            <a:off x="5067111" y="237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15" name="Text 12"/>
          <p:cNvSpPr txBox="1"/>
          <p:nvPr/>
        </p:nvSpPr>
        <p:spPr>
          <a:xfrm>
            <a:off x="5542599" y="235915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Checking cash offer for new members</a:t>
            </a:r>
            <a:endParaRPr lang="en-US" sz="1300" dirty="0"/>
          </a:p>
        </p:txBody>
      </p:sp>
      <p:sp>
        <p:nvSpPr>
          <p:cNvPr id="16" name="Point 2"/>
          <p:cNvSpPr/>
          <p:nvPr/>
        </p:nvSpPr>
        <p:spPr>
          <a:xfrm>
            <a:off x="5067111" y="3108960"/>
            <a:ext cx="329184" cy="329184"/>
          </a:xfrm>
          <a:prstGeom prst="roundRect">
            <a:avLst>
              <a:gd name="adj" fmla="val 22222"/>
            </a:avLst>
          </a:prstGeom>
          <a:solidFill>
            <a:srgbClr val="ED780F"/>
          </a:solidFill>
          <a:ln w="12700">
            <a:solidFill>
              <a:srgbClr val="ED780F"/>
            </a:solidFill>
            <a:prstDash val="solid"/>
          </a:ln>
        </p:spPr>
      </p:sp>
      <p:sp>
        <p:nvSpPr>
          <p:cNvPr id="17" name="Text 14"/>
          <p:cNvSpPr txBox="1"/>
          <p:nvPr/>
        </p:nvSpPr>
        <p:spPr>
          <a:xfrm>
            <a:off x="5067111" y="3108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8" name="Text 15"/>
          <p:cNvSpPr txBox="1"/>
          <p:nvPr/>
        </p:nvSpPr>
        <p:spPr>
          <a:xfrm>
            <a:off x="5542599" y="309067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“Join and open your account” goes straight to the application</a:t>
            </a:r>
            <a:endParaRPr lang="en-US" sz="1300" dirty="0"/>
          </a:p>
        </p:txBody>
      </p:sp>
      <p:sp>
        <p:nvSpPr>
          <p:cNvPr id="19" name="Point 3"/>
          <p:cNvSpPr/>
          <p:nvPr/>
        </p:nvSpPr>
        <p:spPr>
          <a:xfrm>
            <a:off x="5067111" y="3840480"/>
            <a:ext cx="329184" cy="329184"/>
          </a:xfrm>
          <a:prstGeom prst="roundRect">
            <a:avLst>
              <a:gd name="adj" fmla="val 22222"/>
            </a:avLst>
          </a:prstGeom>
          <a:solidFill>
            <a:srgbClr val="ED780F"/>
          </a:solidFill>
          <a:ln w="12700">
            <a:solidFill>
              <a:srgbClr val="ED780F"/>
            </a:solidFill>
            <a:prstDash val="solid"/>
          </a:ln>
        </p:spPr>
      </p:sp>
      <p:sp>
        <p:nvSpPr>
          <p:cNvPr id="20" name="Text 17"/>
          <p:cNvSpPr txBox="1"/>
          <p:nvPr/>
        </p:nvSpPr>
        <p:spPr>
          <a:xfrm>
            <a:off x="5067111" y="38404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1" name="Text 18"/>
          <p:cNvSpPr txBox="1"/>
          <p:nvPr/>
        </p:nvSpPr>
        <p:spPr>
          <a:xfrm>
            <a:off x="5542599" y="382219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Every campaign link points to the same page</a:t>
            </a:r>
            <a:endParaRPr lang="en-US" sz="13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822960"/>
            <a:ext cx="2743200" cy="2011680"/>
          </a:xfrm>
          <a:prstGeom prst="rect">
            <a:avLst/>
          </a:prstGeom>
          <a:noFill/>
          <a:ln/>
        </p:spPr>
        <p:txBody>
          <a:bodyPr wrap="square" lIns="0" tIns="0" rIns="0" bIns="0" rtlCol="0" anchor="ctr"/>
          <a:lstStyle/>
          <a:p>
            <a:pPr indent="0" marL="0">
              <a:buNone/>
            </a:pPr>
            <a:r>
              <a:rPr lang="en-US" sz="13000" dirty="0">
                <a:solidFill>
                  <a:srgbClr val="ED780F"/>
                </a:solidFill>
                <a:latin typeface="Segoe UI Semibold" pitchFamily="34" charset="0"/>
                <a:ea typeface="Segoe UI Semibold" pitchFamily="34" charset="-122"/>
                <a:cs typeface="Segoe UI Semibold" pitchFamily="34" charset="-120"/>
              </a:rPr>
              <a:t>02</a:t>
            </a:r>
            <a:endParaRPr lang="en-US" sz="13000" dirty="0"/>
          </a:p>
        </p:txBody>
      </p:sp>
      <p:sp>
        <p:nvSpPr>
          <p:cNvPr id="3" name="Divider rule"/>
          <p:cNvSpPr/>
          <p:nvPr/>
        </p:nvSpPr>
        <p:spPr>
          <a:xfrm>
            <a:off x="3246120" y="1143000"/>
            <a:ext cx="0" cy="1371600"/>
          </a:xfrm>
          <a:prstGeom prst="line">
            <a:avLst/>
          </a:prstGeom>
          <a:noFill/>
          <a:ln w="15875">
            <a:solidFill>
              <a:srgbClr val="3A5A8C"/>
            </a:solidFill>
            <a:prstDash val="solid"/>
          </a:ln>
        </p:spPr>
      </p:sp>
      <p:sp>
        <p:nvSpPr>
          <p:cNvPr id="4" name="Text 2"/>
          <p:cNvSpPr txBox="1"/>
          <p:nvPr/>
        </p:nvSpPr>
        <p:spPr>
          <a:xfrm>
            <a:off x="3566160" y="1234440"/>
            <a:ext cx="5120640" cy="219456"/>
          </a:xfrm>
          <a:prstGeom prst="rect">
            <a:avLst/>
          </a:prstGeom>
          <a:noFill/>
          <a:ln/>
        </p:spPr>
        <p:txBody>
          <a:bodyPr wrap="square" lIns="0" tIns="0" rIns="0" bIns="0" rtlCol="0" anchor="t"/>
          <a:lstStyle/>
          <a:p>
            <a:pPr indent="0" marL="0">
              <a:buNone/>
            </a:pPr>
            <a:r>
              <a:rPr lang="en-US" sz="900" b="1" spc="250" kern="0" dirty="0">
                <a:solidFill>
                  <a:srgbClr val="ED780F"/>
                </a:solidFill>
                <a:latin typeface="Segoe UI" pitchFamily="34" charset="0"/>
                <a:ea typeface="Segoe UI" pitchFamily="34" charset="-122"/>
                <a:cs typeface="Segoe UI" pitchFamily="34" charset="-120"/>
              </a:rPr>
              <a:t>ACT 2 · EXPERIENCE CLOUD</a:t>
            </a:r>
            <a:endParaRPr lang="en-US" sz="900" dirty="0"/>
          </a:p>
        </p:txBody>
      </p:sp>
      <p:sp>
        <p:nvSpPr>
          <p:cNvPr id="5" name="Text 3"/>
          <p:cNvSpPr txBox="1"/>
          <p:nvPr/>
        </p:nvSpPr>
        <p:spPr>
          <a:xfrm>
            <a:off x="3566160" y="1554480"/>
            <a:ext cx="5120640" cy="1188720"/>
          </a:xfrm>
          <a:prstGeom prst="rect">
            <a:avLst/>
          </a:prstGeom>
          <a:noFill/>
          <a:ln/>
        </p:spPr>
        <p:txBody>
          <a:bodyPr wrap="square" lIns="0" tIns="0" rIns="0" bIns="0" rtlCol="0" anchor="t">
            <a:normAutofit/>
          </a:bodyPr>
          <a:lstStyle/>
          <a:p>
            <a:pPr indent="0" marL="0">
              <a:buNone/>
            </a:pPr>
            <a:r>
              <a:rPr lang="en-US" sz="3200" dirty="0">
                <a:solidFill>
                  <a:srgbClr val="FFFFFF"/>
                </a:solidFill>
                <a:latin typeface="Segoe UI Semibold" pitchFamily="34" charset="0"/>
                <a:ea typeface="Segoe UI Semibold" pitchFamily="34" charset="-122"/>
                <a:cs typeface="Segoe UI Semibold" pitchFamily="34" charset="-120"/>
              </a:rPr>
              <a:t>Join and apply in one application</a:t>
            </a:r>
            <a:endParaRPr lang="en-US" sz="3200" dirty="0"/>
          </a:p>
        </p:txBody>
      </p:sp>
      <p:sp>
        <p:nvSpPr>
          <p:cNvPr id="6" name="Tracker 1"/>
          <p:cNvSpPr/>
          <p:nvPr/>
        </p:nvSpPr>
        <p:spPr>
          <a:xfrm>
            <a:off x="457200" y="3977640"/>
            <a:ext cx="1554480" cy="54864"/>
          </a:xfrm>
          <a:prstGeom prst="rect">
            <a:avLst/>
          </a:prstGeom>
          <a:solidFill>
            <a:srgbClr val="2B4C7E"/>
          </a:solidFill>
          <a:ln w="12700">
            <a:solidFill>
              <a:srgbClr val="2B4C7E"/>
            </a:solidFill>
            <a:prstDash val="solid"/>
          </a:ln>
        </p:spPr>
      </p:sp>
      <p:sp>
        <p:nvSpPr>
          <p:cNvPr id="7" name="Text 5"/>
          <p:cNvSpPr txBox="1"/>
          <p:nvPr/>
        </p:nvSpPr>
        <p:spPr>
          <a:xfrm>
            <a:off x="457200"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1  Targeting</a:t>
            </a:r>
            <a:endParaRPr lang="en-US" sz="900" dirty="0"/>
          </a:p>
        </p:txBody>
      </p:sp>
      <p:sp>
        <p:nvSpPr>
          <p:cNvPr id="8" name="Tracker 2"/>
          <p:cNvSpPr/>
          <p:nvPr/>
        </p:nvSpPr>
        <p:spPr>
          <a:xfrm>
            <a:off x="2121408" y="3977640"/>
            <a:ext cx="1554480" cy="54864"/>
          </a:xfrm>
          <a:prstGeom prst="rect">
            <a:avLst/>
          </a:prstGeom>
          <a:solidFill>
            <a:srgbClr val="ED780F"/>
          </a:solidFill>
          <a:ln w="12700">
            <a:solidFill>
              <a:srgbClr val="ED780F"/>
            </a:solidFill>
            <a:prstDash val="solid"/>
          </a:ln>
        </p:spPr>
      </p:sp>
      <p:sp>
        <p:nvSpPr>
          <p:cNvPr id="9" name="Text 7"/>
          <p:cNvSpPr txBox="1"/>
          <p:nvPr/>
        </p:nvSpPr>
        <p:spPr>
          <a:xfrm>
            <a:off x="2121408" y="4114800"/>
            <a:ext cx="1554480" cy="228600"/>
          </a:xfrm>
          <a:prstGeom prst="rect">
            <a:avLst/>
          </a:prstGeom>
          <a:noFill/>
          <a:ln/>
        </p:spPr>
        <p:txBody>
          <a:bodyPr wrap="square" lIns="0" tIns="0" rIns="0" bIns="0" rtlCol="0" anchor="t"/>
          <a:lstStyle/>
          <a:p>
            <a:pPr indent="0" marL="0">
              <a:buNone/>
            </a:pPr>
            <a:r>
              <a:rPr lang="en-US" sz="900" b="1" dirty="0">
                <a:solidFill>
                  <a:srgbClr val="FFFFFF"/>
                </a:solidFill>
                <a:latin typeface="Segoe UI" pitchFamily="34" charset="0"/>
                <a:ea typeface="Segoe UI" pitchFamily="34" charset="-122"/>
                <a:cs typeface="Segoe UI" pitchFamily="34" charset="-120"/>
              </a:rPr>
              <a:t>2  Join and apply</a:t>
            </a:r>
            <a:endParaRPr lang="en-US" sz="900" dirty="0"/>
          </a:p>
        </p:txBody>
      </p:sp>
      <p:sp>
        <p:nvSpPr>
          <p:cNvPr id="10" name="Tracker 3"/>
          <p:cNvSpPr/>
          <p:nvPr/>
        </p:nvSpPr>
        <p:spPr>
          <a:xfrm>
            <a:off x="3785616" y="3977640"/>
            <a:ext cx="1554480" cy="54864"/>
          </a:xfrm>
          <a:prstGeom prst="rect">
            <a:avLst/>
          </a:prstGeom>
          <a:solidFill>
            <a:srgbClr val="2B4C7E"/>
          </a:solidFill>
          <a:ln w="12700">
            <a:solidFill>
              <a:srgbClr val="2B4C7E"/>
            </a:solidFill>
            <a:prstDash val="solid"/>
          </a:ln>
        </p:spPr>
      </p:sp>
      <p:sp>
        <p:nvSpPr>
          <p:cNvPr id="11" name="Text 9"/>
          <p:cNvSpPr txBox="1"/>
          <p:nvPr/>
        </p:nvSpPr>
        <p:spPr>
          <a:xfrm>
            <a:off x="3785616"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3  Open accounts</a:t>
            </a:r>
            <a:endParaRPr lang="en-US" sz="900" dirty="0"/>
          </a:p>
        </p:txBody>
      </p:sp>
      <p:sp>
        <p:nvSpPr>
          <p:cNvPr id="12" name="Tracker 4"/>
          <p:cNvSpPr/>
          <p:nvPr/>
        </p:nvSpPr>
        <p:spPr>
          <a:xfrm>
            <a:off x="5449824" y="3977640"/>
            <a:ext cx="1554480" cy="54864"/>
          </a:xfrm>
          <a:prstGeom prst="rect">
            <a:avLst/>
          </a:prstGeom>
          <a:solidFill>
            <a:srgbClr val="2B4C7E"/>
          </a:solidFill>
          <a:ln w="12700">
            <a:solidFill>
              <a:srgbClr val="2B4C7E"/>
            </a:solidFill>
            <a:prstDash val="solid"/>
          </a:ln>
        </p:spPr>
      </p:sp>
      <p:sp>
        <p:nvSpPr>
          <p:cNvPr id="13" name="Text 11"/>
          <p:cNvSpPr txBox="1"/>
          <p:nvPr/>
        </p:nvSpPr>
        <p:spPr>
          <a:xfrm>
            <a:off x="5449824"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4  First 30 days</a:t>
            </a:r>
            <a:endParaRPr lang="en-US" sz="900" dirty="0"/>
          </a:p>
        </p:txBody>
      </p:sp>
      <p:sp>
        <p:nvSpPr>
          <p:cNvPr id="14" name="Tracker 5"/>
          <p:cNvSpPr/>
          <p:nvPr/>
        </p:nvSpPr>
        <p:spPr>
          <a:xfrm>
            <a:off x="7114032" y="3977640"/>
            <a:ext cx="1554480" cy="54864"/>
          </a:xfrm>
          <a:prstGeom prst="rect">
            <a:avLst/>
          </a:prstGeom>
          <a:solidFill>
            <a:srgbClr val="2B4C7E"/>
          </a:solidFill>
          <a:ln w="12700">
            <a:solidFill>
              <a:srgbClr val="2B4C7E"/>
            </a:solidFill>
            <a:prstDash val="solid"/>
          </a:ln>
        </p:spPr>
      </p:sp>
      <p:sp>
        <p:nvSpPr>
          <p:cNvPr id="15" name="Text 13"/>
          <p:cNvSpPr txBox="1"/>
          <p:nvPr/>
        </p:nvSpPr>
        <p:spPr>
          <a:xfrm>
            <a:off x="7114032"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5  Measure and grow</a:t>
            </a:r>
            <a:endParaRPr lang="en-US" sz="9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EA3C4"/>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rowser frame"/>
          <p:cNvSpPr/>
          <p:nvPr/>
        </p:nvSpPr>
        <p:spPr>
          <a:xfrm>
            <a:off x="411480" y="320040"/>
            <a:ext cx="4244151" cy="4343400"/>
          </a:xfrm>
          <a:prstGeom prst="roundRect">
            <a:avLst>
              <a:gd name="adj" fmla="val 2585"/>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3" name="Browser bar"/>
          <p:cNvSpPr/>
          <p:nvPr/>
        </p:nvSpPr>
        <p:spPr>
          <a:xfrm>
            <a:off x="429768" y="338328"/>
            <a:ext cx="4207575" cy="256032"/>
          </a:xfrm>
          <a:prstGeom prst="rect">
            <a:avLst/>
          </a:prstGeom>
          <a:solidFill>
            <a:srgbClr val="EAF0F8"/>
          </a:solidFill>
          <a:ln w="12700">
            <a:solidFill>
              <a:srgbClr val="EAF0F8"/>
            </a:solidFill>
            <a:prstDash val="solid"/>
          </a:ln>
        </p:spPr>
      </p:sp>
      <p:sp>
        <p:nvSpPr>
          <p:cNvPr id="4" name="Browser dot 1"/>
          <p:cNvSpPr/>
          <p:nvPr/>
        </p:nvSpPr>
        <p:spPr>
          <a:xfrm>
            <a:off x="521208" y="411480"/>
            <a:ext cx="82296" cy="82296"/>
          </a:xfrm>
          <a:prstGeom prst="ellipse">
            <a:avLst/>
          </a:prstGeom>
          <a:solidFill>
            <a:srgbClr val="E46A5E"/>
          </a:solidFill>
          <a:ln w="12700">
            <a:solidFill>
              <a:srgbClr val="E46A5E"/>
            </a:solidFill>
            <a:prstDash val="solid"/>
          </a:ln>
        </p:spPr>
      </p:sp>
      <p:sp>
        <p:nvSpPr>
          <p:cNvPr id="5" name="Browser dot 2"/>
          <p:cNvSpPr/>
          <p:nvPr/>
        </p:nvSpPr>
        <p:spPr>
          <a:xfrm>
            <a:off x="649224" y="411480"/>
            <a:ext cx="82296" cy="82296"/>
          </a:xfrm>
          <a:prstGeom prst="ellipse">
            <a:avLst/>
          </a:prstGeom>
          <a:solidFill>
            <a:srgbClr val="F2B84B"/>
          </a:solidFill>
          <a:ln w="12700">
            <a:solidFill>
              <a:srgbClr val="F2B84B"/>
            </a:solidFill>
            <a:prstDash val="solid"/>
          </a:ln>
        </p:spPr>
      </p:sp>
      <p:sp>
        <p:nvSpPr>
          <p:cNvPr id="6" name="Browser dot 3"/>
          <p:cNvSpPr/>
          <p:nvPr/>
        </p:nvSpPr>
        <p:spPr>
          <a:xfrm>
            <a:off x="777240" y="411480"/>
            <a:ext cx="82296" cy="82296"/>
          </a:xfrm>
          <a:prstGeom prst="ellipse">
            <a:avLst/>
          </a:prstGeom>
          <a:solidFill>
            <a:srgbClr val="5DBB63"/>
          </a:solidFill>
          <a:ln w="12700">
            <a:solidFill>
              <a:srgbClr val="5DBB63"/>
            </a:solidFill>
            <a:prstDash val="solid"/>
          </a:ln>
        </p:spPr>
      </p:sp>
      <p:sp>
        <p:nvSpPr>
          <p:cNvPr id="7" name="Address bar"/>
          <p:cNvSpPr/>
          <p:nvPr/>
        </p:nvSpPr>
        <p:spPr>
          <a:xfrm>
            <a:off x="960120" y="374904"/>
            <a:ext cx="3291840" cy="164592"/>
          </a:xfrm>
          <a:prstGeom prst="roundRect">
            <a:avLst>
              <a:gd name="adj" fmla="val 50000"/>
            </a:avLst>
          </a:prstGeom>
          <a:solidFill>
            <a:srgbClr val="FFFFFF"/>
          </a:solidFill>
          <a:ln w="6350">
            <a:solidFill>
              <a:srgbClr val="D6DFEB"/>
            </a:solidFill>
            <a:prstDash val="solid"/>
          </a:ln>
        </p:spPr>
      </p:sp>
      <p:sp>
        <p:nvSpPr>
          <p:cNvPr id="8" name="Text 6"/>
          <p:cNvSpPr txBox="1"/>
          <p:nvPr/>
        </p:nvSpPr>
        <p:spPr>
          <a:xfrm>
            <a:off x="1051560" y="374904"/>
            <a:ext cx="3154680" cy="164592"/>
          </a:xfrm>
          <a:prstGeom prst="rect">
            <a:avLst/>
          </a:prstGeom>
          <a:noFill/>
          <a:ln/>
        </p:spPr>
        <p:txBody>
          <a:bodyPr wrap="square" lIns="0" tIns="0" rIns="0" bIns="0" rtlCol="0" anchor="ctr"/>
          <a:lstStyle/>
          <a:p>
            <a:pPr indent="0" marL="0">
              <a:buNone/>
            </a:pPr>
            <a:r>
              <a:rPr lang="en-US" sz="700" dirty="0">
                <a:solidFill>
                  <a:srgbClr val="5A6577"/>
                </a:solidFill>
                <a:latin typeface="Segoe UI" pitchFamily="34" charset="0"/>
                <a:ea typeface="Segoe UI" pitchFamily="34" charset="-122"/>
                <a:cs typeface="Segoe UI" pitchFamily="34" charset="-120"/>
              </a:rPr>
              <a:t>storm-6269dbe2d00053.my.site.com/consumer/s/join</a:t>
            </a:r>
            <a:endParaRPr lang="en-US" sz="700" dirty="0"/>
          </a:p>
        </p:txBody>
      </p:sp>
      <p:pic>
        <p:nvPicPr>
          <p:cNvPr id="9" name="Screenshot 03-step1-start.jpg" descr="Step 1 of 5: Eligibility">    </p:cNvPr>
          <p:cNvPicPr>
            <a:picLocks noChangeAspect="1"/>
          </p:cNvPicPr>
          <p:nvPr/>
        </p:nvPicPr>
        <p:blipFill>
          <a:blip r:embed="rId1"/>
          <a:stretch>
            <a:fillRect/>
          </a:stretch>
        </p:blipFill>
        <p:spPr>
          <a:xfrm>
            <a:off x="411480" y="594360"/>
            <a:ext cx="4244151" cy="4069080"/>
          </a:xfrm>
          <a:prstGeom prst="rect">
            <a:avLst/>
          </a:prstGeom>
        </p:spPr>
      </p:pic>
      <p:sp>
        <p:nvSpPr>
          <p:cNvPr id="10" name="Text 7"/>
          <p:cNvSpPr txBox="1"/>
          <p:nvPr/>
        </p:nvSpPr>
        <p:spPr>
          <a:xfrm>
            <a:off x="5067111" y="502920"/>
            <a:ext cx="3665409"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2 · JOIN AND APPLY</a:t>
            </a:r>
            <a:endParaRPr lang="en-US" sz="900" dirty="0"/>
          </a:p>
        </p:txBody>
      </p:sp>
      <p:sp>
        <p:nvSpPr>
          <p:cNvPr id="11" name="Text 8"/>
          <p:cNvSpPr txBox="1"/>
          <p:nvPr/>
        </p:nvSpPr>
        <p:spPr>
          <a:xfrm>
            <a:off x="5067111" y="777240"/>
            <a:ext cx="3665409" cy="1143000"/>
          </a:xfrm>
          <a:prstGeom prst="rect">
            <a:avLst/>
          </a:prstGeom>
          <a:noFill/>
          <a:ln/>
        </p:spPr>
        <p:txBody>
          <a:bodyPr wrap="square" lIns="0" tIns="0" rIns="0" bIns="0" rtlCol="0" anchor="t">
            <a:normAutofit/>
          </a:bodyPr>
          <a:lstStyle/>
          <a:p>
            <a:pPr indent="0" marL="0">
              <a:buNone/>
            </a:pPr>
            <a:r>
              <a:rPr lang="en-US" sz="2400" dirty="0">
                <a:solidFill>
                  <a:srgbClr val="043370"/>
                </a:solidFill>
                <a:latin typeface="Segoe UI Semibold" pitchFamily="34" charset="0"/>
                <a:ea typeface="Segoe UI Semibold" pitchFamily="34" charset="-122"/>
                <a:cs typeface="Segoe UI Semibold" pitchFamily="34" charset="-120"/>
              </a:rPr>
              <a:t>One application to join and apply</a:t>
            </a:r>
            <a:endParaRPr lang="en-US" sz="2400" dirty="0"/>
          </a:p>
        </p:txBody>
      </p:sp>
      <p:sp>
        <p:nvSpPr>
          <p:cNvPr id="12" name="Text 9"/>
          <p:cNvSpPr txBox="1"/>
          <p:nvPr/>
        </p:nvSpPr>
        <p:spPr>
          <a:xfrm>
            <a:off x="5067111" y="1920240"/>
            <a:ext cx="3665409" cy="365760"/>
          </a:xfrm>
          <a:prstGeom prst="rect">
            <a:avLst/>
          </a:prstGeom>
          <a:noFill/>
          <a:ln/>
        </p:spPr>
        <p:txBody>
          <a:bodyPr wrap="square" lIns="0" tIns="0" rIns="0" bIns="0" rtlCol="0" anchor="t"/>
          <a:lstStyle/>
          <a:p>
            <a:pPr indent="0" marL="0">
              <a:buNone/>
            </a:pPr>
            <a:r>
              <a:rPr lang="en-US" sz="1100" i="1" dirty="0">
                <a:solidFill>
                  <a:srgbClr val="5A6577"/>
                </a:solidFill>
                <a:latin typeface="Segoe UI" pitchFamily="34" charset="0"/>
                <a:ea typeface="Segoe UI" pitchFamily="34" charset="-122"/>
                <a:cs typeface="Segoe UI" pitchFamily="34" charset="-120"/>
              </a:rPr>
              <a:t>Step 1 of 5: Eligibility</a:t>
            </a:r>
            <a:endParaRPr lang="en-US" sz="1100" dirty="0"/>
          </a:p>
        </p:txBody>
      </p:sp>
      <p:sp>
        <p:nvSpPr>
          <p:cNvPr id="13" name="Point 1"/>
          <p:cNvSpPr/>
          <p:nvPr/>
        </p:nvSpPr>
        <p:spPr>
          <a:xfrm>
            <a:off x="5067111" y="2377440"/>
            <a:ext cx="329184" cy="329184"/>
          </a:xfrm>
          <a:prstGeom prst="roundRect">
            <a:avLst>
              <a:gd name="adj" fmla="val 22222"/>
            </a:avLst>
          </a:prstGeom>
          <a:solidFill>
            <a:srgbClr val="ED780F"/>
          </a:solidFill>
          <a:ln w="12700">
            <a:solidFill>
              <a:srgbClr val="ED780F"/>
            </a:solidFill>
            <a:prstDash val="solid"/>
          </a:ln>
        </p:spPr>
      </p:sp>
      <p:sp>
        <p:nvSpPr>
          <p:cNvPr id="14" name="Text 11"/>
          <p:cNvSpPr txBox="1"/>
          <p:nvPr/>
        </p:nvSpPr>
        <p:spPr>
          <a:xfrm>
            <a:off x="5067111" y="237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15" name="Text 12"/>
          <p:cNvSpPr txBox="1"/>
          <p:nvPr/>
        </p:nvSpPr>
        <p:spPr>
          <a:xfrm>
            <a:off x="5542599" y="235915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Five steps with progress the member can see</a:t>
            </a:r>
            <a:endParaRPr lang="en-US" sz="1300" dirty="0"/>
          </a:p>
        </p:txBody>
      </p:sp>
      <p:sp>
        <p:nvSpPr>
          <p:cNvPr id="16" name="Point 2"/>
          <p:cNvSpPr/>
          <p:nvPr/>
        </p:nvSpPr>
        <p:spPr>
          <a:xfrm>
            <a:off x="5067111" y="3108960"/>
            <a:ext cx="329184" cy="329184"/>
          </a:xfrm>
          <a:prstGeom prst="roundRect">
            <a:avLst>
              <a:gd name="adj" fmla="val 22222"/>
            </a:avLst>
          </a:prstGeom>
          <a:solidFill>
            <a:srgbClr val="ED780F"/>
          </a:solidFill>
          <a:ln w="12700">
            <a:solidFill>
              <a:srgbClr val="ED780F"/>
            </a:solidFill>
            <a:prstDash val="solid"/>
          </a:ln>
        </p:spPr>
      </p:sp>
      <p:sp>
        <p:nvSpPr>
          <p:cNvPr id="17" name="Text 14"/>
          <p:cNvSpPr txBox="1"/>
          <p:nvPr/>
        </p:nvSpPr>
        <p:spPr>
          <a:xfrm>
            <a:off x="5067111" y="3108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8" name="Text 15"/>
          <p:cNvSpPr txBox="1"/>
          <p:nvPr/>
        </p:nvSpPr>
        <p:spPr>
          <a:xfrm>
            <a:off x="5542599" y="309067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Eligibility comes first, before any personal data</a:t>
            </a:r>
            <a:endParaRPr lang="en-US" sz="1300" dirty="0"/>
          </a:p>
        </p:txBody>
      </p:sp>
      <p:sp>
        <p:nvSpPr>
          <p:cNvPr id="19" name="Point 3"/>
          <p:cNvSpPr/>
          <p:nvPr/>
        </p:nvSpPr>
        <p:spPr>
          <a:xfrm>
            <a:off x="5067111" y="3840480"/>
            <a:ext cx="329184" cy="329184"/>
          </a:xfrm>
          <a:prstGeom prst="roundRect">
            <a:avLst>
              <a:gd name="adj" fmla="val 22222"/>
            </a:avLst>
          </a:prstGeom>
          <a:solidFill>
            <a:srgbClr val="ED780F"/>
          </a:solidFill>
          <a:ln w="12700">
            <a:solidFill>
              <a:srgbClr val="ED780F"/>
            </a:solidFill>
            <a:prstDash val="solid"/>
          </a:ln>
        </p:spPr>
      </p:sp>
      <p:sp>
        <p:nvSpPr>
          <p:cNvPr id="20" name="Text 17"/>
          <p:cNvSpPr txBox="1"/>
          <p:nvPr/>
        </p:nvSpPr>
        <p:spPr>
          <a:xfrm>
            <a:off x="5067111" y="38404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1" name="Text 18"/>
          <p:cNvSpPr txBox="1"/>
          <p:nvPr/>
        </p:nvSpPr>
        <p:spPr>
          <a:xfrm>
            <a:off x="5542599" y="382219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“None of these” stops the application politely</a:t>
            </a:r>
            <a:endParaRPr lang="en-US" sz="13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rowser frame"/>
          <p:cNvSpPr/>
          <p:nvPr/>
        </p:nvSpPr>
        <p:spPr>
          <a:xfrm>
            <a:off x="411480" y="320040"/>
            <a:ext cx="4244151" cy="4343400"/>
          </a:xfrm>
          <a:prstGeom prst="roundRect">
            <a:avLst>
              <a:gd name="adj" fmla="val 2585"/>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3" name="Browser bar"/>
          <p:cNvSpPr/>
          <p:nvPr/>
        </p:nvSpPr>
        <p:spPr>
          <a:xfrm>
            <a:off x="429768" y="338328"/>
            <a:ext cx="4207575" cy="256032"/>
          </a:xfrm>
          <a:prstGeom prst="rect">
            <a:avLst/>
          </a:prstGeom>
          <a:solidFill>
            <a:srgbClr val="EAF0F8"/>
          </a:solidFill>
          <a:ln w="12700">
            <a:solidFill>
              <a:srgbClr val="EAF0F8"/>
            </a:solidFill>
            <a:prstDash val="solid"/>
          </a:ln>
        </p:spPr>
      </p:sp>
      <p:sp>
        <p:nvSpPr>
          <p:cNvPr id="4" name="Browser dot 1"/>
          <p:cNvSpPr/>
          <p:nvPr/>
        </p:nvSpPr>
        <p:spPr>
          <a:xfrm>
            <a:off x="521208" y="411480"/>
            <a:ext cx="82296" cy="82296"/>
          </a:xfrm>
          <a:prstGeom prst="ellipse">
            <a:avLst/>
          </a:prstGeom>
          <a:solidFill>
            <a:srgbClr val="E46A5E"/>
          </a:solidFill>
          <a:ln w="12700">
            <a:solidFill>
              <a:srgbClr val="E46A5E"/>
            </a:solidFill>
            <a:prstDash val="solid"/>
          </a:ln>
        </p:spPr>
      </p:sp>
      <p:sp>
        <p:nvSpPr>
          <p:cNvPr id="5" name="Browser dot 2"/>
          <p:cNvSpPr/>
          <p:nvPr/>
        </p:nvSpPr>
        <p:spPr>
          <a:xfrm>
            <a:off x="649224" y="411480"/>
            <a:ext cx="82296" cy="82296"/>
          </a:xfrm>
          <a:prstGeom prst="ellipse">
            <a:avLst/>
          </a:prstGeom>
          <a:solidFill>
            <a:srgbClr val="F2B84B"/>
          </a:solidFill>
          <a:ln w="12700">
            <a:solidFill>
              <a:srgbClr val="F2B84B"/>
            </a:solidFill>
            <a:prstDash val="solid"/>
          </a:ln>
        </p:spPr>
      </p:sp>
      <p:sp>
        <p:nvSpPr>
          <p:cNvPr id="6" name="Browser dot 3"/>
          <p:cNvSpPr/>
          <p:nvPr/>
        </p:nvSpPr>
        <p:spPr>
          <a:xfrm>
            <a:off x="777240" y="411480"/>
            <a:ext cx="82296" cy="82296"/>
          </a:xfrm>
          <a:prstGeom prst="ellipse">
            <a:avLst/>
          </a:prstGeom>
          <a:solidFill>
            <a:srgbClr val="5DBB63"/>
          </a:solidFill>
          <a:ln w="12700">
            <a:solidFill>
              <a:srgbClr val="5DBB63"/>
            </a:solidFill>
            <a:prstDash val="solid"/>
          </a:ln>
        </p:spPr>
      </p:sp>
      <p:sp>
        <p:nvSpPr>
          <p:cNvPr id="7" name="Address bar"/>
          <p:cNvSpPr/>
          <p:nvPr/>
        </p:nvSpPr>
        <p:spPr>
          <a:xfrm>
            <a:off x="960120" y="374904"/>
            <a:ext cx="3291840" cy="164592"/>
          </a:xfrm>
          <a:prstGeom prst="roundRect">
            <a:avLst>
              <a:gd name="adj" fmla="val 50000"/>
            </a:avLst>
          </a:prstGeom>
          <a:solidFill>
            <a:srgbClr val="FFFFFF"/>
          </a:solidFill>
          <a:ln w="6350">
            <a:solidFill>
              <a:srgbClr val="D6DFEB"/>
            </a:solidFill>
            <a:prstDash val="solid"/>
          </a:ln>
        </p:spPr>
      </p:sp>
      <p:sp>
        <p:nvSpPr>
          <p:cNvPr id="8" name="Text 6"/>
          <p:cNvSpPr txBox="1"/>
          <p:nvPr/>
        </p:nvSpPr>
        <p:spPr>
          <a:xfrm>
            <a:off x="1051560" y="374904"/>
            <a:ext cx="3154680" cy="164592"/>
          </a:xfrm>
          <a:prstGeom prst="rect">
            <a:avLst/>
          </a:prstGeom>
          <a:noFill/>
          <a:ln/>
        </p:spPr>
        <p:txBody>
          <a:bodyPr wrap="square" lIns="0" tIns="0" rIns="0" bIns="0" rtlCol="0" anchor="ctr"/>
          <a:lstStyle/>
          <a:p>
            <a:pPr indent="0" marL="0">
              <a:buNone/>
            </a:pPr>
            <a:r>
              <a:rPr lang="en-US" sz="700" dirty="0">
                <a:solidFill>
                  <a:srgbClr val="5A6577"/>
                </a:solidFill>
                <a:latin typeface="Segoe UI" pitchFamily="34" charset="0"/>
                <a:ea typeface="Segoe UI" pitchFamily="34" charset="-122"/>
                <a:cs typeface="Segoe UI" pitchFamily="34" charset="-120"/>
              </a:rPr>
              <a:t>storm-6269dbe2d00053.my.site.com/consumer/s/join</a:t>
            </a:r>
            <a:endParaRPr lang="en-US" sz="700" dirty="0"/>
          </a:p>
        </p:txBody>
      </p:sp>
      <p:pic>
        <p:nvPicPr>
          <p:cNvPr id="9" name="Screenshot 04-step1-eligible.jpg" descr="Family or household member of Lauren Bailey">    </p:cNvPr>
          <p:cNvPicPr>
            <a:picLocks noChangeAspect="1"/>
          </p:cNvPicPr>
          <p:nvPr/>
        </p:nvPicPr>
        <p:blipFill>
          <a:blip r:embed="rId1"/>
          <a:stretch>
            <a:fillRect/>
          </a:stretch>
        </p:blipFill>
        <p:spPr>
          <a:xfrm>
            <a:off x="411480" y="594360"/>
            <a:ext cx="4244151" cy="4069080"/>
          </a:xfrm>
          <a:prstGeom prst="rect">
            <a:avLst/>
          </a:prstGeom>
        </p:spPr>
      </p:pic>
      <p:sp>
        <p:nvSpPr>
          <p:cNvPr id="10" name="Text 7"/>
          <p:cNvSpPr txBox="1"/>
          <p:nvPr/>
        </p:nvSpPr>
        <p:spPr>
          <a:xfrm>
            <a:off x="5067111" y="502920"/>
            <a:ext cx="3665409"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2 · JOIN AND APPLY</a:t>
            </a:r>
            <a:endParaRPr lang="en-US" sz="900" dirty="0"/>
          </a:p>
        </p:txBody>
      </p:sp>
      <p:sp>
        <p:nvSpPr>
          <p:cNvPr id="11" name="Text 8"/>
          <p:cNvSpPr txBox="1"/>
          <p:nvPr/>
        </p:nvSpPr>
        <p:spPr>
          <a:xfrm>
            <a:off x="5067111" y="777240"/>
            <a:ext cx="3665409" cy="1143000"/>
          </a:xfrm>
          <a:prstGeom prst="rect">
            <a:avLst/>
          </a:prstGeom>
          <a:noFill/>
          <a:ln/>
        </p:spPr>
        <p:txBody>
          <a:bodyPr wrap="square" lIns="0" tIns="0" rIns="0" bIns="0" rtlCol="0" anchor="t">
            <a:normAutofit/>
          </a:bodyPr>
          <a:lstStyle/>
          <a:p>
            <a:pPr indent="0" marL="0">
              <a:buNone/>
            </a:pPr>
            <a:r>
              <a:rPr lang="en-US" sz="2400" dirty="0">
                <a:solidFill>
                  <a:srgbClr val="043370"/>
                </a:solidFill>
                <a:latin typeface="Segoe UI Semibold" pitchFamily="34" charset="0"/>
                <a:ea typeface="Segoe UI Semibold" pitchFamily="34" charset="-122"/>
                <a:cs typeface="Segoe UI Semibold" pitchFamily="34" charset="-120"/>
              </a:rPr>
              <a:t>Household eligibility grows membership</a:t>
            </a:r>
            <a:endParaRPr lang="en-US" sz="2400" dirty="0"/>
          </a:p>
        </p:txBody>
      </p:sp>
      <p:sp>
        <p:nvSpPr>
          <p:cNvPr id="12" name="Text 9"/>
          <p:cNvSpPr txBox="1"/>
          <p:nvPr/>
        </p:nvSpPr>
        <p:spPr>
          <a:xfrm>
            <a:off x="5067111" y="1920240"/>
            <a:ext cx="3665409" cy="365760"/>
          </a:xfrm>
          <a:prstGeom prst="rect">
            <a:avLst/>
          </a:prstGeom>
          <a:noFill/>
          <a:ln/>
        </p:spPr>
        <p:txBody>
          <a:bodyPr wrap="square" lIns="0" tIns="0" rIns="0" bIns="0" rtlCol="0" anchor="t"/>
          <a:lstStyle/>
          <a:p>
            <a:pPr indent="0" marL="0">
              <a:buNone/>
            </a:pPr>
            <a:r>
              <a:rPr lang="en-US" sz="1100" i="1" dirty="0">
                <a:solidFill>
                  <a:srgbClr val="5A6577"/>
                </a:solidFill>
                <a:latin typeface="Segoe UI" pitchFamily="34" charset="0"/>
                <a:ea typeface="Segoe UI" pitchFamily="34" charset="-122"/>
                <a:cs typeface="Segoe UI" pitchFamily="34" charset="-120"/>
              </a:rPr>
              <a:t>Family or household member of Lauren Bailey</a:t>
            </a:r>
            <a:endParaRPr lang="en-US" sz="1100" dirty="0"/>
          </a:p>
        </p:txBody>
      </p:sp>
      <p:sp>
        <p:nvSpPr>
          <p:cNvPr id="13" name="Point 1"/>
          <p:cNvSpPr/>
          <p:nvPr/>
        </p:nvSpPr>
        <p:spPr>
          <a:xfrm>
            <a:off x="5067111" y="2377440"/>
            <a:ext cx="329184" cy="329184"/>
          </a:xfrm>
          <a:prstGeom prst="roundRect">
            <a:avLst>
              <a:gd name="adj" fmla="val 22222"/>
            </a:avLst>
          </a:prstGeom>
          <a:solidFill>
            <a:srgbClr val="ED780F"/>
          </a:solidFill>
          <a:ln w="12700">
            <a:solidFill>
              <a:srgbClr val="ED780F"/>
            </a:solidFill>
            <a:prstDash val="solid"/>
          </a:ln>
        </p:spPr>
      </p:sp>
      <p:sp>
        <p:nvSpPr>
          <p:cNvPr id="14" name="Text 11"/>
          <p:cNvSpPr txBox="1"/>
          <p:nvPr/>
        </p:nvSpPr>
        <p:spPr>
          <a:xfrm>
            <a:off x="5067111" y="237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15" name="Text 12"/>
          <p:cNvSpPr txBox="1"/>
          <p:nvPr/>
        </p:nvSpPr>
        <p:spPr>
          <a:xfrm>
            <a:off x="5542599" y="235915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Ethan qualifies through Lauren Bailey</a:t>
            </a:r>
            <a:endParaRPr lang="en-US" sz="1300" dirty="0"/>
          </a:p>
        </p:txBody>
      </p:sp>
      <p:sp>
        <p:nvSpPr>
          <p:cNvPr id="16" name="Point 2"/>
          <p:cNvSpPr/>
          <p:nvPr/>
        </p:nvSpPr>
        <p:spPr>
          <a:xfrm>
            <a:off x="5067111" y="3108960"/>
            <a:ext cx="329184" cy="329184"/>
          </a:xfrm>
          <a:prstGeom prst="roundRect">
            <a:avLst>
              <a:gd name="adj" fmla="val 22222"/>
            </a:avLst>
          </a:prstGeom>
          <a:solidFill>
            <a:srgbClr val="ED780F"/>
          </a:solidFill>
          <a:ln w="12700">
            <a:solidFill>
              <a:srgbClr val="ED780F"/>
            </a:solidFill>
            <a:prstDash val="solid"/>
          </a:ln>
        </p:spPr>
      </p:sp>
      <p:sp>
        <p:nvSpPr>
          <p:cNvPr id="17" name="Text 14"/>
          <p:cNvSpPr txBox="1"/>
          <p:nvPr/>
        </p:nvSpPr>
        <p:spPr>
          <a:xfrm>
            <a:off x="5067111" y="3108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8" name="Text 15"/>
          <p:cNvSpPr txBox="1"/>
          <p:nvPr/>
        </p:nvSpPr>
        <p:spPr>
          <a:xfrm>
            <a:off x="5542599" y="309067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Confirmed on the spot: “You’re eligible to join”</a:t>
            </a:r>
            <a:endParaRPr lang="en-US" sz="1300" dirty="0"/>
          </a:p>
        </p:txBody>
      </p:sp>
      <p:sp>
        <p:nvSpPr>
          <p:cNvPr id="19" name="Point 3"/>
          <p:cNvSpPr/>
          <p:nvPr/>
        </p:nvSpPr>
        <p:spPr>
          <a:xfrm>
            <a:off x="5067111" y="3840480"/>
            <a:ext cx="329184" cy="329184"/>
          </a:xfrm>
          <a:prstGeom prst="roundRect">
            <a:avLst>
              <a:gd name="adj" fmla="val 22222"/>
            </a:avLst>
          </a:prstGeom>
          <a:solidFill>
            <a:srgbClr val="ED780F"/>
          </a:solidFill>
          <a:ln w="12700">
            <a:solidFill>
              <a:srgbClr val="ED780F"/>
            </a:solidFill>
            <a:prstDash val="solid"/>
          </a:ln>
        </p:spPr>
      </p:sp>
      <p:sp>
        <p:nvSpPr>
          <p:cNvPr id="20" name="Text 17"/>
          <p:cNvSpPr txBox="1"/>
          <p:nvPr/>
        </p:nvSpPr>
        <p:spPr>
          <a:xfrm>
            <a:off x="5067111" y="38404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1" name="Text 18"/>
          <p:cNvSpPr txBox="1"/>
          <p:nvPr/>
        </p:nvSpPr>
        <p:spPr>
          <a:xfrm>
            <a:off x="5542599" y="382219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Existing members become the path to new ones</a:t>
            </a:r>
            <a:endParaRPr lang="en-US" sz="13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rowser frame"/>
          <p:cNvSpPr/>
          <p:nvPr/>
        </p:nvSpPr>
        <p:spPr>
          <a:xfrm>
            <a:off x="411480" y="320040"/>
            <a:ext cx="4244151" cy="4343400"/>
          </a:xfrm>
          <a:prstGeom prst="roundRect">
            <a:avLst>
              <a:gd name="adj" fmla="val 2585"/>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3" name="Browser bar"/>
          <p:cNvSpPr/>
          <p:nvPr/>
        </p:nvSpPr>
        <p:spPr>
          <a:xfrm>
            <a:off x="429768" y="338328"/>
            <a:ext cx="4207575" cy="256032"/>
          </a:xfrm>
          <a:prstGeom prst="rect">
            <a:avLst/>
          </a:prstGeom>
          <a:solidFill>
            <a:srgbClr val="EAF0F8"/>
          </a:solidFill>
          <a:ln w="12700">
            <a:solidFill>
              <a:srgbClr val="EAF0F8"/>
            </a:solidFill>
            <a:prstDash val="solid"/>
          </a:ln>
        </p:spPr>
      </p:sp>
      <p:sp>
        <p:nvSpPr>
          <p:cNvPr id="4" name="Browser dot 1"/>
          <p:cNvSpPr/>
          <p:nvPr/>
        </p:nvSpPr>
        <p:spPr>
          <a:xfrm>
            <a:off x="521208" y="411480"/>
            <a:ext cx="82296" cy="82296"/>
          </a:xfrm>
          <a:prstGeom prst="ellipse">
            <a:avLst/>
          </a:prstGeom>
          <a:solidFill>
            <a:srgbClr val="E46A5E"/>
          </a:solidFill>
          <a:ln w="12700">
            <a:solidFill>
              <a:srgbClr val="E46A5E"/>
            </a:solidFill>
            <a:prstDash val="solid"/>
          </a:ln>
        </p:spPr>
      </p:sp>
      <p:sp>
        <p:nvSpPr>
          <p:cNvPr id="5" name="Browser dot 2"/>
          <p:cNvSpPr/>
          <p:nvPr/>
        </p:nvSpPr>
        <p:spPr>
          <a:xfrm>
            <a:off x="649224" y="411480"/>
            <a:ext cx="82296" cy="82296"/>
          </a:xfrm>
          <a:prstGeom prst="ellipse">
            <a:avLst/>
          </a:prstGeom>
          <a:solidFill>
            <a:srgbClr val="F2B84B"/>
          </a:solidFill>
          <a:ln w="12700">
            <a:solidFill>
              <a:srgbClr val="F2B84B"/>
            </a:solidFill>
            <a:prstDash val="solid"/>
          </a:ln>
        </p:spPr>
      </p:sp>
      <p:sp>
        <p:nvSpPr>
          <p:cNvPr id="6" name="Browser dot 3"/>
          <p:cNvSpPr/>
          <p:nvPr/>
        </p:nvSpPr>
        <p:spPr>
          <a:xfrm>
            <a:off x="777240" y="411480"/>
            <a:ext cx="82296" cy="82296"/>
          </a:xfrm>
          <a:prstGeom prst="ellipse">
            <a:avLst/>
          </a:prstGeom>
          <a:solidFill>
            <a:srgbClr val="5DBB63"/>
          </a:solidFill>
          <a:ln w="12700">
            <a:solidFill>
              <a:srgbClr val="5DBB63"/>
            </a:solidFill>
            <a:prstDash val="solid"/>
          </a:ln>
        </p:spPr>
      </p:sp>
      <p:sp>
        <p:nvSpPr>
          <p:cNvPr id="7" name="Address bar"/>
          <p:cNvSpPr/>
          <p:nvPr/>
        </p:nvSpPr>
        <p:spPr>
          <a:xfrm>
            <a:off x="960120" y="374904"/>
            <a:ext cx="3291840" cy="164592"/>
          </a:xfrm>
          <a:prstGeom prst="roundRect">
            <a:avLst>
              <a:gd name="adj" fmla="val 50000"/>
            </a:avLst>
          </a:prstGeom>
          <a:solidFill>
            <a:srgbClr val="FFFFFF"/>
          </a:solidFill>
          <a:ln w="6350">
            <a:solidFill>
              <a:srgbClr val="D6DFEB"/>
            </a:solidFill>
            <a:prstDash val="solid"/>
          </a:ln>
        </p:spPr>
      </p:sp>
      <p:sp>
        <p:nvSpPr>
          <p:cNvPr id="8" name="Text 6"/>
          <p:cNvSpPr txBox="1"/>
          <p:nvPr/>
        </p:nvSpPr>
        <p:spPr>
          <a:xfrm>
            <a:off x="1051560" y="374904"/>
            <a:ext cx="3154680" cy="164592"/>
          </a:xfrm>
          <a:prstGeom prst="rect">
            <a:avLst/>
          </a:prstGeom>
          <a:noFill/>
          <a:ln/>
        </p:spPr>
        <p:txBody>
          <a:bodyPr wrap="square" lIns="0" tIns="0" rIns="0" bIns="0" rtlCol="0" anchor="ctr"/>
          <a:lstStyle/>
          <a:p>
            <a:pPr indent="0" marL="0">
              <a:buNone/>
            </a:pPr>
            <a:r>
              <a:rPr lang="en-US" sz="700" dirty="0">
                <a:solidFill>
                  <a:srgbClr val="5A6577"/>
                </a:solidFill>
                <a:latin typeface="Segoe UI" pitchFamily="34" charset="0"/>
                <a:ea typeface="Segoe UI" pitchFamily="34" charset="-122"/>
                <a:cs typeface="Segoe UI" pitchFamily="34" charset="-120"/>
              </a:rPr>
              <a:t>storm-6269dbe2d00053.my.site.com/consumer/s/join</a:t>
            </a:r>
            <a:endParaRPr lang="en-US" sz="700" dirty="0"/>
          </a:p>
        </p:txBody>
      </p:sp>
      <p:pic>
        <p:nvPicPr>
          <p:cNvPr id="9" name="Screenshot 05-step2-about.jpg" descr="Step 2 of 5: About you">    </p:cNvPr>
          <p:cNvPicPr>
            <a:picLocks noChangeAspect="1"/>
          </p:cNvPicPr>
          <p:nvPr/>
        </p:nvPicPr>
        <p:blipFill>
          <a:blip r:embed="rId1"/>
          <a:stretch>
            <a:fillRect/>
          </a:stretch>
        </p:blipFill>
        <p:spPr>
          <a:xfrm>
            <a:off x="411480" y="594360"/>
            <a:ext cx="4244151" cy="4069080"/>
          </a:xfrm>
          <a:prstGeom prst="rect">
            <a:avLst/>
          </a:prstGeom>
        </p:spPr>
      </p:pic>
      <p:sp>
        <p:nvSpPr>
          <p:cNvPr id="10" name="Text 7"/>
          <p:cNvSpPr txBox="1"/>
          <p:nvPr/>
        </p:nvSpPr>
        <p:spPr>
          <a:xfrm>
            <a:off x="5067111" y="502920"/>
            <a:ext cx="3665409"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2 · JOIN AND APPLY</a:t>
            </a:r>
            <a:endParaRPr lang="en-US" sz="900" dirty="0"/>
          </a:p>
        </p:txBody>
      </p:sp>
      <p:sp>
        <p:nvSpPr>
          <p:cNvPr id="11" name="Text 8"/>
          <p:cNvSpPr txBox="1"/>
          <p:nvPr/>
        </p:nvSpPr>
        <p:spPr>
          <a:xfrm>
            <a:off x="5067111" y="777240"/>
            <a:ext cx="3665409" cy="1143000"/>
          </a:xfrm>
          <a:prstGeom prst="rect">
            <a:avLst/>
          </a:prstGeom>
          <a:noFill/>
          <a:ln/>
        </p:spPr>
        <p:txBody>
          <a:bodyPr wrap="square" lIns="0" tIns="0" rIns="0" bIns="0" rtlCol="0" anchor="t">
            <a:normAutofit/>
          </a:bodyPr>
          <a:lstStyle/>
          <a:p>
            <a:pPr indent="0" marL="0">
              <a:buNone/>
            </a:pPr>
            <a:r>
              <a:rPr lang="en-US" sz="2400" dirty="0">
                <a:solidFill>
                  <a:srgbClr val="043370"/>
                </a:solidFill>
                <a:latin typeface="Segoe UI Semibold" pitchFamily="34" charset="0"/>
                <a:ea typeface="Segoe UI Semibold" pitchFamily="34" charset="-122"/>
                <a:cs typeface="Segoe UI Semibold" pitchFamily="34" charset="-120"/>
              </a:rPr>
              <a:t>About you, captured once</a:t>
            </a:r>
            <a:endParaRPr lang="en-US" sz="2400" dirty="0"/>
          </a:p>
        </p:txBody>
      </p:sp>
      <p:sp>
        <p:nvSpPr>
          <p:cNvPr id="12" name="Text 9"/>
          <p:cNvSpPr txBox="1"/>
          <p:nvPr/>
        </p:nvSpPr>
        <p:spPr>
          <a:xfrm>
            <a:off x="5067111" y="1920240"/>
            <a:ext cx="3665409" cy="365760"/>
          </a:xfrm>
          <a:prstGeom prst="rect">
            <a:avLst/>
          </a:prstGeom>
          <a:noFill/>
          <a:ln/>
        </p:spPr>
        <p:txBody>
          <a:bodyPr wrap="square" lIns="0" tIns="0" rIns="0" bIns="0" rtlCol="0" anchor="t"/>
          <a:lstStyle/>
          <a:p>
            <a:pPr indent="0" marL="0">
              <a:buNone/>
            </a:pPr>
            <a:r>
              <a:rPr lang="en-US" sz="1100" i="1" dirty="0">
                <a:solidFill>
                  <a:srgbClr val="5A6577"/>
                </a:solidFill>
                <a:latin typeface="Segoe UI" pitchFamily="34" charset="0"/>
                <a:ea typeface="Segoe UI" pitchFamily="34" charset="-122"/>
                <a:cs typeface="Segoe UI" pitchFamily="34" charset="-120"/>
              </a:rPr>
              <a:t>Step 2 of 5: About you</a:t>
            </a:r>
            <a:endParaRPr lang="en-US" sz="1100" dirty="0"/>
          </a:p>
        </p:txBody>
      </p:sp>
      <p:sp>
        <p:nvSpPr>
          <p:cNvPr id="13" name="Point 1"/>
          <p:cNvSpPr/>
          <p:nvPr/>
        </p:nvSpPr>
        <p:spPr>
          <a:xfrm>
            <a:off x="5067111" y="2377440"/>
            <a:ext cx="329184" cy="329184"/>
          </a:xfrm>
          <a:prstGeom prst="roundRect">
            <a:avLst>
              <a:gd name="adj" fmla="val 22222"/>
            </a:avLst>
          </a:prstGeom>
          <a:solidFill>
            <a:srgbClr val="ED780F"/>
          </a:solidFill>
          <a:ln w="12700">
            <a:solidFill>
              <a:srgbClr val="ED780F"/>
            </a:solidFill>
            <a:prstDash val="solid"/>
          </a:ln>
        </p:spPr>
      </p:sp>
      <p:sp>
        <p:nvSpPr>
          <p:cNvPr id="14" name="Text 11"/>
          <p:cNvSpPr txBox="1"/>
          <p:nvPr/>
        </p:nvSpPr>
        <p:spPr>
          <a:xfrm>
            <a:off x="5067111" y="237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15" name="Text 12"/>
          <p:cNvSpPr txBox="1"/>
          <p:nvPr/>
        </p:nvSpPr>
        <p:spPr>
          <a:xfrm>
            <a:off x="5542599" y="235915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Name, contact, date of birth, address, citizenship</a:t>
            </a:r>
            <a:endParaRPr lang="en-US" sz="1300" dirty="0"/>
          </a:p>
        </p:txBody>
      </p:sp>
      <p:sp>
        <p:nvSpPr>
          <p:cNvPr id="16" name="Point 2"/>
          <p:cNvSpPr/>
          <p:nvPr/>
        </p:nvSpPr>
        <p:spPr>
          <a:xfrm>
            <a:off x="5067111" y="3108960"/>
            <a:ext cx="329184" cy="329184"/>
          </a:xfrm>
          <a:prstGeom prst="roundRect">
            <a:avLst>
              <a:gd name="adj" fmla="val 22222"/>
            </a:avLst>
          </a:prstGeom>
          <a:solidFill>
            <a:srgbClr val="ED780F"/>
          </a:solidFill>
          <a:ln w="12700">
            <a:solidFill>
              <a:srgbClr val="ED780F"/>
            </a:solidFill>
            <a:prstDash val="solid"/>
          </a:ln>
        </p:spPr>
      </p:sp>
      <p:sp>
        <p:nvSpPr>
          <p:cNvPr id="17" name="Text 14"/>
          <p:cNvSpPr txBox="1"/>
          <p:nvPr/>
        </p:nvSpPr>
        <p:spPr>
          <a:xfrm>
            <a:off x="5067111" y="3108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8" name="Text 15"/>
          <p:cNvSpPr txBox="1"/>
          <p:nvPr/>
        </p:nvSpPr>
        <p:spPr>
          <a:xfrm>
            <a:off x="5542599" y="309067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SSN masked on screen and stored encrypted</a:t>
            </a:r>
            <a:endParaRPr lang="en-US" sz="1300" dirty="0"/>
          </a:p>
        </p:txBody>
      </p:sp>
      <p:sp>
        <p:nvSpPr>
          <p:cNvPr id="19" name="Point 3"/>
          <p:cNvSpPr/>
          <p:nvPr/>
        </p:nvSpPr>
        <p:spPr>
          <a:xfrm>
            <a:off x="5067111" y="3840480"/>
            <a:ext cx="329184" cy="329184"/>
          </a:xfrm>
          <a:prstGeom prst="roundRect">
            <a:avLst>
              <a:gd name="adj" fmla="val 22222"/>
            </a:avLst>
          </a:prstGeom>
          <a:solidFill>
            <a:srgbClr val="ED780F"/>
          </a:solidFill>
          <a:ln w="12700">
            <a:solidFill>
              <a:srgbClr val="ED780F"/>
            </a:solidFill>
            <a:prstDash val="solid"/>
          </a:ln>
        </p:spPr>
      </p:sp>
      <p:sp>
        <p:nvSpPr>
          <p:cNvPr id="20" name="Text 17"/>
          <p:cNvSpPr txBox="1"/>
          <p:nvPr/>
        </p:nvSpPr>
        <p:spPr>
          <a:xfrm>
            <a:off x="5067111" y="38404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1" name="Text 18"/>
          <p:cNvSpPr txBox="1"/>
          <p:nvPr/>
        </p:nvSpPr>
        <p:spPr>
          <a:xfrm>
            <a:off x="5542599" y="382219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Becomes the member record and the application</a:t>
            </a:r>
            <a:endParaRPr lang="en-US" sz="13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rowser frame"/>
          <p:cNvSpPr/>
          <p:nvPr/>
        </p:nvSpPr>
        <p:spPr>
          <a:xfrm>
            <a:off x="411480" y="320040"/>
            <a:ext cx="4244151" cy="4343400"/>
          </a:xfrm>
          <a:prstGeom prst="roundRect">
            <a:avLst>
              <a:gd name="adj" fmla="val 2585"/>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3" name="Browser bar"/>
          <p:cNvSpPr/>
          <p:nvPr/>
        </p:nvSpPr>
        <p:spPr>
          <a:xfrm>
            <a:off x="429768" y="338328"/>
            <a:ext cx="4207575" cy="256032"/>
          </a:xfrm>
          <a:prstGeom prst="rect">
            <a:avLst/>
          </a:prstGeom>
          <a:solidFill>
            <a:srgbClr val="EAF0F8"/>
          </a:solidFill>
          <a:ln w="12700">
            <a:solidFill>
              <a:srgbClr val="EAF0F8"/>
            </a:solidFill>
            <a:prstDash val="solid"/>
          </a:ln>
        </p:spPr>
      </p:sp>
      <p:sp>
        <p:nvSpPr>
          <p:cNvPr id="4" name="Browser dot 1"/>
          <p:cNvSpPr/>
          <p:nvPr/>
        </p:nvSpPr>
        <p:spPr>
          <a:xfrm>
            <a:off x="521208" y="411480"/>
            <a:ext cx="82296" cy="82296"/>
          </a:xfrm>
          <a:prstGeom prst="ellipse">
            <a:avLst/>
          </a:prstGeom>
          <a:solidFill>
            <a:srgbClr val="E46A5E"/>
          </a:solidFill>
          <a:ln w="12700">
            <a:solidFill>
              <a:srgbClr val="E46A5E"/>
            </a:solidFill>
            <a:prstDash val="solid"/>
          </a:ln>
        </p:spPr>
      </p:sp>
      <p:sp>
        <p:nvSpPr>
          <p:cNvPr id="5" name="Browser dot 2"/>
          <p:cNvSpPr/>
          <p:nvPr/>
        </p:nvSpPr>
        <p:spPr>
          <a:xfrm>
            <a:off x="649224" y="411480"/>
            <a:ext cx="82296" cy="82296"/>
          </a:xfrm>
          <a:prstGeom prst="ellipse">
            <a:avLst/>
          </a:prstGeom>
          <a:solidFill>
            <a:srgbClr val="F2B84B"/>
          </a:solidFill>
          <a:ln w="12700">
            <a:solidFill>
              <a:srgbClr val="F2B84B"/>
            </a:solidFill>
            <a:prstDash val="solid"/>
          </a:ln>
        </p:spPr>
      </p:sp>
      <p:sp>
        <p:nvSpPr>
          <p:cNvPr id="6" name="Browser dot 3"/>
          <p:cNvSpPr/>
          <p:nvPr/>
        </p:nvSpPr>
        <p:spPr>
          <a:xfrm>
            <a:off x="777240" y="411480"/>
            <a:ext cx="82296" cy="82296"/>
          </a:xfrm>
          <a:prstGeom prst="ellipse">
            <a:avLst/>
          </a:prstGeom>
          <a:solidFill>
            <a:srgbClr val="5DBB63"/>
          </a:solidFill>
          <a:ln w="12700">
            <a:solidFill>
              <a:srgbClr val="5DBB63"/>
            </a:solidFill>
            <a:prstDash val="solid"/>
          </a:ln>
        </p:spPr>
      </p:sp>
      <p:sp>
        <p:nvSpPr>
          <p:cNvPr id="7" name="Address bar"/>
          <p:cNvSpPr/>
          <p:nvPr/>
        </p:nvSpPr>
        <p:spPr>
          <a:xfrm>
            <a:off x="960120" y="374904"/>
            <a:ext cx="3291840" cy="164592"/>
          </a:xfrm>
          <a:prstGeom prst="roundRect">
            <a:avLst>
              <a:gd name="adj" fmla="val 50000"/>
            </a:avLst>
          </a:prstGeom>
          <a:solidFill>
            <a:srgbClr val="FFFFFF"/>
          </a:solidFill>
          <a:ln w="6350">
            <a:solidFill>
              <a:srgbClr val="D6DFEB"/>
            </a:solidFill>
            <a:prstDash val="solid"/>
          </a:ln>
        </p:spPr>
      </p:sp>
      <p:sp>
        <p:nvSpPr>
          <p:cNvPr id="8" name="Text 6"/>
          <p:cNvSpPr txBox="1"/>
          <p:nvPr/>
        </p:nvSpPr>
        <p:spPr>
          <a:xfrm>
            <a:off x="1051560" y="374904"/>
            <a:ext cx="3154680" cy="164592"/>
          </a:xfrm>
          <a:prstGeom prst="rect">
            <a:avLst/>
          </a:prstGeom>
          <a:noFill/>
          <a:ln/>
        </p:spPr>
        <p:txBody>
          <a:bodyPr wrap="square" lIns="0" tIns="0" rIns="0" bIns="0" rtlCol="0" anchor="ctr"/>
          <a:lstStyle/>
          <a:p>
            <a:pPr indent="0" marL="0">
              <a:buNone/>
            </a:pPr>
            <a:r>
              <a:rPr lang="en-US" sz="700" dirty="0">
                <a:solidFill>
                  <a:srgbClr val="5A6577"/>
                </a:solidFill>
                <a:latin typeface="Segoe UI" pitchFamily="34" charset="0"/>
                <a:ea typeface="Segoe UI" pitchFamily="34" charset="-122"/>
                <a:cs typeface="Segoe UI" pitchFamily="34" charset="-120"/>
              </a:rPr>
              <a:t>storm-6269dbe2d00053.my.site.com/consumer/s/join</a:t>
            </a:r>
            <a:endParaRPr lang="en-US" sz="700" dirty="0"/>
          </a:p>
        </p:txBody>
      </p:sp>
      <p:pic>
        <p:nvPicPr>
          <p:cNvPr id="9" name="Screenshot 06-step3-documents.jpg" descr="Step 3 of 5: Documents">    </p:cNvPr>
          <p:cNvPicPr>
            <a:picLocks noChangeAspect="1"/>
          </p:cNvPicPr>
          <p:nvPr/>
        </p:nvPicPr>
        <p:blipFill>
          <a:blip r:embed="rId1"/>
          <a:stretch>
            <a:fillRect/>
          </a:stretch>
        </p:blipFill>
        <p:spPr>
          <a:xfrm>
            <a:off x="411480" y="594360"/>
            <a:ext cx="4244151" cy="4069080"/>
          </a:xfrm>
          <a:prstGeom prst="rect">
            <a:avLst/>
          </a:prstGeom>
        </p:spPr>
      </p:pic>
      <p:sp>
        <p:nvSpPr>
          <p:cNvPr id="10" name="Text 7"/>
          <p:cNvSpPr txBox="1"/>
          <p:nvPr/>
        </p:nvSpPr>
        <p:spPr>
          <a:xfrm>
            <a:off x="5067111" y="502920"/>
            <a:ext cx="3665409"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2 · JOIN AND APPLY</a:t>
            </a:r>
            <a:endParaRPr lang="en-US" sz="900" dirty="0"/>
          </a:p>
        </p:txBody>
      </p:sp>
      <p:sp>
        <p:nvSpPr>
          <p:cNvPr id="11" name="Text 8"/>
          <p:cNvSpPr txBox="1"/>
          <p:nvPr/>
        </p:nvSpPr>
        <p:spPr>
          <a:xfrm>
            <a:off x="5067111" y="777240"/>
            <a:ext cx="3665409" cy="1143000"/>
          </a:xfrm>
          <a:prstGeom prst="rect">
            <a:avLst/>
          </a:prstGeom>
          <a:noFill/>
          <a:ln/>
        </p:spPr>
        <p:txBody>
          <a:bodyPr wrap="square" lIns="0" tIns="0" rIns="0" bIns="0" rtlCol="0" anchor="t">
            <a:normAutofit/>
          </a:bodyPr>
          <a:lstStyle/>
          <a:p>
            <a:pPr indent="0" marL="0">
              <a:buNone/>
            </a:pPr>
            <a:r>
              <a:rPr lang="en-US" sz="2400" dirty="0">
                <a:solidFill>
                  <a:srgbClr val="043370"/>
                </a:solidFill>
                <a:latin typeface="Segoe UI Semibold" pitchFamily="34" charset="0"/>
                <a:ea typeface="Segoe UI Semibold" pitchFamily="34" charset="-122"/>
                <a:cs typeface="Segoe UI Semibold" pitchFamily="34" charset="-120"/>
              </a:rPr>
              <a:t>Documents up front, not by email later</a:t>
            </a:r>
            <a:endParaRPr lang="en-US" sz="2400" dirty="0"/>
          </a:p>
        </p:txBody>
      </p:sp>
      <p:sp>
        <p:nvSpPr>
          <p:cNvPr id="12" name="Text 9"/>
          <p:cNvSpPr txBox="1"/>
          <p:nvPr/>
        </p:nvSpPr>
        <p:spPr>
          <a:xfrm>
            <a:off x="5067111" y="1920240"/>
            <a:ext cx="3665409" cy="365760"/>
          </a:xfrm>
          <a:prstGeom prst="rect">
            <a:avLst/>
          </a:prstGeom>
          <a:noFill/>
          <a:ln/>
        </p:spPr>
        <p:txBody>
          <a:bodyPr wrap="square" lIns="0" tIns="0" rIns="0" bIns="0" rtlCol="0" anchor="t"/>
          <a:lstStyle/>
          <a:p>
            <a:pPr indent="0" marL="0">
              <a:buNone/>
            </a:pPr>
            <a:r>
              <a:rPr lang="en-US" sz="1100" i="1" dirty="0">
                <a:solidFill>
                  <a:srgbClr val="5A6577"/>
                </a:solidFill>
                <a:latin typeface="Segoe UI" pitchFamily="34" charset="0"/>
                <a:ea typeface="Segoe UI" pitchFamily="34" charset="-122"/>
                <a:cs typeface="Segoe UI" pitchFamily="34" charset="-120"/>
              </a:rPr>
              <a:t>Step 3 of 5: Documents</a:t>
            </a:r>
            <a:endParaRPr lang="en-US" sz="1100" dirty="0"/>
          </a:p>
        </p:txBody>
      </p:sp>
      <p:sp>
        <p:nvSpPr>
          <p:cNvPr id="13" name="Point 1"/>
          <p:cNvSpPr/>
          <p:nvPr/>
        </p:nvSpPr>
        <p:spPr>
          <a:xfrm>
            <a:off x="5067111" y="2377440"/>
            <a:ext cx="329184" cy="329184"/>
          </a:xfrm>
          <a:prstGeom prst="roundRect">
            <a:avLst>
              <a:gd name="adj" fmla="val 22222"/>
            </a:avLst>
          </a:prstGeom>
          <a:solidFill>
            <a:srgbClr val="ED780F"/>
          </a:solidFill>
          <a:ln w="12700">
            <a:solidFill>
              <a:srgbClr val="ED780F"/>
            </a:solidFill>
            <a:prstDash val="solid"/>
          </a:ln>
        </p:spPr>
      </p:sp>
      <p:sp>
        <p:nvSpPr>
          <p:cNvPr id="14" name="Text 11"/>
          <p:cNvSpPr txBox="1"/>
          <p:nvPr/>
        </p:nvSpPr>
        <p:spPr>
          <a:xfrm>
            <a:off x="5067111" y="237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15" name="Text 12"/>
          <p:cNvSpPr txBox="1"/>
          <p:nvPr/>
        </p:nvSpPr>
        <p:spPr>
          <a:xfrm>
            <a:off x="5542599" y="235915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Photo ID required, proof of eligibility recommended</a:t>
            </a:r>
            <a:endParaRPr lang="en-US" sz="1300" dirty="0"/>
          </a:p>
        </p:txBody>
      </p:sp>
      <p:sp>
        <p:nvSpPr>
          <p:cNvPr id="16" name="Point 2"/>
          <p:cNvSpPr/>
          <p:nvPr/>
        </p:nvSpPr>
        <p:spPr>
          <a:xfrm>
            <a:off x="5067111" y="3108960"/>
            <a:ext cx="329184" cy="329184"/>
          </a:xfrm>
          <a:prstGeom prst="roundRect">
            <a:avLst>
              <a:gd name="adj" fmla="val 22222"/>
            </a:avLst>
          </a:prstGeom>
          <a:solidFill>
            <a:srgbClr val="ED780F"/>
          </a:solidFill>
          <a:ln w="12700">
            <a:solidFill>
              <a:srgbClr val="ED780F"/>
            </a:solidFill>
            <a:prstDash val="solid"/>
          </a:ln>
        </p:spPr>
      </p:sp>
      <p:sp>
        <p:nvSpPr>
          <p:cNvPr id="17" name="Text 14"/>
          <p:cNvSpPr txBox="1"/>
          <p:nvPr/>
        </p:nvSpPr>
        <p:spPr>
          <a:xfrm>
            <a:off x="5067111" y="3108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8" name="Text 15"/>
          <p:cNvSpPr txBox="1"/>
          <p:nvPr/>
        </p:nvSpPr>
        <p:spPr>
          <a:xfrm>
            <a:off x="5542599" y="309067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Attached to the case automatically</a:t>
            </a:r>
            <a:endParaRPr lang="en-US" sz="1300" dirty="0"/>
          </a:p>
        </p:txBody>
      </p:sp>
      <p:sp>
        <p:nvSpPr>
          <p:cNvPr id="19" name="Point 3"/>
          <p:cNvSpPr/>
          <p:nvPr/>
        </p:nvSpPr>
        <p:spPr>
          <a:xfrm>
            <a:off x="5067111" y="3840480"/>
            <a:ext cx="329184" cy="329184"/>
          </a:xfrm>
          <a:prstGeom prst="roundRect">
            <a:avLst>
              <a:gd name="adj" fmla="val 22222"/>
            </a:avLst>
          </a:prstGeom>
          <a:solidFill>
            <a:srgbClr val="ED780F"/>
          </a:solidFill>
          <a:ln w="12700">
            <a:solidFill>
              <a:srgbClr val="ED780F"/>
            </a:solidFill>
            <a:prstDash val="solid"/>
          </a:ln>
        </p:spPr>
      </p:sp>
      <p:sp>
        <p:nvSpPr>
          <p:cNvPr id="20" name="Text 17"/>
          <p:cNvSpPr txBox="1"/>
          <p:nvPr/>
        </p:nvSpPr>
        <p:spPr>
          <a:xfrm>
            <a:off x="5067111" y="38404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1" name="Text 18"/>
          <p:cNvSpPr txBox="1"/>
          <p:nvPr/>
        </p:nvSpPr>
        <p:spPr>
          <a:xfrm>
            <a:off x="5542599" y="382219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The banker finds them without searching</a:t>
            </a:r>
            <a:endParaRPr lang="en-US" sz="13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Browser frame"/>
          <p:cNvSpPr/>
          <p:nvPr/>
        </p:nvSpPr>
        <p:spPr>
          <a:xfrm>
            <a:off x="411480" y="320040"/>
            <a:ext cx="4244151" cy="4343400"/>
          </a:xfrm>
          <a:prstGeom prst="roundRect">
            <a:avLst>
              <a:gd name="adj" fmla="val 2585"/>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3" name="Browser bar"/>
          <p:cNvSpPr/>
          <p:nvPr/>
        </p:nvSpPr>
        <p:spPr>
          <a:xfrm>
            <a:off x="429768" y="338328"/>
            <a:ext cx="4207575" cy="256032"/>
          </a:xfrm>
          <a:prstGeom prst="rect">
            <a:avLst/>
          </a:prstGeom>
          <a:solidFill>
            <a:srgbClr val="EAF0F8"/>
          </a:solidFill>
          <a:ln w="12700">
            <a:solidFill>
              <a:srgbClr val="EAF0F8"/>
            </a:solidFill>
            <a:prstDash val="solid"/>
          </a:ln>
        </p:spPr>
      </p:sp>
      <p:sp>
        <p:nvSpPr>
          <p:cNvPr id="4" name="Browser dot 1"/>
          <p:cNvSpPr/>
          <p:nvPr/>
        </p:nvSpPr>
        <p:spPr>
          <a:xfrm>
            <a:off x="521208" y="411480"/>
            <a:ext cx="82296" cy="82296"/>
          </a:xfrm>
          <a:prstGeom prst="ellipse">
            <a:avLst/>
          </a:prstGeom>
          <a:solidFill>
            <a:srgbClr val="E46A5E"/>
          </a:solidFill>
          <a:ln w="12700">
            <a:solidFill>
              <a:srgbClr val="E46A5E"/>
            </a:solidFill>
            <a:prstDash val="solid"/>
          </a:ln>
        </p:spPr>
      </p:sp>
      <p:sp>
        <p:nvSpPr>
          <p:cNvPr id="5" name="Browser dot 2"/>
          <p:cNvSpPr/>
          <p:nvPr/>
        </p:nvSpPr>
        <p:spPr>
          <a:xfrm>
            <a:off x="649224" y="411480"/>
            <a:ext cx="82296" cy="82296"/>
          </a:xfrm>
          <a:prstGeom prst="ellipse">
            <a:avLst/>
          </a:prstGeom>
          <a:solidFill>
            <a:srgbClr val="F2B84B"/>
          </a:solidFill>
          <a:ln w="12700">
            <a:solidFill>
              <a:srgbClr val="F2B84B"/>
            </a:solidFill>
            <a:prstDash val="solid"/>
          </a:ln>
        </p:spPr>
      </p:sp>
      <p:sp>
        <p:nvSpPr>
          <p:cNvPr id="6" name="Browser dot 3"/>
          <p:cNvSpPr/>
          <p:nvPr/>
        </p:nvSpPr>
        <p:spPr>
          <a:xfrm>
            <a:off x="777240" y="411480"/>
            <a:ext cx="82296" cy="82296"/>
          </a:xfrm>
          <a:prstGeom prst="ellipse">
            <a:avLst/>
          </a:prstGeom>
          <a:solidFill>
            <a:srgbClr val="5DBB63"/>
          </a:solidFill>
          <a:ln w="12700">
            <a:solidFill>
              <a:srgbClr val="5DBB63"/>
            </a:solidFill>
            <a:prstDash val="solid"/>
          </a:ln>
        </p:spPr>
      </p:sp>
      <p:sp>
        <p:nvSpPr>
          <p:cNvPr id="7" name="Address bar"/>
          <p:cNvSpPr/>
          <p:nvPr/>
        </p:nvSpPr>
        <p:spPr>
          <a:xfrm>
            <a:off x="960120" y="374904"/>
            <a:ext cx="3291840" cy="164592"/>
          </a:xfrm>
          <a:prstGeom prst="roundRect">
            <a:avLst>
              <a:gd name="adj" fmla="val 50000"/>
            </a:avLst>
          </a:prstGeom>
          <a:solidFill>
            <a:srgbClr val="FFFFFF"/>
          </a:solidFill>
          <a:ln w="6350">
            <a:solidFill>
              <a:srgbClr val="D6DFEB"/>
            </a:solidFill>
            <a:prstDash val="solid"/>
          </a:ln>
        </p:spPr>
      </p:sp>
      <p:sp>
        <p:nvSpPr>
          <p:cNvPr id="8" name="Text 6"/>
          <p:cNvSpPr txBox="1"/>
          <p:nvPr/>
        </p:nvSpPr>
        <p:spPr>
          <a:xfrm>
            <a:off x="1051560" y="374904"/>
            <a:ext cx="3154680" cy="164592"/>
          </a:xfrm>
          <a:prstGeom prst="rect">
            <a:avLst/>
          </a:prstGeom>
          <a:noFill/>
          <a:ln/>
        </p:spPr>
        <p:txBody>
          <a:bodyPr wrap="square" lIns="0" tIns="0" rIns="0" bIns="0" rtlCol="0" anchor="ctr"/>
          <a:lstStyle/>
          <a:p>
            <a:pPr indent="0" marL="0">
              <a:buNone/>
            </a:pPr>
            <a:r>
              <a:rPr lang="en-US" sz="700" dirty="0">
                <a:solidFill>
                  <a:srgbClr val="5A6577"/>
                </a:solidFill>
                <a:latin typeface="Segoe UI" pitchFamily="34" charset="0"/>
                <a:ea typeface="Segoe UI" pitchFamily="34" charset="-122"/>
                <a:cs typeface="Segoe UI" pitchFamily="34" charset="-120"/>
              </a:rPr>
              <a:t>storm-6269dbe2d00053.my.site.com/consumer/s/join</a:t>
            </a:r>
            <a:endParaRPr lang="en-US" sz="700" dirty="0"/>
          </a:p>
        </p:txBody>
      </p:sp>
      <p:pic>
        <p:nvPicPr>
          <p:cNvPr id="9" name="Screenshot 07-step4-product.jpg" descr="Step 4 of 5: Membership and product">    </p:cNvPr>
          <p:cNvPicPr>
            <a:picLocks noChangeAspect="1"/>
          </p:cNvPicPr>
          <p:nvPr/>
        </p:nvPicPr>
        <p:blipFill>
          <a:blip r:embed="rId1"/>
          <a:stretch>
            <a:fillRect/>
          </a:stretch>
        </p:blipFill>
        <p:spPr>
          <a:xfrm>
            <a:off x="411480" y="594360"/>
            <a:ext cx="4244151" cy="4069080"/>
          </a:xfrm>
          <a:prstGeom prst="rect">
            <a:avLst/>
          </a:prstGeom>
        </p:spPr>
      </p:pic>
      <p:sp>
        <p:nvSpPr>
          <p:cNvPr id="10" name="Text 7"/>
          <p:cNvSpPr txBox="1"/>
          <p:nvPr/>
        </p:nvSpPr>
        <p:spPr>
          <a:xfrm>
            <a:off x="5067111" y="502920"/>
            <a:ext cx="3665409"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2 · JOIN AND APPLY</a:t>
            </a:r>
            <a:endParaRPr lang="en-US" sz="900" dirty="0"/>
          </a:p>
        </p:txBody>
      </p:sp>
      <p:sp>
        <p:nvSpPr>
          <p:cNvPr id="11" name="Text 8"/>
          <p:cNvSpPr txBox="1"/>
          <p:nvPr/>
        </p:nvSpPr>
        <p:spPr>
          <a:xfrm>
            <a:off x="5067111" y="777240"/>
            <a:ext cx="3665409" cy="1143000"/>
          </a:xfrm>
          <a:prstGeom prst="rect">
            <a:avLst/>
          </a:prstGeom>
          <a:noFill/>
          <a:ln/>
        </p:spPr>
        <p:txBody>
          <a:bodyPr wrap="square" lIns="0" tIns="0" rIns="0" bIns="0" rtlCol="0" anchor="t">
            <a:normAutofit/>
          </a:bodyPr>
          <a:lstStyle/>
          <a:p>
            <a:pPr indent="0" marL="0">
              <a:buNone/>
            </a:pPr>
            <a:r>
              <a:rPr lang="en-US" sz="2400" dirty="0">
                <a:solidFill>
                  <a:srgbClr val="043370"/>
                </a:solidFill>
                <a:latin typeface="Segoe UI Semibold" pitchFamily="34" charset="0"/>
                <a:ea typeface="Segoe UI Semibold" pitchFamily="34" charset="-122"/>
                <a:cs typeface="Segoe UI Semibold" pitchFamily="34" charset="-120"/>
              </a:rPr>
              <a:t>Membership and checking, together</a:t>
            </a:r>
            <a:endParaRPr lang="en-US" sz="2400" dirty="0"/>
          </a:p>
        </p:txBody>
      </p:sp>
      <p:sp>
        <p:nvSpPr>
          <p:cNvPr id="12" name="Text 9"/>
          <p:cNvSpPr txBox="1"/>
          <p:nvPr/>
        </p:nvSpPr>
        <p:spPr>
          <a:xfrm>
            <a:off x="5067111" y="1920240"/>
            <a:ext cx="3665409" cy="365760"/>
          </a:xfrm>
          <a:prstGeom prst="rect">
            <a:avLst/>
          </a:prstGeom>
          <a:noFill/>
          <a:ln/>
        </p:spPr>
        <p:txBody>
          <a:bodyPr wrap="square" lIns="0" tIns="0" rIns="0" bIns="0" rtlCol="0" anchor="t"/>
          <a:lstStyle/>
          <a:p>
            <a:pPr indent="0" marL="0">
              <a:buNone/>
            </a:pPr>
            <a:r>
              <a:rPr lang="en-US" sz="1100" i="1" dirty="0">
                <a:solidFill>
                  <a:srgbClr val="5A6577"/>
                </a:solidFill>
                <a:latin typeface="Segoe UI" pitchFamily="34" charset="0"/>
                <a:ea typeface="Segoe UI" pitchFamily="34" charset="-122"/>
                <a:cs typeface="Segoe UI" pitchFamily="34" charset="-120"/>
              </a:rPr>
              <a:t>Step 4 of 5: Membership and product</a:t>
            </a:r>
            <a:endParaRPr lang="en-US" sz="1100" dirty="0"/>
          </a:p>
        </p:txBody>
      </p:sp>
      <p:sp>
        <p:nvSpPr>
          <p:cNvPr id="13" name="Point 1"/>
          <p:cNvSpPr/>
          <p:nvPr/>
        </p:nvSpPr>
        <p:spPr>
          <a:xfrm>
            <a:off x="5067111" y="2377440"/>
            <a:ext cx="329184" cy="329184"/>
          </a:xfrm>
          <a:prstGeom prst="roundRect">
            <a:avLst>
              <a:gd name="adj" fmla="val 22222"/>
            </a:avLst>
          </a:prstGeom>
          <a:solidFill>
            <a:srgbClr val="ED780F"/>
          </a:solidFill>
          <a:ln w="12700">
            <a:solidFill>
              <a:srgbClr val="ED780F"/>
            </a:solidFill>
            <a:prstDash val="solid"/>
          </a:ln>
        </p:spPr>
      </p:sp>
      <p:sp>
        <p:nvSpPr>
          <p:cNvPr id="14" name="Text 11"/>
          <p:cNvSpPr txBox="1"/>
          <p:nvPr/>
        </p:nvSpPr>
        <p:spPr>
          <a:xfrm>
            <a:off x="5067111" y="237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15" name="Text 12"/>
          <p:cNvSpPr txBox="1"/>
          <p:nvPr/>
        </p:nvSpPr>
        <p:spPr>
          <a:xfrm>
            <a:off x="5542599" y="235915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Membership Savings Account always included</a:t>
            </a:r>
            <a:endParaRPr lang="en-US" sz="1300" dirty="0"/>
          </a:p>
        </p:txBody>
      </p:sp>
      <p:sp>
        <p:nvSpPr>
          <p:cNvPr id="16" name="Point 2"/>
          <p:cNvSpPr/>
          <p:nvPr/>
        </p:nvSpPr>
        <p:spPr>
          <a:xfrm>
            <a:off x="5067111" y="3108960"/>
            <a:ext cx="329184" cy="329184"/>
          </a:xfrm>
          <a:prstGeom prst="roundRect">
            <a:avLst>
              <a:gd name="adj" fmla="val 22222"/>
            </a:avLst>
          </a:prstGeom>
          <a:solidFill>
            <a:srgbClr val="ED780F"/>
          </a:solidFill>
          <a:ln w="12700">
            <a:solidFill>
              <a:srgbClr val="ED780F"/>
            </a:solidFill>
            <a:prstDash val="solid"/>
          </a:ln>
        </p:spPr>
      </p:sp>
      <p:sp>
        <p:nvSpPr>
          <p:cNvPr id="17" name="Text 14"/>
          <p:cNvSpPr txBox="1"/>
          <p:nvPr/>
        </p:nvSpPr>
        <p:spPr>
          <a:xfrm>
            <a:off x="5067111" y="3108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8" name="Text 15"/>
          <p:cNvSpPr txBox="1"/>
          <p:nvPr/>
        </p:nvSpPr>
        <p:spPr>
          <a:xfrm>
            <a:off x="5542599" y="309067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Checking with a $250 opening deposit</a:t>
            </a:r>
            <a:endParaRPr lang="en-US" sz="1300" dirty="0"/>
          </a:p>
        </p:txBody>
      </p:sp>
      <p:sp>
        <p:nvSpPr>
          <p:cNvPr id="19" name="Point 3"/>
          <p:cNvSpPr/>
          <p:nvPr/>
        </p:nvSpPr>
        <p:spPr>
          <a:xfrm>
            <a:off x="5067111" y="3840480"/>
            <a:ext cx="329184" cy="329184"/>
          </a:xfrm>
          <a:prstGeom prst="roundRect">
            <a:avLst>
              <a:gd name="adj" fmla="val 22222"/>
            </a:avLst>
          </a:prstGeom>
          <a:solidFill>
            <a:srgbClr val="ED780F"/>
          </a:solidFill>
          <a:ln w="12700">
            <a:solidFill>
              <a:srgbClr val="ED780F"/>
            </a:solidFill>
            <a:prstDash val="solid"/>
          </a:ln>
        </p:spPr>
      </p:sp>
      <p:sp>
        <p:nvSpPr>
          <p:cNvPr id="20" name="Text 17"/>
          <p:cNvSpPr txBox="1"/>
          <p:nvPr/>
        </p:nvSpPr>
        <p:spPr>
          <a:xfrm>
            <a:off x="5067111" y="38404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1" name="Text 18"/>
          <p:cNvSpPr txBox="1"/>
          <p:nvPr/>
        </p:nvSpPr>
        <p:spPr>
          <a:xfrm>
            <a:off x="5542599" y="382219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Funding method captured for account opening</a:t>
            </a:r>
            <a:endParaRPr lang="en-US" sz="13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Browser frame"/>
          <p:cNvSpPr/>
          <p:nvPr/>
        </p:nvSpPr>
        <p:spPr>
          <a:xfrm>
            <a:off x="411480" y="320040"/>
            <a:ext cx="4244151" cy="4343400"/>
          </a:xfrm>
          <a:prstGeom prst="roundRect">
            <a:avLst>
              <a:gd name="adj" fmla="val 2585"/>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3" name="Browser bar"/>
          <p:cNvSpPr/>
          <p:nvPr/>
        </p:nvSpPr>
        <p:spPr>
          <a:xfrm>
            <a:off x="429768" y="338328"/>
            <a:ext cx="4207575" cy="256032"/>
          </a:xfrm>
          <a:prstGeom prst="rect">
            <a:avLst/>
          </a:prstGeom>
          <a:solidFill>
            <a:srgbClr val="EAF0F8"/>
          </a:solidFill>
          <a:ln w="12700">
            <a:solidFill>
              <a:srgbClr val="EAF0F8"/>
            </a:solidFill>
            <a:prstDash val="solid"/>
          </a:ln>
        </p:spPr>
      </p:sp>
      <p:sp>
        <p:nvSpPr>
          <p:cNvPr id="4" name="Browser dot 1"/>
          <p:cNvSpPr/>
          <p:nvPr/>
        </p:nvSpPr>
        <p:spPr>
          <a:xfrm>
            <a:off x="521208" y="411480"/>
            <a:ext cx="82296" cy="82296"/>
          </a:xfrm>
          <a:prstGeom prst="ellipse">
            <a:avLst/>
          </a:prstGeom>
          <a:solidFill>
            <a:srgbClr val="E46A5E"/>
          </a:solidFill>
          <a:ln w="12700">
            <a:solidFill>
              <a:srgbClr val="E46A5E"/>
            </a:solidFill>
            <a:prstDash val="solid"/>
          </a:ln>
        </p:spPr>
      </p:sp>
      <p:sp>
        <p:nvSpPr>
          <p:cNvPr id="5" name="Browser dot 2"/>
          <p:cNvSpPr/>
          <p:nvPr/>
        </p:nvSpPr>
        <p:spPr>
          <a:xfrm>
            <a:off x="649224" y="411480"/>
            <a:ext cx="82296" cy="82296"/>
          </a:xfrm>
          <a:prstGeom prst="ellipse">
            <a:avLst/>
          </a:prstGeom>
          <a:solidFill>
            <a:srgbClr val="F2B84B"/>
          </a:solidFill>
          <a:ln w="12700">
            <a:solidFill>
              <a:srgbClr val="F2B84B"/>
            </a:solidFill>
            <a:prstDash val="solid"/>
          </a:ln>
        </p:spPr>
      </p:sp>
      <p:sp>
        <p:nvSpPr>
          <p:cNvPr id="6" name="Browser dot 3"/>
          <p:cNvSpPr/>
          <p:nvPr/>
        </p:nvSpPr>
        <p:spPr>
          <a:xfrm>
            <a:off x="777240" y="411480"/>
            <a:ext cx="82296" cy="82296"/>
          </a:xfrm>
          <a:prstGeom prst="ellipse">
            <a:avLst/>
          </a:prstGeom>
          <a:solidFill>
            <a:srgbClr val="5DBB63"/>
          </a:solidFill>
          <a:ln w="12700">
            <a:solidFill>
              <a:srgbClr val="5DBB63"/>
            </a:solidFill>
            <a:prstDash val="solid"/>
          </a:ln>
        </p:spPr>
      </p:sp>
      <p:sp>
        <p:nvSpPr>
          <p:cNvPr id="7" name="Address bar"/>
          <p:cNvSpPr/>
          <p:nvPr/>
        </p:nvSpPr>
        <p:spPr>
          <a:xfrm>
            <a:off x="960120" y="374904"/>
            <a:ext cx="3291840" cy="164592"/>
          </a:xfrm>
          <a:prstGeom prst="roundRect">
            <a:avLst>
              <a:gd name="adj" fmla="val 50000"/>
            </a:avLst>
          </a:prstGeom>
          <a:solidFill>
            <a:srgbClr val="FFFFFF"/>
          </a:solidFill>
          <a:ln w="6350">
            <a:solidFill>
              <a:srgbClr val="D6DFEB"/>
            </a:solidFill>
            <a:prstDash val="solid"/>
          </a:ln>
        </p:spPr>
      </p:sp>
      <p:sp>
        <p:nvSpPr>
          <p:cNvPr id="8" name="Text 6"/>
          <p:cNvSpPr txBox="1"/>
          <p:nvPr/>
        </p:nvSpPr>
        <p:spPr>
          <a:xfrm>
            <a:off x="1051560" y="374904"/>
            <a:ext cx="3154680" cy="164592"/>
          </a:xfrm>
          <a:prstGeom prst="rect">
            <a:avLst/>
          </a:prstGeom>
          <a:noFill/>
          <a:ln/>
        </p:spPr>
        <p:txBody>
          <a:bodyPr wrap="square" lIns="0" tIns="0" rIns="0" bIns="0" rtlCol="0" anchor="ctr"/>
          <a:lstStyle/>
          <a:p>
            <a:pPr indent="0" marL="0">
              <a:buNone/>
            </a:pPr>
            <a:r>
              <a:rPr lang="en-US" sz="700" dirty="0">
                <a:solidFill>
                  <a:srgbClr val="5A6577"/>
                </a:solidFill>
                <a:latin typeface="Segoe UI" pitchFamily="34" charset="0"/>
                <a:ea typeface="Segoe UI" pitchFamily="34" charset="-122"/>
                <a:cs typeface="Segoe UI" pitchFamily="34" charset="-120"/>
              </a:rPr>
              <a:t>storm-6269dbe2d00053.my.site.com/consumer/s/join</a:t>
            </a:r>
            <a:endParaRPr lang="en-US" sz="700" dirty="0"/>
          </a:p>
        </p:txBody>
      </p:sp>
      <p:pic>
        <p:nvPicPr>
          <p:cNvPr id="9" name="Screenshot 08-step5-review.jpg" descr="Step 5 of 5: Review and submit">    </p:cNvPr>
          <p:cNvPicPr>
            <a:picLocks noChangeAspect="1"/>
          </p:cNvPicPr>
          <p:nvPr/>
        </p:nvPicPr>
        <p:blipFill>
          <a:blip r:embed="rId1"/>
          <a:stretch>
            <a:fillRect/>
          </a:stretch>
        </p:blipFill>
        <p:spPr>
          <a:xfrm>
            <a:off x="411480" y="594360"/>
            <a:ext cx="4244151" cy="4069080"/>
          </a:xfrm>
          <a:prstGeom prst="rect">
            <a:avLst/>
          </a:prstGeom>
        </p:spPr>
      </p:pic>
      <p:sp>
        <p:nvSpPr>
          <p:cNvPr id="10" name="Text 7"/>
          <p:cNvSpPr txBox="1"/>
          <p:nvPr/>
        </p:nvSpPr>
        <p:spPr>
          <a:xfrm>
            <a:off x="5067111" y="502920"/>
            <a:ext cx="3665409"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2 · JOIN AND APPLY</a:t>
            </a:r>
            <a:endParaRPr lang="en-US" sz="900" dirty="0"/>
          </a:p>
        </p:txBody>
      </p:sp>
      <p:sp>
        <p:nvSpPr>
          <p:cNvPr id="11" name="Text 8"/>
          <p:cNvSpPr txBox="1"/>
          <p:nvPr/>
        </p:nvSpPr>
        <p:spPr>
          <a:xfrm>
            <a:off x="5067111" y="777240"/>
            <a:ext cx="3665409" cy="1143000"/>
          </a:xfrm>
          <a:prstGeom prst="rect">
            <a:avLst/>
          </a:prstGeom>
          <a:noFill/>
          <a:ln/>
        </p:spPr>
        <p:txBody>
          <a:bodyPr wrap="square" lIns="0" tIns="0" rIns="0" bIns="0" rtlCol="0" anchor="t">
            <a:normAutofit/>
          </a:bodyPr>
          <a:lstStyle/>
          <a:p>
            <a:pPr indent="0" marL="0">
              <a:buNone/>
            </a:pPr>
            <a:r>
              <a:rPr lang="en-US" sz="2400" dirty="0">
                <a:solidFill>
                  <a:srgbClr val="043370"/>
                </a:solidFill>
                <a:latin typeface="Segoe UI Semibold" pitchFamily="34" charset="0"/>
                <a:ea typeface="Segoe UI Semibold" pitchFamily="34" charset="-122"/>
                <a:cs typeface="Segoe UI Semibold" pitchFamily="34" charset="-120"/>
              </a:rPr>
              <a:t>Review, certify, submit</a:t>
            </a:r>
            <a:endParaRPr lang="en-US" sz="2400" dirty="0"/>
          </a:p>
        </p:txBody>
      </p:sp>
      <p:sp>
        <p:nvSpPr>
          <p:cNvPr id="12" name="Text 9"/>
          <p:cNvSpPr txBox="1"/>
          <p:nvPr/>
        </p:nvSpPr>
        <p:spPr>
          <a:xfrm>
            <a:off x="5067111" y="1920240"/>
            <a:ext cx="3665409" cy="365760"/>
          </a:xfrm>
          <a:prstGeom prst="rect">
            <a:avLst/>
          </a:prstGeom>
          <a:noFill/>
          <a:ln/>
        </p:spPr>
        <p:txBody>
          <a:bodyPr wrap="square" lIns="0" tIns="0" rIns="0" bIns="0" rtlCol="0" anchor="t"/>
          <a:lstStyle/>
          <a:p>
            <a:pPr indent="0" marL="0">
              <a:buNone/>
            </a:pPr>
            <a:r>
              <a:rPr lang="en-US" sz="1100" i="1" dirty="0">
                <a:solidFill>
                  <a:srgbClr val="5A6577"/>
                </a:solidFill>
                <a:latin typeface="Segoe UI" pitchFamily="34" charset="0"/>
                <a:ea typeface="Segoe UI" pitchFamily="34" charset="-122"/>
                <a:cs typeface="Segoe UI" pitchFamily="34" charset="-120"/>
              </a:rPr>
              <a:t>Step 5 of 5: Review and submit</a:t>
            </a:r>
            <a:endParaRPr lang="en-US" sz="1100" dirty="0"/>
          </a:p>
        </p:txBody>
      </p:sp>
      <p:sp>
        <p:nvSpPr>
          <p:cNvPr id="13" name="Point 1"/>
          <p:cNvSpPr/>
          <p:nvPr/>
        </p:nvSpPr>
        <p:spPr>
          <a:xfrm>
            <a:off x="5067111" y="2377440"/>
            <a:ext cx="329184" cy="329184"/>
          </a:xfrm>
          <a:prstGeom prst="roundRect">
            <a:avLst>
              <a:gd name="adj" fmla="val 22222"/>
            </a:avLst>
          </a:prstGeom>
          <a:solidFill>
            <a:srgbClr val="ED780F"/>
          </a:solidFill>
          <a:ln w="12700">
            <a:solidFill>
              <a:srgbClr val="ED780F"/>
            </a:solidFill>
            <a:prstDash val="solid"/>
          </a:ln>
        </p:spPr>
      </p:sp>
      <p:sp>
        <p:nvSpPr>
          <p:cNvPr id="14" name="Text 11"/>
          <p:cNvSpPr txBox="1"/>
          <p:nvPr/>
        </p:nvSpPr>
        <p:spPr>
          <a:xfrm>
            <a:off x="5067111" y="237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15" name="Text 12"/>
          <p:cNvSpPr txBox="1"/>
          <p:nvPr/>
        </p:nvSpPr>
        <p:spPr>
          <a:xfrm>
            <a:off x="5542599" y="235915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Everything on one screen with Edit links</a:t>
            </a:r>
            <a:endParaRPr lang="en-US" sz="1300" dirty="0"/>
          </a:p>
        </p:txBody>
      </p:sp>
      <p:sp>
        <p:nvSpPr>
          <p:cNvPr id="16" name="Point 2"/>
          <p:cNvSpPr/>
          <p:nvPr/>
        </p:nvSpPr>
        <p:spPr>
          <a:xfrm>
            <a:off x="5067111" y="3108960"/>
            <a:ext cx="329184" cy="329184"/>
          </a:xfrm>
          <a:prstGeom prst="roundRect">
            <a:avLst>
              <a:gd name="adj" fmla="val 22222"/>
            </a:avLst>
          </a:prstGeom>
          <a:solidFill>
            <a:srgbClr val="ED780F"/>
          </a:solidFill>
          <a:ln w="12700">
            <a:solidFill>
              <a:srgbClr val="ED780F"/>
            </a:solidFill>
            <a:prstDash val="solid"/>
          </a:ln>
        </p:spPr>
      </p:sp>
      <p:sp>
        <p:nvSpPr>
          <p:cNvPr id="17" name="Text 14"/>
          <p:cNvSpPr txBox="1"/>
          <p:nvPr/>
        </p:nvSpPr>
        <p:spPr>
          <a:xfrm>
            <a:off x="5067111" y="3108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8" name="Text 15"/>
          <p:cNvSpPr txBox="1"/>
          <p:nvPr/>
        </p:nvSpPr>
        <p:spPr>
          <a:xfrm>
            <a:off x="5542599" y="309067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SSN shows only the last four digits</a:t>
            </a:r>
            <a:endParaRPr lang="en-US" sz="1300" dirty="0"/>
          </a:p>
        </p:txBody>
      </p:sp>
      <p:sp>
        <p:nvSpPr>
          <p:cNvPr id="19" name="Point 3"/>
          <p:cNvSpPr/>
          <p:nvPr/>
        </p:nvSpPr>
        <p:spPr>
          <a:xfrm>
            <a:off x="5067111" y="3840480"/>
            <a:ext cx="329184" cy="329184"/>
          </a:xfrm>
          <a:prstGeom prst="roundRect">
            <a:avLst>
              <a:gd name="adj" fmla="val 22222"/>
            </a:avLst>
          </a:prstGeom>
          <a:solidFill>
            <a:srgbClr val="ED780F"/>
          </a:solidFill>
          <a:ln w="12700">
            <a:solidFill>
              <a:srgbClr val="ED780F"/>
            </a:solidFill>
            <a:prstDash val="solid"/>
          </a:ln>
        </p:spPr>
      </p:sp>
      <p:sp>
        <p:nvSpPr>
          <p:cNvPr id="20" name="Text 17"/>
          <p:cNvSpPr txBox="1"/>
          <p:nvPr/>
        </p:nvSpPr>
        <p:spPr>
          <a:xfrm>
            <a:off x="5067111" y="38404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1" name="Text 18"/>
          <p:cNvSpPr txBox="1"/>
          <p:nvPr/>
        </p:nvSpPr>
        <p:spPr>
          <a:xfrm>
            <a:off x="5542599" y="382219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Certification before submit</a:t>
            </a:r>
            <a:endParaRPr lang="en-US" sz="13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Browser frame"/>
          <p:cNvSpPr/>
          <p:nvPr/>
        </p:nvSpPr>
        <p:spPr>
          <a:xfrm>
            <a:off x="411480" y="320040"/>
            <a:ext cx="4244151" cy="4343400"/>
          </a:xfrm>
          <a:prstGeom prst="roundRect">
            <a:avLst>
              <a:gd name="adj" fmla="val 2585"/>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3" name="Browser bar"/>
          <p:cNvSpPr/>
          <p:nvPr/>
        </p:nvSpPr>
        <p:spPr>
          <a:xfrm>
            <a:off x="429768" y="338328"/>
            <a:ext cx="4207575" cy="256032"/>
          </a:xfrm>
          <a:prstGeom prst="rect">
            <a:avLst/>
          </a:prstGeom>
          <a:solidFill>
            <a:srgbClr val="EAF0F8"/>
          </a:solidFill>
          <a:ln w="12700">
            <a:solidFill>
              <a:srgbClr val="EAF0F8"/>
            </a:solidFill>
            <a:prstDash val="solid"/>
          </a:ln>
        </p:spPr>
      </p:sp>
      <p:sp>
        <p:nvSpPr>
          <p:cNvPr id="4" name="Browser dot 1"/>
          <p:cNvSpPr/>
          <p:nvPr/>
        </p:nvSpPr>
        <p:spPr>
          <a:xfrm>
            <a:off x="521208" y="411480"/>
            <a:ext cx="82296" cy="82296"/>
          </a:xfrm>
          <a:prstGeom prst="ellipse">
            <a:avLst/>
          </a:prstGeom>
          <a:solidFill>
            <a:srgbClr val="E46A5E"/>
          </a:solidFill>
          <a:ln w="12700">
            <a:solidFill>
              <a:srgbClr val="E46A5E"/>
            </a:solidFill>
            <a:prstDash val="solid"/>
          </a:ln>
        </p:spPr>
      </p:sp>
      <p:sp>
        <p:nvSpPr>
          <p:cNvPr id="5" name="Browser dot 2"/>
          <p:cNvSpPr/>
          <p:nvPr/>
        </p:nvSpPr>
        <p:spPr>
          <a:xfrm>
            <a:off x="649224" y="411480"/>
            <a:ext cx="82296" cy="82296"/>
          </a:xfrm>
          <a:prstGeom prst="ellipse">
            <a:avLst/>
          </a:prstGeom>
          <a:solidFill>
            <a:srgbClr val="F2B84B"/>
          </a:solidFill>
          <a:ln w="12700">
            <a:solidFill>
              <a:srgbClr val="F2B84B"/>
            </a:solidFill>
            <a:prstDash val="solid"/>
          </a:ln>
        </p:spPr>
      </p:sp>
      <p:sp>
        <p:nvSpPr>
          <p:cNvPr id="6" name="Browser dot 3"/>
          <p:cNvSpPr/>
          <p:nvPr/>
        </p:nvSpPr>
        <p:spPr>
          <a:xfrm>
            <a:off x="777240" y="411480"/>
            <a:ext cx="82296" cy="82296"/>
          </a:xfrm>
          <a:prstGeom prst="ellipse">
            <a:avLst/>
          </a:prstGeom>
          <a:solidFill>
            <a:srgbClr val="5DBB63"/>
          </a:solidFill>
          <a:ln w="12700">
            <a:solidFill>
              <a:srgbClr val="5DBB63"/>
            </a:solidFill>
            <a:prstDash val="solid"/>
          </a:ln>
        </p:spPr>
      </p:sp>
      <p:sp>
        <p:nvSpPr>
          <p:cNvPr id="7" name="Address bar"/>
          <p:cNvSpPr/>
          <p:nvPr/>
        </p:nvSpPr>
        <p:spPr>
          <a:xfrm>
            <a:off x="960120" y="374904"/>
            <a:ext cx="3291840" cy="164592"/>
          </a:xfrm>
          <a:prstGeom prst="roundRect">
            <a:avLst>
              <a:gd name="adj" fmla="val 50000"/>
            </a:avLst>
          </a:prstGeom>
          <a:solidFill>
            <a:srgbClr val="FFFFFF"/>
          </a:solidFill>
          <a:ln w="6350">
            <a:solidFill>
              <a:srgbClr val="D6DFEB"/>
            </a:solidFill>
            <a:prstDash val="solid"/>
          </a:ln>
        </p:spPr>
      </p:sp>
      <p:sp>
        <p:nvSpPr>
          <p:cNvPr id="8" name="Text 6"/>
          <p:cNvSpPr txBox="1"/>
          <p:nvPr/>
        </p:nvSpPr>
        <p:spPr>
          <a:xfrm>
            <a:off x="1051560" y="374904"/>
            <a:ext cx="3154680" cy="164592"/>
          </a:xfrm>
          <a:prstGeom prst="rect">
            <a:avLst/>
          </a:prstGeom>
          <a:noFill/>
          <a:ln/>
        </p:spPr>
        <p:txBody>
          <a:bodyPr wrap="square" lIns="0" tIns="0" rIns="0" bIns="0" rtlCol="0" anchor="ctr"/>
          <a:lstStyle/>
          <a:p>
            <a:pPr indent="0" marL="0">
              <a:buNone/>
            </a:pPr>
            <a:r>
              <a:rPr lang="en-US" sz="700" dirty="0">
                <a:solidFill>
                  <a:srgbClr val="5A6577"/>
                </a:solidFill>
                <a:latin typeface="Segoe UI" pitchFamily="34" charset="0"/>
                <a:ea typeface="Segoe UI" pitchFamily="34" charset="-122"/>
                <a:cs typeface="Segoe UI" pitchFamily="34" charset="-120"/>
              </a:rPr>
              <a:t>storm-6269dbe2d00053.my.site.com/consumer/s/join</a:t>
            </a:r>
            <a:endParaRPr lang="en-US" sz="700" dirty="0"/>
          </a:p>
        </p:txBody>
      </p:sp>
      <p:pic>
        <p:nvPicPr>
          <p:cNvPr id="9" name="Screenshot 09-success.jpg" descr="Case 00005787 · APP-00081 · AF-00033">    </p:cNvPr>
          <p:cNvPicPr>
            <a:picLocks noChangeAspect="1"/>
          </p:cNvPicPr>
          <p:nvPr/>
        </p:nvPicPr>
        <p:blipFill>
          <a:blip r:embed="rId1"/>
          <a:stretch>
            <a:fillRect/>
          </a:stretch>
        </p:blipFill>
        <p:spPr>
          <a:xfrm>
            <a:off x="411480" y="594360"/>
            <a:ext cx="4244151" cy="4069080"/>
          </a:xfrm>
          <a:prstGeom prst="rect">
            <a:avLst/>
          </a:prstGeom>
        </p:spPr>
      </p:pic>
      <p:sp>
        <p:nvSpPr>
          <p:cNvPr id="10" name="Text 7"/>
          <p:cNvSpPr txBox="1"/>
          <p:nvPr/>
        </p:nvSpPr>
        <p:spPr>
          <a:xfrm>
            <a:off x="5067111" y="502920"/>
            <a:ext cx="3665409"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2 · JOIN AND APPLY</a:t>
            </a:r>
            <a:endParaRPr lang="en-US" sz="900" dirty="0"/>
          </a:p>
        </p:txBody>
      </p:sp>
      <p:sp>
        <p:nvSpPr>
          <p:cNvPr id="11" name="Text 8"/>
          <p:cNvSpPr txBox="1"/>
          <p:nvPr/>
        </p:nvSpPr>
        <p:spPr>
          <a:xfrm>
            <a:off x="5067111" y="777240"/>
            <a:ext cx="3665409" cy="1143000"/>
          </a:xfrm>
          <a:prstGeom prst="rect">
            <a:avLst/>
          </a:prstGeom>
          <a:noFill/>
          <a:ln/>
        </p:spPr>
        <p:txBody>
          <a:bodyPr wrap="square" lIns="0" tIns="0" rIns="0" bIns="0" rtlCol="0" anchor="t">
            <a:normAutofit/>
          </a:bodyPr>
          <a:lstStyle/>
          <a:p>
            <a:pPr indent="0" marL="0">
              <a:buNone/>
            </a:pPr>
            <a:r>
              <a:rPr lang="en-US" sz="2400" dirty="0">
                <a:solidFill>
                  <a:srgbClr val="043370"/>
                </a:solidFill>
                <a:latin typeface="Segoe UI Semibold" pitchFamily="34" charset="0"/>
                <a:ea typeface="Segoe UI Semibold" pitchFamily="34" charset="-122"/>
                <a:cs typeface="Segoe UI Semibold" pitchFamily="34" charset="-120"/>
              </a:rPr>
              <a:t>Welcome to Navy Federal</a:t>
            </a:r>
            <a:endParaRPr lang="en-US" sz="2400" dirty="0"/>
          </a:p>
        </p:txBody>
      </p:sp>
      <p:sp>
        <p:nvSpPr>
          <p:cNvPr id="12" name="Text 9"/>
          <p:cNvSpPr txBox="1"/>
          <p:nvPr/>
        </p:nvSpPr>
        <p:spPr>
          <a:xfrm>
            <a:off x="5067111" y="1920240"/>
            <a:ext cx="3665409" cy="365760"/>
          </a:xfrm>
          <a:prstGeom prst="rect">
            <a:avLst/>
          </a:prstGeom>
          <a:noFill/>
          <a:ln/>
        </p:spPr>
        <p:txBody>
          <a:bodyPr wrap="square" lIns="0" tIns="0" rIns="0" bIns="0" rtlCol="0" anchor="t"/>
          <a:lstStyle/>
          <a:p>
            <a:pPr indent="0" marL="0">
              <a:buNone/>
            </a:pPr>
            <a:r>
              <a:rPr lang="en-US" sz="1100" i="1" dirty="0">
                <a:solidFill>
                  <a:srgbClr val="5A6577"/>
                </a:solidFill>
                <a:latin typeface="Segoe UI" pitchFamily="34" charset="0"/>
                <a:ea typeface="Segoe UI" pitchFamily="34" charset="-122"/>
                <a:cs typeface="Segoe UI" pitchFamily="34" charset="-120"/>
              </a:rPr>
              <a:t>Case 00005787 · APP-00081 · AF-00033</a:t>
            </a:r>
            <a:endParaRPr lang="en-US" sz="1100" dirty="0"/>
          </a:p>
        </p:txBody>
      </p:sp>
      <p:sp>
        <p:nvSpPr>
          <p:cNvPr id="13" name="Point 1"/>
          <p:cNvSpPr/>
          <p:nvPr/>
        </p:nvSpPr>
        <p:spPr>
          <a:xfrm>
            <a:off x="5067111" y="2377440"/>
            <a:ext cx="329184" cy="329184"/>
          </a:xfrm>
          <a:prstGeom prst="roundRect">
            <a:avLst>
              <a:gd name="adj" fmla="val 22222"/>
            </a:avLst>
          </a:prstGeom>
          <a:solidFill>
            <a:srgbClr val="ED780F"/>
          </a:solidFill>
          <a:ln w="12700">
            <a:solidFill>
              <a:srgbClr val="ED780F"/>
            </a:solidFill>
            <a:prstDash val="solid"/>
          </a:ln>
        </p:spPr>
      </p:sp>
      <p:sp>
        <p:nvSpPr>
          <p:cNvPr id="14" name="Text 11"/>
          <p:cNvSpPr txBox="1"/>
          <p:nvPr/>
        </p:nvSpPr>
        <p:spPr>
          <a:xfrm>
            <a:off x="5067111" y="237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15" name="Text 12"/>
          <p:cNvSpPr txBox="1"/>
          <p:nvPr/>
        </p:nvSpPr>
        <p:spPr>
          <a:xfrm>
            <a:off x="5542599" y="235915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Reference numbers for the member</a:t>
            </a:r>
            <a:endParaRPr lang="en-US" sz="1300" dirty="0"/>
          </a:p>
        </p:txBody>
      </p:sp>
      <p:sp>
        <p:nvSpPr>
          <p:cNvPr id="16" name="Point 2"/>
          <p:cNvSpPr/>
          <p:nvPr/>
        </p:nvSpPr>
        <p:spPr>
          <a:xfrm>
            <a:off x="5067111" y="3108960"/>
            <a:ext cx="329184" cy="329184"/>
          </a:xfrm>
          <a:prstGeom prst="roundRect">
            <a:avLst>
              <a:gd name="adj" fmla="val 22222"/>
            </a:avLst>
          </a:prstGeom>
          <a:solidFill>
            <a:srgbClr val="ED780F"/>
          </a:solidFill>
          <a:ln w="12700">
            <a:solidFill>
              <a:srgbClr val="ED780F"/>
            </a:solidFill>
            <a:prstDash val="solid"/>
          </a:ln>
        </p:spPr>
      </p:sp>
      <p:sp>
        <p:nvSpPr>
          <p:cNvPr id="17" name="Text 14"/>
          <p:cNvSpPr txBox="1"/>
          <p:nvPr/>
        </p:nvSpPr>
        <p:spPr>
          <a:xfrm>
            <a:off x="5067111" y="3108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8" name="Text 15"/>
          <p:cNvSpPr txBox="1"/>
          <p:nvPr/>
        </p:nvSpPr>
        <p:spPr>
          <a:xfrm>
            <a:off x="5542599" y="309067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What happens next, in plain language</a:t>
            </a:r>
            <a:endParaRPr lang="en-US" sz="1300" dirty="0"/>
          </a:p>
        </p:txBody>
      </p:sp>
      <p:sp>
        <p:nvSpPr>
          <p:cNvPr id="19" name="Point 3"/>
          <p:cNvSpPr/>
          <p:nvPr/>
        </p:nvSpPr>
        <p:spPr>
          <a:xfrm>
            <a:off x="5067111" y="3840480"/>
            <a:ext cx="329184" cy="329184"/>
          </a:xfrm>
          <a:prstGeom prst="roundRect">
            <a:avLst>
              <a:gd name="adj" fmla="val 22222"/>
            </a:avLst>
          </a:prstGeom>
          <a:solidFill>
            <a:srgbClr val="ED780F"/>
          </a:solidFill>
          <a:ln w="12700">
            <a:solidFill>
              <a:srgbClr val="ED780F"/>
            </a:solidFill>
            <a:prstDash val="solid"/>
          </a:ln>
        </p:spPr>
      </p:sp>
      <p:sp>
        <p:nvSpPr>
          <p:cNvPr id="20" name="Text 17"/>
          <p:cNvSpPr txBox="1"/>
          <p:nvPr/>
        </p:nvSpPr>
        <p:spPr>
          <a:xfrm>
            <a:off x="5067111" y="38404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1" name="Text 18"/>
          <p:cNvSpPr txBox="1"/>
          <p:nvPr/>
        </p:nvSpPr>
        <p:spPr>
          <a:xfrm>
            <a:off x="5542599" y="382219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A private link to his first 30 days checklist</a:t>
            </a:r>
            <a:endParaRPr lang="en-US" sz="13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320040"/>
            <a:ext cx="8229600"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2 · JOIN AND APPLY · LEAD CONVERTED ON 10/6/2026</a:t>
            </a:r>
            <a:endParaRPr lang="en-US" sz="900" dirty="0"/>
          </a:p>
        </p:txBody>
      </p:sp>
      <p:sp>
        <p:nvSpPr>
          <p:cNvPr id="3" name="Text 1"/>
          <p:cNvSpPr txBox="1"/>
          <p:nvPr/>
        </p:nvSpPr>
        <p:spPr>
          <a:xfrm>
            <a:off x="457200" y="566928"/>
            <a:ext cx="8229600" cy="548640"/>
          </a:xfrm>
          <a:prstGeom prst="rect">
            <a:avLst/>
          </a:prstGeom>
          <a:noFill/>
          <a:ln/>
        </p:spPr>
        <p:txBody>
          <a:bodyPr wrap="square" lIns="0" tIns="0" rIns="0" bIns="0" rtlCol="0" anchor="t">
            <a:normAutofit/>
          </a:bodyPr>
          <a:lstStyle/>
          <a:p>
            <a:pPr indent="0" marL="0">
              <a:buNone/>
            </a:pPr>
            <a:r>
              <a:rPr lang="en-US" sz="2600" dirty="0">
                <a:solidFill>
                  <a:srgbClr val="043370"/>
                </a:solidFill>
                <a:latin typeface="Segoe UI Semibold" pitchFamily="34" charset="0"/>
                <a:ea typeface="Segoe UI Semibold" pitchFamily="34" charset="-122"/>
                <a:cs typeface="Segoe UI Semibold" pitchFamily="34" charset="-120"/>
              </a:rPr>
              <a:t>Prospect to member, automatically</a:t>
            </a:r>
            <a:endParaRPr lang="en-US" sz="2600" dirty="0"/>
          </a:p>
        </p:txBody>
      </p:sp>
      <p:sp>
        <p:nvSpPr>
          <p:cNvPr id="4" name="PROSPECT card"/>
          <p:cNvSpPr/>
          <p:nvPr/>
        </p:nvSpPr>
        <p:spPr>
          <a:xfrm>
            <a:off x="457200" y="1280160"/>
            <a:ext cx="2560320" cy="1371600"/>
          </a:xfrm>
          <a:prstGeom prst="roundRect">
            <a:avLst>
              <a:gd name="adj" fmla="val 8000"/>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5" name="Text 3"/>
          <p:cNvSpPr txBox="1"/>
          <p:nvPr/>
        </p:nvSpPr>
        <p:spPr>
          <a:xfrm>
            <a:off x="685800" y="1417320"/>
            <a:ext cx="2103120" cy="201168"/>
          </a:xfrm>
          <a:prstGeom prst="rect">
            <a:avLst/>
          </a:prstGeom>
          <a:noFill/>
          <a:ln/>
        </p:spPr>
        <p:txBody>
          <a:bodyPr wrap="square" lIns="0" tIns="0" rIns="0" bIns="0" rtlCol="0" anchor="t"/>
          <a:lstStyle/>
          <a:p>
            <a:pPr indent="0" marL="0">
              <a:buNone/>
            </a:pPr>
            <a:r>
              <a:rPr lang="en-US" sz="850" b="1" spc="200" kern="0" dirty="0">
                <a:solidFill>
                  <a:srgbClr val="5A6577"/>
                </a:solidFill>
                <a:latin typeface="Segoe UI" pitchFamily="34" charset="0"/>
                <a:ea typeface="Segoe UI" pitchFamily="34" charset="-122"/>
                <a:cs typeface="Segoe UI" pitchFamily="34" charset="-120"/>
              </a:rPr>
              <a:t>PROSPECT</a:t>
            </a:r>
            <a:endParaRPr lang="en-US" sz="850" dirty="0"/>
          </a:p>
        </p:txBody>
      </p:sp>
      <p:sp>
        <p:nvSpPr>
          <p:cNvPr id="6" name="Text 4"/>
          <p:cNvSpPr txBox="1"/>
          <p:nvPr/>
        </p:nvSpPr>
        <p:spPr>
          <a:xfrm>
            <a:off x="685800" y="1645920"/>
            <a:ext cx="2103120" cy="457200"/>
          </a:xfrm>
          <a:prstGeom prst="rect">
            <a:avLst/>
          </a:prstGeom>
          <a:noFill/>
          <a:ln/>
        </p:spPr>
        <p:txBody>
          <a:bodyPr wrap="square" lIns="0" tIns="0" rIns="0" bIns="0" rtlCol="0" anchor="t"/>
          <a:lstStyle/>
          <a:p>
            <a:pPr indent="0" marL="0">
              <a:buNone/>
            </a:pPr>
            <a:r>
              <a:rPr lang="en-US" sz="2000" dirty="0">
                <a:solidFill>
                  <a:srgbClr val="043370"/>
                </a:solidFill>
                <a:latin typeface="Segoe UI Semibold" pitchFamily="34" charset="0"/>
                <a:ea typeface="Segoe UI Semibold" pitchFamily="34" charset="-122"/>
                <a:cs typeface="Segoe UI Semibold" pitchFamily="34" charset="-120"/>
              </a:rPr>
              <a:t>Lead</a:t>
            </a:r>
            <a:endParaRPr lang="en-US" sz="2000" dirty="0"/>
          </a:p>
        </p:txBody>
      </p:sp>
      <p:sp>
        <p:nvSpPr>
          <p:cNvPr id="7" name="Text 5"/>
          <p:cNvSpPr txBox="1"/>
          <p:nvPr/>
        </p:nvSpPr>
        <p:spPr>
          <a:xfrm>
            <a:off x="685800" y="2148840"/>
            <a:ext cx="2103120" cy="411480"/>
          </a:xfrm>
          <a:prstGeom prst="rect">
            <a:avLst/>
          </a:prstGeom>
          <a:noFill/>
          <a:ln/>
        </p:spPr>
        <p:txBody>
          <a:bodyPr wrap="square" lIns="0" tIns="0" rIns="0" bIns="0" rtlCol="0" anchor="t"/>
          <a:lstStyle/>
          <a:p>
            <a:pPr indent="0" marL="0">
              <a:buNone/>
            </a:pPr>
            <a:r>
              <a:rPr lang="en-US" sz="1100" dirty="0">
                <a:solidFill>
                  <a:srgbClr val="043370"/>
                </a:solidFill>
                <a:latin typeface="Segoe UI" pitchFamily="34" charset="0"/>
                <a:ea typeface="Segoe UI" pitchFamily="34" charset="-122"/>
                <a:cs typeface="Segoe UI" pitchFamily="34" charset="-120"/>
              </a:rPr>
              <a:t>Source: Website</a:t>
            </a:r>
            <a:endParaRPr lang="en-US" sz="1100" dirty="0"/>
          </a:p>
        </p:txBody>
      </p:sp>
      <p:sp>
        <p:nvSpPr>
          <p:cNvPr id="8" name="Arrow 1"/>
          <p:cNvSpPr/>
          <p:nvPr/>
        </p:nvSpPr>
        <p:spPr>
          <a:xfrm>
            <a:off x="3054096" y="1828800"/>
            <a:ext cx="201168" cy="274320"/>
          </a:xfrm>
          <a:prstGeom prst="rightArrow">
            <a:avLst/>
          </a:prstGeom>
          <a:solidFill>
            <a:srgbClr val="ED780F"/>
          </a:solidFill>
          <a:ln w="12700">
            <a:solidFill>
              <a:srgbClr val="ED780F"/>
            </a:solidFill>
            <a:prstDash val="solid"/>
          </a:ln>
        </p:spPr>
      </p:sp>
      <p:sp>
        <p:nvSpPr>
          <p:cNvPr id="9" name="SAME CLICK card"/>
          <p:cNvSpPr/>
          <p:nvPr/>
        </p:nvSpPr>
        <p:spPr>
          <a:xfrm>
            <a:off x="3291840" y="1280160"/>
            <a:ext cx="2560320" cy="1371600"/>
          </a:xfrm>
          <a:prstGeom prst="roundRect">
            <a:avLst>
              <a:gd name="adj" fmla="val 8000"/>
            </a:avLst>
          </a:prstGeom>
          <a:solidFill>
            <a:srgbClr val="ED780F"/>
          </a:solidFill>
          <a:ln w="9525">
            <a:solidFill>
              <a:srgbClr val="ED780F"/>
            </a:solidFill>
            <a:prstDash val="solid"/>
          </a:ln>
          <a:effectLst>
            <a:outerShdw sx="100000" sy="100000" kx="0" ky="0" algn="bl" rotWithShape="0" blurRad="101600" dist="25400" dir="5400000">
              <a:srgbClr val="0B2347">
                <a:alpha val="12000"/>
              </a:srgbClr>
            </a:outerShdw>
          </a:effectLst>
        </p:spPr>
      </p:sp>
      <p:sp>
        <p:nvSpPr>
          <p:cNvPr id="10" name="Text 8"/>
          <p:cNvSpPr txBox="1"/>
          <p:nvPr/>
        </p:nvSpPr>
        <p:spPr>
          <a:xfrm>
            <a:off x="3520440" y="1417320"/>
            <a:ext cx="2103120" cy="201168"/>
          </a:xfrm>
          <a:prstGeom prst="rect">
            <a:avLst/>
          </a:prstGeom>
          <a:noFill/>
          <a:ln/>
        </p:spPr>
        <p:txBody>
          <a:bodyPr wrap="square" lIns="0" tIns="0" rIns="0" bIns="0" rtlCol="0" anchor="t"/>
          <a:lstStyle/>
          <a:p>
            <a:pPr indent="0" marL="0">
              <a:buNone/>
            </a:pPr>
            <a:r>
              <a:rPr lang="en-US" sz="850" b="1" spc="200" kern="0" dirty="0">
                <a:solidFill>
                  <a:srgbClr val="F4F7FB"/>
                </a:solidFill>
                <a:latin typeface="Segoe UI" pitchFamily="34" charset="0"/>
                <a:ea typeface="Segoe UI" pitchFamily="34" charset="-122"/>
                <a:cs typeface="Segoe UI" pitchFamily="34" charset="-120"/>
              </a:rPr>
              <a:t>SAME CLICK</a:t>
            </a:r>
            <a:endParaRPr lang="en-US" sz="850" dirty="0"/>
          </a:p>
        </p:txBody>
      </p:sp>
      <p:sp>
        <p:nvSpPr>
          <p:cNvPr id="11" name="Text 9"/>
          <p:cNvSpPr txBox="1"/>
          <p:nvPr/>
        </p:nvSpPr>
        <p:spPr>
          <a:xfrm>
            <a:off x="3520440" y="1645920"/>
            <a:ext cx="2103120" cy="457200"/>
          </a:xfrm>
          <a:prstGeom prst="rect">
            <a:avLst/>
          </a:prstGeom>
          <a:noFill/>
          <a:ln/>
        </p:spPr>
        <p:txBody>
          <a:bodyPr wrap="square" lIns="0" tIns="0" rIns="0" bIns="0" rtlCol="0" anchor="t"/>
          <a:lstStyle/>
          <a:p>
            <a:pPr indent="0" marL="0">
              <a:buNone/>
            </a:pPr>
            <a:r>
              <a:rPr lang="en-US" sz="2000" dirty="0">
                <a:solidFill>
                  <a:srgbClr val="FFFFFF"/>
                </a:solidFill>
                <a:latin typeface="Segoe UI Semibold" pitchFamily="34" charset="0"/>
                <a:ea typeface="Segoe UI Semibold" pitchFamily="34" charset="-122"/>
                <a:cs typeface="Segoe UI Semibold" pitchFamily="34" charset="-120"/>
              </a:rPr>
              <a:t>Converted</a:t>
            </a:r>
            <a:endParaRPr lang="en-US" sz="2000" dirty="0"/>
          </a:p>
        </p:txBody>
      </p:sp>
      <p:sp>
        <p:nvSpPr>
          <p:cNvPr id="12" name="Text 10"/>
          <p:cNvSpPr txBox="1"/>
          <p:nvPr/>
        </p:nvSpPr>
        <p:spPr>
          <a:xfrm>
            <a:off x="3520440" y="2148840"/>
            <a:ext cx="2103120" cy="411480"/>
          </a:xfrm>
          <a:prstGeom prst="rect">
            <a:avLst/>
          </a:prstGeom>
          <a:noFill/>
          <a:ln/>
        </p:spPr>
        <p:txBody>
          <a:bodyPr wrap="square" lIns="0" tIns="0" rIns="0" bIns="0" rtlCol="0" anchor="t"/>
          <a:lstStyle/>
          <a:p>
            <a:pPr indent="0" marL="0">
              <a:buNone/>
            </a:pPr>
            <a:r>
              <a:rPr lang="en-US" sz="1100" dirty="0">
                <a:solidFill>
                  <a:srgbClr val="FFFFFF"/>
                </a:solidFill>
                <a:latin typeface="Segoe UI" pitchFamily="34" charset="0"/>
                <a:ea typeface="Segoe UI" pitchFamily="34" charset="-122"/>
                <a:cs typeface="Segoe UI" pitchFamily="34" charset="-120"/>
              </a:rPr>
              <a:t>In the submit transaction</a:t>
            </a:r>
            <a:endParaRPr lang="en-US" sz="1100" dirty="0"/>
          </a:p>
        </p:txBody>
      </p:sp>
      <p:sp>
        <p:nvSpPr>
          <p:cNvPr id="13" name="Arrow 2"/>
          <p:cNvSpPr/>
          <p:nvPr/>
        </p:nvSpPr>
        <p:spPr>
          <a:xfrm>
            <a:off x="5888736" y="1828800"/>
            <a:ext cx="201168" cy="274320"/>
          </a:xfrm>
          <a:prstGeom prst="rightArrow">
            <a:avLst/>
          </a:prstGeom>
          <a:solidFill>
            <a:srgbClr val="ED780F"/>
          </a:solidFill>
          <a:ln w="12700">
            <a:solidFill>
              <a:srgbClr val="ED780F"/>
            </a:solidFill>
            <a:prstDash val="solid"/>
          </a:ln>
        </p:spPr>
      </p:sp>
      <p:sp>
        <p:nvSpPr>
          <p:cNvPr id="14" name="MEMBER card"/>
          <p:cNvSpPr/>
          <p:nvPr/>
        </p:nvSpPr>
        <p:spPr>
          <a:xfrm>
            <a:off x="6126480" y="1280160"/>
            <a:ext cx="2560320" cy="1371600"/>
          </a:xfrm>
          <a:prstGeom prst="roundRect">
            <a:avLst>
              <a:gd name="adj" fmla="val 8000"/>
            </a:avLst>
          </a:prstGeom>
          <a:solidFill>
            <a:srgbClr val="043370"/>
          </a:solidFill>
          <a:ln w="9525">
            <a:solidFill>
              <a:srgbClr val="043370"/>
            </a:solidFill>
            <a:prstDash val="solid"/>
          </a:ln>
          <a:effectLst>
            <a:outerShdw sx="100000" sy="100000" kx="0" ky="0" algn="bl" rotWithShape="0" blurRad="101600" dist="25400" dir="5400000">
              <a:srgbClr val="0B2347">
                <a:alpha val="12000"/>
              </a:srgbClr>
            </a:outerShdw>
          </a:effectLst>
        </p:spPr>
      </p:sp>
      <p:sp>
        <p:nvSpPr>
          <p:cNvPr id="15" name="Text 13"/>
          <p:cNvSpPr txBox="1"/>
          <p:nvPr/>
        </p:nvSpPr>
        <p:spPr>
          <a:xfrm>
            <a:off x="6355080" y="1417320"/>
            <a:ext cx="2103120" cy="201168"/>
          </a:xfrm>
          <a:prstGeom prst="rect">
            <a:avLst/>
          </a:prstGeom>
          <a:noFill/>
          <a:ln/>
        </p:spPr>
        <p:txBody>
          <a:bodyPr wrap="square" lIns="0" tIns="0" rIns="0" bIns="0" rtlCol="0" anchor="t"/>
          <a:lstStyle/>
          <a:p>
            <a:pPr indent="0" marL="0">
              <a:buNone/>
            </a:pPr>
            <a:r>
              <a:rPr lang="en-US" sz="850" b="1" spc="200" kern="0" dirty="0">
                <a:solidFill>
                  <a:srgbClr val="F4F7FB"/>
                </a:solidFill>
                <a:latin typeface="Segoe UI" pitchFamily="34" charset="0"/>
                <a:ea typeface="Segoe UI" pitchFamily="34" charset="-122"/>
                <a:cs typeface="Segoe UI" pitchFamily="34" charset="-120"/>
              </a:rPr>
              <a:t>MEMBER</a:t>
            </a:r>
            <a:endParaRPr lang="en-US" sz="850" dirty="0"/>
          </a:p>
        </p:txBody>
      </p:sp>
      <p:sp>
        <p:nvSpPr>
          <p:cNvPr id="16" name="Text 14"/>
          <p:cNvSpPr txBox="1"/>
          <p:nvPr/>
        </p:nvSpPr>
        <p:spPr>
          <a:xfrm>
            <a:off x="6355080" y="1645920"/>
            <a:ext cx="2103120" cy="457200"/>
          </a:xfrm>
          <a:prstGeom prst="rect">
            <a:avLst/>
          </a:prstGeom>
          <a:noFill/>
          <a:ln/>
        </p:spPr>
        <p:txBody>
          <a:bodyPr wrap="square" lIns="0" tIns="0" rIns="0" bIns="0" rtlCol="0" anchor="t"/>
          <a:lstStyle/>
          <a:p>
            <a:pPr indent="0" marL="0">
              <a:buNone/>
            </a:pPr>
            <a:r>
              <a:rPr lang="en-US" sz="2000" dirty="0">
                <a:solidFill>
                  <a:srgbClr val="FFFFFF"/>
                </a:solidFill>
                <a:latin typeface="Segoe UI Semibold" pitchFamily="34" charset="0"/>
                <a:ea typeface="Segoe UI Semibold" pitchFamily="34" charset="-122"/>
                <a:cs typeface="Segoe UI Semibold" pitchFamily="34" charset="-120"/>
              </a:rPr>
              <a:t>Person Account</a:t>
            </a:r>
            <a:endParaRPr lang="en-US" sz="2000" dirty="0"/>
          </a:p>
        </p:txBody>
      </p:sp>
      <p:sp>
        <p:nvSpPr>
          <p:cNvPr id="17" name="Text 15"/>
          <p:cNvSpPr txBox="1"/>
          <p:nvPr/>
        </p:nvSpPr>
        <p:spPr>
          <a:xfrm>
            <a:off x="6355080" y="2148840"/>
            <a:ext cx="2103120" cy="411480"/>
          </a:xfrm>
          <a:prstGeom prst="rect">
            <a:avLst/>
          </a:prstGeom>
          <a:noFill/>
          <a:ln/>
        </p:spPr>
        <p:txBody>
          <a:bodyPr wrap="square" lIns="0" tIns="0" rIns="0" bIns="0" rtlCol="0" anchor="t"/>
          <a:lstStyle/>
          <a:p>
            <a:pPr indent="0" marL="0">
              <a:buNone/>
            </a:pPr>
            <a:r>
              <a:rPr lang="en-US" sz="1100" dirty="0">
                <a:solidFill>
                  <a:srgbClr val="FFFFFF"/>
                </a:solidFill>
                <a:latin typeface="Segoe UI" pitchFamily="34" charset="0"/>
                <a:ea typeface="Segoe UI" pitchFamily="34" charset="-122"/>
                <a:cs typeface="Segoe UI" pitchFamily="34" charset="-120"/>
              </a:rPr>
              <a:t>Account + Contact, owned by a rep</a:t>
            </a:r>
            <a:endParaRPr lang="en-US" sz="1100" dirty="0"/>
          </a:p>
        </p:txBody>
      </p:sp>
      <p:sp>
        <p:nvSpPr>
          <p:cNvPr id="18" name="Text 16"/>
          <p:cNvSpPr txBox="1"/>
          <p:nvPr/>
        </p:nvSpPr>
        <p:spPr>
          <a:xfrm>
            <a:off x="457200" y="2926080"/>
            <a:ext cx="8229600"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CREATED IN THE SAME SUBMISSION</a:t>
            </a:r>
            <a:endParaRPr lang="en-US" sz="900" dirty="0"/>
          </a:p>
        </p:txBody>
      </p:sp>
      <p:sp>
        <p:nvSpPr>
          <p:cNvPr id="19" name="Case tile"/>
          <p:cNvSpPr/>
          <p:nvPr/>
        </p:nvSpPr>
        <p:spPr>
          <a:xfrm>
            <a:off x="457200" y="3246120"/>
            <a:ext cx="1920240" cy="1005840"/>
          </a:xfrm>
          <a:prstGeom prst="roundRect">
            <a:avLst>
              <a:gd name="adj" fmla="val 10909"/>
            </a:avLst>
          </a:prstGeom>
          <a:solidFill>
            <a:srgbClr val="EAF0F8"/>
          </a:solidFill>
          <a:ln w="9525">
            <a:solidFill>
              <a:srgbClr val="EAF0F8"/>
            </a:solidFill>
            <a:prstDash val="solid"/>
          </a:ln>
          <a:effectLst>
            <a:outerShdw sx="100000" sy="100000" kx="0" ky="0" algn="bl" rotWithShape="0" blurRad="101600" dist="25400" dir="5400000">
              <a:srgbClr val="0B2347">
                <a:alpha val="12000"/>
              </a:srgbClr>
            </a:outerShdw>
          </a:effectLst>
        </p:spPr>
      </p:sp>
      <p:sp>
        <p:nvSpPr>
          <p:cNvPr id="20" name="Text 18"/>
          <p:cNvSpPr txBox="1"/>
          <p:nvPr/>
        </p:nvSpPr>
        <p:spPr>
          <a:xfrm>
            <a:off x="640080" y="3383280"/>
            <a:ext cx="1645920" cy="320040"/>
          </a:xfrm>
          <a:prstGeom prst="rect">
            <a:avLst/>
          </a:prstGeom>
          <a:noFill/>
          <a:ln/>
        </p:spPr>
        <p:txBody>
          <a:bodyPr wrap="square" lIns="0" tIns="0" rIns="0" bIns="0" rtlCol="0" anchor="t"/>
          <a:lstStyle/>
          <a:p>
            <a:pPr indent="0" marL="0">
              <a:buNone/>
            </a:pPr>
            <a:r>
              <a:rPr lang="en-US" sz="1400" dirty="0">
                <a:solidFill>
                  <a:srgbClr val="043370"/>
                </a:solidFill>
                <a:latin typeface="Segoe UI Semibold" pitchFamily="34" charset="0"/>
                <a:ea typeface="Segoe UI Semibold" pitchFamily="34" charset="-122"/>
                <a:cs typeface="Segoe UI Semibold" pitchFamily="34" charset="-120"/>
              </a:rPr>
              <a:t>Case</a:t>
            </a:r>
            <a:endParaRPr lang="en-US" sz="1400" dirty="0"/>
          </a:p>
        </p:txBody>
      </p:sp>
      <p:sp>
        <p:nvSpPr>
          <p:cNvPr id="21" name="Text 19"/>
          <p:cNvSpPr txBox="1"/>
          <p:nvPr/>
        </p:nvSpPr>
        <p:spPr>
          <a:xfrm>
            <a:off x="640080" y="3730752"/>
            <a:ext cx="1645920" cy="365760"/>
          </a:xfrm>
          <a:prstGeom prst="rect">
            <a:avLst/>
          </a:prstGeom>
          <a:noFill/>
          <a:ln/>
        </p:spPr>
        <p:txBody>
          <a:bodyPr wrap="square" lIns="0" tIns="0" rIns="0" bIns="0" rtlCol="0" anchor="t"/>
          <a:lstStyle/>
          <a:p>
            <a:pPr indent="0" marL="0">
              <a:buNone/>
            </a:pPr>
            <a:r>
              <a:rPr lang="en-US" sz="1050" dirty="0">
                <a:solidFill>
                  <a:srgbClr val="5A6577"/>
                </a:solidFill>
                <a:latin typeface="Segoe UI" pitchFamily="34" charset="0"/>
                <a:ea typeface="Segoe UI" pitchFamily="34" charset="-122"/>
                <a:cs typeface="Segoe UI" pitchFamily="34" charset="-120"/>
              </a:rPr>
              <a:t>For the banker</a:t>
            </a:r>
            <a:endParaRPr lang="en-US" sz="1050" dirty="0"/>
          </a:p>
        </p:txBody>
      </p:sp>
      <p:sp>
        <p:nvSpPr>
          <p:cNvPr id="22" name="Deposit application tile"/>
          <p:cNvSpPr/>
          <p:nvPr/>
        </p:nvSpPr>
        <p:spPr>
          <a:xfrm>
            <a:off x="2560320" y="3246120"/>
            <a:ext cx="1920240" cy="1005840"/>
          </a:xfrm>
          <a:prstGeom prst="roundRect">
            <a:avLst>
              <a:gd name="adj" fmla="val 10909"/>
            </a:avLst>
          </a:prstGeom>
          <a:solidFill>
            <a:srgbClr val="EAF0F8"/>
          </a:solidFill>
          <a:ln w="9525">
            <a:solidFill>
              <a:srgbClr val="EAF0F8"/>
            </a:solidFill>
            <a:prstDash val="solid"/>
          </a:ln>
          <a:effectLst>
            <a:outerShdw sx="100000" sy="100000" kx="0" ky="0" algn="bl" rotWithShape="0" blurRad="101600" dist="25400" dir="5400000">
              <a:srgbClr val="0B2347">
                <a:alpha val="12000"/>
              </a:srgbClr>
            </a:outerShdw>
          </a:effectLst>
        </p:spPr>
      </p:sp>
      <p:sp>
        <p:nvSpPr>
          <p:cNvPr id="23" name="Text 21"/>
          <p:cNvSpPr txBox="1"/>
          <p:nvPr/>
        </p:nvSpPr>
        <p:spPr>
          <a:xfrm>
            <a:off x="2743200" y="3383280"/>
            <a:ext cx="1645920" cy="320040"/>
          </a:xfrm>
          <a:prstGeom prst="rect">
            <a:avLst/>
          </a:prstGeom>
          <a:noFill/>
          <a:ln/>
        </p:spPr>
        <p:txBody>
          <a:bodyPr wrap="square" lIns="0" tIns="0" rIns="0" bIns="0" rtlCol="0" anchor="t"/>
          <a:lstStyle/>
          <a:p>
            <a:pPr indent="0" marL="0">
              <a:buNone/>
            </a:pPr>
            <a:r>
              <a:rPr lang="en-US" sz="1400" dirty="0">
                <a:solidFill>
                  <a:srgbClr val="043370"/>
                </a:solidFill>
                <a:latin typeface="Segoe UI Semibold" pitchFamily="34" charset="0"/>
                <a:ea typeface="Segoe UI Semibold" pitchFamily="34" charset="-122"/>
                <a:cs typeface="Segoe UI Semibold" pitchFamily="34" charset="-120"/>
              </a:rPr>
              <a:t>Deposit application</a:t>
            </a:r>
            <a:endParaRPr lang="en-US" sz="1400" dirty="0"/>
          </a:p>
        </p:txBody>
      </p:sp>
      <p:sp>
        <p:nvSpPr>
          <p:cNvPr id="24" name="Text 22"/>
          <p:cNvSpPr txBox="1"/>
          <p:nvPr/>
        </p:nvSpPr>
        <p:spPr>
          <a:xfrm>
            <a:off x="2743200" y="3730752"/>
            <a:ext cx="1645920" cy="365760"/>
          </a:xfrm>
          <a:prstGeom prst="rect">
            <a:avLst/>
          </a:prstGeom>
          <a:noFill/>
          <a:ln/>
        </p:spPr>
        <p:txBody>
          <a:bodyPr wrap="square" lIns="0" tIns="0" rIns="0" bIns="0" rtlCol="0" anchor="t"/>
          <a:lstStyle/>
          <a:p>
            <a:pPr indent="0" marL="0">
              <a:buNone/>
            </a:pPr>
            <a:r>
              <a:rPr lang="en-US" sz="1050" dirty="0">
                <a:solidFill>
                  <a:srgbClr val="5A6577"/>
                </a:solidFill>
                <a:latin typeface="Segoe UI" pitchFamily="34" charset="0"/>
                <a:ea typeface="Segoe UI" pitchFamily="34" charset="-122"/>
                <a:cs typeface="Segoe UI" pitchFamily="34" charset="-120"/>
              </a:rPr>
              <a:t>Savings + checking</a:t>
            </a:r>
            <a:endParaRPr lang="en-US" sz="1050" dirty="0"/>
          </a:p>
        </p:txBody>
      </p:sp>
      <p:sp>
        <p:nvSpPr>
          <p:cNvPr id="25" name="Onboarding record tile"/>
          <p:cNvSpPr/>
          <p:nvPr/>
        </p:nvSpPr>
        <p:spPr>
          <a:xfrm>
            <a:off x="4663440" y="3246120"/>
            <a:ext cx="1920240" cy="1005840"/>
          </a:xfrm>
          <a:prstGeom prst="roundRect">
            <a:avLst>
              <a:gd name="adj" fmla="val 10909"/>
            </a:avLst>
          </a:prstGeom>
          <a:solidFill>
            <a:srgbClr val="EAF0F8"/>
          </a:solidFill>
          <a:ln w="9525">
            <a:solidFill>
              <a:srgbClr val="EAF0F8"/>
            </a:solidFill>
            <a:prstDash val="solid"/>
          </a:ln>
          <a:effectLst>
            <a:outerShdw sx="100000" sy="100000" kx="0" ky="0" algn="bl" rotWithShape="0" blurRad="101600" dist="25400" dir="5400000">
              <a:srgbClr val="0B2347">
                <a:alpha val="12000"/>
              </a:srgbClr>
            </a:outerShdw>
          </a:effectLst>
        </p:spPr>
      </p:sp>
      <p:sp>
        <p:nvSpPr>
          <p:cNvPr id="26" name="Text 24"/>
          <p:cNvSpPr txBox="1"/>
          <p:nvPr/>
        </p:nvSpPr>
        <p:spPr>
          <a:xfrm>
            <a:off x="4846320" y="3383280"/>
            <a:ext cx="1645920" cy="320040"/>
          </a:xfrm>
          <a:prstGeom prst="rect">
            <a:avLst/>
          </a:prstGeom>
          <a:noFill/>
          <a:ln/>
        </p:spPr>
        <p:txBody>
          <a:bodyPr wrap="square" lIns="0" tIns="0" rIns="0" bIns="0" rtlCol="0" anchor="t"/>
          <a:lstStyle/>
          <a:p>
            <a:pPr indent="0" marL="0">
              <a:buNone/>
            </a:pPr>
            <a:r>
              <a:rPr lang="en-US" sz="1400" dirty="0">
                <a:solidFill>
                  <a:srgbClr val="043370"/>
                </a:solidFill>
                <a:latin typeface="Segoe UI Semibold" pitchFamily="34" charset="0"/>
                <a:ea typeface="Segoe UI Semibold" pitchFamily="34" charset="-122"/>
                <a:cs typeface="Segoe UI Semibold" pitchFamily="34" charset="-120"/>
              </a:rPr>
              <a:t>Onboarding record</a:t>
            </a:r>
            <a:endParaRPr lang="en-US" sz="1400" dirty="0"/>
          </a:p>
        </p:txBody>
      </p:sp>
      <p:sp>
        <p:nvSpPr>
          <p:cNvPr id="27" name="Text 25"/>
          <p:cNvSpPr txBox="1"/>
          <p:nvPr/>
        </p:nvSpPr>
        <p:spPr>
          <a:xfrm>
            <a:off x="4846320" y="3730752"/>
            <a:ext cx="1645920" cy="365760"/>
          </a:xfrm>
          <a:prstGeom prst="rect">
            <a:avLst/>
          </a:prstGeom>
          <a:noFill/>
          <a:ln/>
        </p:spPr>
        <p:txBody>
          <a:bodyPr wrap="square" lIns="0" tIns="0" rIns="0" bIns="0" rtlCol="0" anchor="t"/>
          <a:lstStyle/>
          <a:p>
            <a:pPr indent="0" marL="0">
              <a:buNone/>
            </a:pPr>
            <a:r>
              <a:rPr lang="en-US" sz="1050" dirty="0">
                <a:solidFill>
                  <a:srgbClr val="5A6577"/>
                </a:solidFill>
                <a:latin typeface="Segoe UI" pitchFamily="34" charset="0"/>
                <a:ea typeface="Segoe UI" pitchFamily="34" charset="-122"/>
                <a:cs typeface="Segoe UI" pitchFamily="34" charset="-120"/>
              </a:rPr>
              <a:t>With private link</a:t>
            </a:r>
            <a:endParaRPr lang="en-US" sz="1050" dirty="0"/>
          </a:p>
        </p:txBody>
      </p:sp>
      <p:sp>
        <p:nvSpPr>
          <p:cNvPr id="28" name="Documents tile"/>
          <p:cNvSpPr/>
          <p:nvPr/>
        </p:nvSpPr>
        <p:spPr>
          <a:xfrm>
            <a:off x="6766560" y="3246120"/>
            <a:ext cx="1920240" cy="1005840"/>
          </a:xfrm>
          <a:prstGeom prst="roundRect">
            <a:avLst>
              <a:gd name="adj" fmla="val 10909"/>
            </a:avLst>
          </a:prstGeom>
          <a:solidFill>
            <a:srgbClr val="EAF0F8"/>
          </a:solidFill>
          <a:ln w="9525">
            <a:solidFill>
              <a:srgbClr val="EAF0F8"/>
            </a:solidFill>
            <a:prstDash val="solid"/>
          </a:ln>
          <a:effectLst>
            <a:outerShdw sx="100000" sy="100000" kx="0" ky="0" algn="bl" rotWithShape="0" blurRad="101600" dist="25400" dir="5400000">
              <a:srgbClr val="0B2347">
                <a:alpha val="12000"/>
              </a:srgbClr>
            </a:outerShdw>
          </a:effectLst>
        </p:spPr>
      </p:sp>
      <p:sp>
        <p:nvSpPr>
          <p:cNvPr id="29" name="Text 27"/>
          <p:cNvSpPr txBox="1"/>
          <p:nvPr/>
        </p:nvSpPr>
        <p:spPr>
          <a:xfrm>
            <a:off x="6949440" y="3383280"/>
            <a:ext cx="1645920" cy="320040"/>
          </a:xfrm>
          <a:prstGeom prst="rect">
            <a:avLst/>
          </a:prstGeom>
          <a:noFill/>
          <a:ln/>
        </p:spPr>
        <p:txBody>
          <a:bodyPr wrap="square" lIns="0" tIns="0" rIns="0" bIns="0" rtlCol="0" anchor="t"/>
          <a:lstStyle/>
          <a:p>
            <a:pPr indent="0" marL="0">
              <a:buNone/>
            </a:pPr>
            <a:r>
              <a:rPr lang="en-US" sz="1400" dirty="0">
                <a:solidFill>
                  <a:srgbClr val="043370"/>
                </a:solidFill>
                <a:latin typeface="Segoe UI Semibold" pitchFamily="34" charset="0"/>
                <a:ea typeface="Segoe UI Semibold" pitchFamily="34" charset="-122"/>
                <a:cs typeface="Segoe UI Semibold" pitchFamily="34" charset="-120"/>
              </a:rPr>
              <a:t>Documents</a:t>
            </a:r>
            <a:endParaRPr lang="en-US" sz="1400" dirty="0"/>
          </a:p>
        </p:txBody>
      </p:sp>
      <p:sp>
        <p:nvSpPr>
          <p:cNvPr id="30" name="Text 28"/>
          <p:cNvSpPr txBox="1"/>
          <p:nvPr/>
        </p:nvSpPr>
        <p:spPr>
          <a:xfrm>
            <a:off x="6949440" y="3730752"/>
            <a:ext cx="1645920" cy="365760"/>
          </a:xfrm>
          <a:prstGeom prst="rect">
            <a:avLst/>
          </a:prstGeom>
          <a:noFill/>
          <a:ln/>
        </p:spPr>
        <p:txBody>
          <a:bodyPr wrap="square" lIns="0" tIns="0" rIns="0" bIns="0" rtlCol="0" anchor="t"/>
          <a:lstStyle/>
          <a:p>
            <a:pPr indent="0" marL="0">
              <a:buNone/>
            </a:pPr>
            <a:r>
              <a:rPr lang="en-US" sz="1050" dirty="0">
                <a:solidFill>
                  <a:srgbClr val="5A6577"/>
                </a:solidFill>
                <a:latin typeface="Segoe UI" pitchFamily="34" charset="0"/>
                <a:ea typeface="Segoe UI" pitchFamily="34" charset="-122"/>
                <a:cs typeface="Segoe UI" pitchFamily="34" charset="-120"/>
              </a:rPr>
              <a:t>ID + proof on the case</a:t>
            </a:r>
            <a:endParaRPr lang="en-US" sz="105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Browser frame"/>
          <p:cNvSpPr/>
          <p:nvPr/>
        </p:nvSpPr>
        <p:spPr>
          <a:xfrm>
            <a:off x="411480" y="320040"/>
            <a:ext cx="4244151" cy="4343400"/>
          </a:xfrm>
          <a:prstGeom prst="roundRect">
            <a:avLst>
              <a:gd name="adj" fmla="val 2585"/>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3" name="Browser bar"/>
          <p:cNvSpPr/>
          <p:nvPr/>
        </p:nvSpPr>
        <p:spPr>
          <a:xfrm>
            <a:off x="429768" y="338328"/>
            <a:ext cx="4207575" cy="256032"/>
          </a:xfrm>
          <a:prstGeom prst="rect">
            <a:avLst/>
          </a:prstGeom>
          <a:solidFill>
            <a:srgbClr val="EAF0F8"/>
          </a:solidFill>
          <a:ln w="12700">
            <a:solidFill>
              <a:srgbClr val="EAF0F8"/>
            </a:solidFill>
            <a:prstDash val="solid"/>
          </a:ln>
        </p:spPr>
      </p:sp>
      <p:sp>
        <p:nvSpPr>
          <p:cNvPr id="4" name="Browser dot 1"/>
          <p:cNvSpPr/>
          <p:nvPr/>
        </p:nvSpPr>
        <p:spPr>
          <a:xfrm>
            <a:off x="521208" y="411480"/>
            <a:ext cx="82296" cy="82296"/>
          </a:xfrm>
          <a:prstGeom prst="ellipse">
            <a:avLst/>
          </a:prstGeom>
          <a:solidFill>
            <a:srgbClr val="E46A5E"/>
          </a:solidFill>
          <a:ln w="12700">
            <a:solidFill>
              <a:srgbClr val="E46A5E"/>
            </a:solidFill>
            <a:prstDash val="solid"/>
          </a:ln>
        </p:spPr>
      </p:sp>
      <p:sp>
        <p:nvSpPr>
          <p:cNvPr id="5" name="Browser dot 2"/>
          <p:cNvSpPr/>
          <p:nvPr/>
        </p:nvSpPr>
        <p:spPr>
          <a:xfrm>
            <a:off x="649224" y="411480"/>
            <a:ext cx="82296" cy="82296"/>
          </a:xfrm>
          <a:prstGeom prst="ellipse">
            <a:avLst/>
          </a:prstGeom>
          <a:solidFill>
            <a:srgbClr val="F2B84B"/>
          </a:solidFill>
          <a:ln w="12700">
            <a:solidFill>
              <a:srgbClr val="F2B84B"/>
            </a:solidFill>
            <a:prstDash val="solid"/>
          </a:ln>
        </p:spPr>
      </p:sp>
      <p:sp>
        <p:nvSpPr>
          <p:cNvPr id="6" name="Browser dot 3"/>
          <p:cNvSpPr/>
          <p:nvPr/>
        </p:nvSpPr>
        <p:spPr>
          <a:xfrm>
            <a:off x="777240" y="411480"/>
            <a:ext cx="82296" cy="82296"/>
          </a:xfrm>
          <a:prstGeom prst="ellipse">
            <a:avLst/>
          </a:prstGeom>
          <a:solidFill>
            <a:srgbClr val="5DBB63"/>
          </a:solidFill>
          <a:ln w="12700">
            <a:solidFill>
              <a:srgbClr val="5DBB63"/>
            </a:solidFill>
            <a:prstDash val="solid"/>
          </a:ln>
        </p:spPr>
      </p:sp>
      <p:sp>
        <p:nvSpPr>
          <p:cNvPr id="7" name="Address bar"/>
          <p:cNvSpPr/>
          <p:nvPr/>
        </p:nvSpPr>
        <p:spPr>
          <a:xfrm>
            <a:off x="960120" y="374904"/>
            <a:ext cx="3291840" cy="164592"/>
          </a:xfrm>
          <a:prstGeom prst="roundRect">
            <a:avLst>
              <a:gd name="adj" fmla="val 50000"/>
            </a:avLst>
          </a:prstGeom>
          <a:solidFill>
            <a:srgbClr val="FFFFFF"/>
          </a:solidFill>
          <a:ln w="6350">
            <a:solidFill>
              <a:srgbClr val="D6DFEB"/>
            </a:solidFill>
            <a:prstDash val="solid"/>
          </a:ln>
        </p:spPr>
      </p:sp>
      <p:sp>
        <p:nvSpPr>
          <p:cNvPr id="8" name="Text 6"/>
          <p:cNvSpPr txBox="1"/>
          <p:nvPr/>
        </p:nvSpPr>
        <p:spPr>
          <a:xfrm>
            <a:off x="1051560" y="374904"/>
            <a:ext cx="3154680" cy="164592"/>
          </a:xfrm>
          <a:prstGeom prst="rect">
            <a:avLst/>
          </a:prstGeom>
          <a:noFill/>
          <a:ln/>
        </p:spPr>
        <p:txBody>
          <a:bodyPr wrap="square" lIns="0" tIns="0" rIns="0" bIns="0" rtlCol="0" anchor="ctr"/>
          <a:lstStyle/>
          <a:p>
            <a:pPr indent="0" marL="0">
              <a:buNone/>
            </a:pPr>
            <a:r>
              <a:rPr lang="en-US" sz="700" dirty="0">
                <a:solidFill>
                  <a:srgbClr val="5A6577"/>
                </a:solidFill>
                <a:latin typeface="Segoe UI" pitchFamily="34" charset="0"/>
                <a:ea typeface="Segoe UI" pitchFamily="34" charset="-122"/>
                <a:cs typeface="Segoe UI" pitchFamily="34" charset="-120"/>
              </a:rPr>
              <a:t>Service Console · Case</a:t>
            </a:r>
            <a:endParaRPr lang="en-US" sz="700" dirty="0"/>
          </a:p>
        </p:txBody>
      </p:sp>
      <p:pic>
        <p:nvPicPr>
          <p:cNvPr id="9" name="Screenshot 02-case.jpg" descr="New member application case in the service console">    </p:cNvPr>
          <p:cNvPicPr>
            <a:picLocks noChangeAspect="1"/>
          </p:cNvPicPr>
          <p:nvPr/>
        </p:nvPicPr>
        <p:blipFill>
          <a:blip r:embed="rId1"/>
          <a:stretch>
            <a:fillRect/>
          </a:stretch>
        </p:blipFill>
        <p:spPr>
          <a:xfrm>
            <a:off x="411480" y="594360"/>
            <a:ext cx="4244151" cy="4069080"/>
          </a:xfrm>
          <a:prstGeom prst="rect">
            <a:avLst/>
          </a:prstGeom>
        </p:spPr>
      </p:pic>
      <p:sp>
        <p:nvSpPr>
          <p:cNvPr id="10" name="Text 7"/>
          <p:cNvSpPr txBox="1"/>
          <p:nvPr/>
        </p:nvSpPr>
        <p:spPr>
          <a:xfrm>
            <a:off x="5067111" y="502920"/>
            <a:ext cx="3665409"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2 · JOIN AND APPLY</a:t>
            </a:r>
            <a:endParaRPr lang="en-US" sz="900" dirty="0"/>
          </a:p>
        </p:txBody>
      </p:sp>
      <p:sp>
        <p:nvSpPr>
          <p:cNvPr id="11" name="Text 8"/>
          <p:cNvSpPr txBox="1"/>
          <p:nvPr/>
        </p:nvSpPr>
        <p:spPr>
          <a:xfrm>
            <a:off x="5067111" y="777240"/>
            <a:ext cx="3665409" cy="1143000"/>
          </a:xfrm>
          <a:prstGeom prst="rect">
            <a:avLst/>
          </a:prstGeom>
          <a:noFill/>
          <a:ln/>
        </p:spPr>
        <p:txBody>
          <a:bodyPr wrap="square" lIns="0" tIns="0" rIns="0" bIns="0" rtlCol="0" anchor="t">
            <a:normAutofit/>
          </a:bodyPr>
          <a:lstStyle/>
          <a:p>
            <a:pPr indent="0" marL="0">
              <a:buNone/>
            </a:pPr>
            <a:r>
              <a:rPr lang="en-US" sz="2400" dirty="0">
                <a:solidFill>
                  <a:srgbClr val="043370"/>
                </a:solidFill>
                <a:latin typeface="Segoe UI Semibold" pitchFamily="34" charset="0"/>
                <a:ea typeface="Segoe UI Semibold" pitchFamily="34" charset="-122"/>
                <a:cs typeface="Segoe UI Semibold" pitchFamily="34" charset="-120"/>
              </a:rPr>
              <a:t>The work arrives ready for a banker</a:t>
            </a:r>
            <a:endParaRPr lang="en-US" sz="2400" dirty="0"/>
          </a:p>
        </p:txBody>
      </p:sp>
      <p:sp>
        <p:nvSpPr>
          <p:cNvPr id="12" name="Text 9"/>
          <p:cNvSpPr txBox="1"/>
          <p:nvPr/>
        </p:nvSpPr>
        <p:spPr>
          <a:xfrm>
            <a:off x="5067111" y="1920240"/>
            <a:ext cx="3665409" cy="365760"/>
          </a:xfrm>
          <a:prstGeom prst="rect">
            <a:avLst/>
          </a:prstGeom>
          <a:noFill/>
          <a:ln/>
        </p:spPr>
        <p:txBody>
          <a:bodyPr wrap="square" lIns="0" tIns="0" rIns="0" bIns="0" rtlCol="0" anchor="t"/>
          <a:lstStyle/>
          <a:p>
            <a:pPr indent="0" marL="0">
              <a:buNone/>
            </a:pPr>
            <a:r>
              <a:rPr lang="en-US" sz="1100" i="1" dirty="0">
                <a:solidFill>
                  <a:srgbClr val="5A6577"/>
                </a:solidFill>
                <a:latin typeface="Segoe UI" pitchFamily="34" charset="0"/>
                <a:ea typeface="Segoe UI" pitchFamily="34" charset="-122"/>
                <a:cs typeface="Segoe UI" pitchFamily="34" charset="-120"/>
              </a:rPr>
              <a:t>New member application case in the service console</a:t>
            </a:r>
            <a:endParaRPr lang="en-US" sz="1100" dirty="0"/>
          </a:p>
        </p:txBody>
      </p:sp>
      <p:sp>
        <p:nvSpPr>
          <p:cNvPr id="13" name="Point 1"/>
          <p:cNvSpPr/>
          <p:nvPr/>
        </p:nvSpPr>
        <p:spPr>
          <a:xfrm>
            <a:off x="5067111" y="2377440"/>
            <a:ext cx="329184" cy="329184"/>
          </a:xfrm>
          <a:prstGeom prst="roundRect">
            <a:avLst>
              <a:gd name="adj" fmla="val 22222"/>
            </a:avLst>
          </a:prstGeom>
          <a:solidFill>
            <a:srgbClr val="ED780F"/>
          </a:solidFill>
          <a:ln w="12700">
            <a:solidFill>
              <a:srgbClr val="ED780F"/>
            </a:solidFill>
            <a:prstDash val="solid"/>
          </a:ln>
        </p:spPr>
      </p:sp>
      <p:sp>
        <p:nvSpPr>
          <p:cNvPr id="14" name="Text 11"/>
          <p:cNvSpPr txBox="1"/>
          <p:nvPr/>
        </p:nvSpPr>
        <p:spPr>
          <a:xfrm>
            <a:off x="5067111" y="237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15" name="Text 12"/>
          <p:cNvSpPr txBox="1"/>
          <p:nvPr/>
        </p:nvSpPr>
        <p:spPr>
          <a:xfrm>
            <a:off x="5542599" y="235915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Routed by your case assignment rules</a:t>
            </a:r>
            <a:endParaRPr lang="en-US" sz="1300" dirty="0"/>
          </a:p>
        </p:txBody>
      </p:sp>
      <p:sp>
        <p:nvSpPr>
          <p:cNvPr id="16" name="Point 2"/>
          <p:cNvSpPr/>
          <p:nvPr/>
        </p:nvSpPr>
        <p:spPr>
          <a:xfrm>
            <a:off x="5067111" y="3108960"/>
            <a:ext cx="329184" cy="329184"/>
          </a:xfrm>
          <a:prstGeom prst="roundRect">
            <a:avLst>
              <a:gd name="adj" fmla="val 22222"/>
            </a:avLst>
          </a:prstGeom>
          <a:solidFill>
            <a:srgbClr val="ED780F"/>
          </a:solidFill>
          <a:ln w="12700">
            <a:solidFill>
              <a:srgbClr val="ED780F"/>
            </a:solidFill>
            <a:prstDash val="solid"/>
          </a:ln>
        </p:spPr>
      </p:sp>
      <p:sp>
        <p:nvSpPr>
          <p:cNvPr id="17" name="Text 14"/>
          <p:cNvSpPr txBox="1"/>
          <p:nvPr/>
        </p:nvSpPr>
        <p:spPr>
          <a:xfrm>
            <a:off x="5067111" y="3108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8" name="Text 15"/>
          <p:cNvSpPr txBox="1"/>
          <p:nvPr/>
        </p:nvSpPr>
        <p:spPr>
          <a:xfrm>
            <a:off x="5542599" y="309067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Guided actions on the right, Open Deposit Accounts first</a:t>
            </a:r>
            <a:endParaRPr lang="en-US" sz="1300" dirty="0"/>
          </a:p>
        </p:txBody>
      </p:sp>
      <p:sp>
        <p:nvSpPr>
          <p:cNvPr id="19" name="Point 3"/>
          <p:cNvSpPr/>
          <p:nvPr/>
        </p:nvSpPr>
        <p:spPr>
          <a:xfrm>
            <a:off x="5067111" y="3840480"/>
            <a:ext cx="329184" cy="329184"/>
          </a:xfrm>
          <a:prstGeom prst="roundRect">
            <a:avLst>
              <a:gd name="adj" fmla="val 22222"/>
            </a:avLst>
          </a:prstGeom>
          <a:solidFill>
            <a:srgbClr val="ED780F"/>
          </a:solidFill>
          <a:ln w="12700">
            <a:solidFill>
              <a:srgbClr val="ED780F"/>
            </a:solidFill>
            <a:prstDash val="solid"/>
          </a:ln>
        </p:spPr>
      </p:sp>
      <p:sp>
        <p:nvSpPr>
          <p:cNvPr id="20" name="Text 17"/>
          <p:cNvSpPr txBox="1"/>
          <p:nvPr/>
        </p:nvSpPr>
        <p:spPr>
          <a:xfrm>
            <a:off x="5067111" y="38404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1" name="Text 18"/>
          <p:cNvSpPr txBox="1"/>
          <p:nvPr/>
        </p:nvSpPr>
        <p:spPr>
          <a:xfrm>
            <a:off x="5542599" y="3822192"/>
            <a:ext cx="3189921"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Service Rep Assistant follows the Member Onboarding topic</a:t>
            </a:r>
            <a:endParaRPr lang="en-US" sz="13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822960"/>
            <a:ext cx="2743200" cy="2011680"/>
          </a:xfrm>
          <a:prstGeom prst="rect">
            <a:avLst/>
          </a:prstGeom>
          <a:noFill/>
          <a:ln/>
        </p:spPr>
        <p:txBody>
          <a:bodyPr wrap="square" lIns="0" tIns="0" rIns="0" bIns="0" rtlCol="0" anchor="ctr"/>
          <a:lstStyle/>
          <a:p>
            <a:pPr indent="0" marL="0">
              <a:buNone/>
            </a:pPr>
            <a:r>
              <a:rPr lang="en-US" sz="13000" dirty="0">
                <a:solidFill>
                  <a:srgbClr val="ED780F"/>
                </a:solidFill>
                <a:latin typeface="Segoe UI Semibold" pitchFamily="34" charset="0"/>
                <a:ea typeface="Segoe UI Semibold" pitchFamily="34" charset="-122"/>
                <a:cs typeface="Segoe UI Semibold" pitchFamily="34" charset="-120"/>
              </a:rPr>
              <a:t>03</a:t>
            </a:r>
            <a:endParaRPr lang="en-US" sz="13000" dirty="0"/>
          </a:p>
        </p:txBody>
      </p:sp>
      <p:sp>
        <p:nvSpPr>
          <p:cNvPr id="3" name="Divider rule"/>
          <p:cNvSpPr/>
          <p:nvPr/>
        </p:nvSpPr>
        <p:spPr>
          <a:xfrm>
            <a:off x="3246120" y="1143000"/>
            <a:ext cx="0" cy="1371600"/>
          </a:xfrm>
          <a:prstGeom prst="line">
            <a:avLst/>
          </a:prstGeom>
          <a:noFill/>
          <a:ln w="15875">
            <a:solidFill>
              <a:srgbClr val="3A5A8C"/>
            </a:solidFill>
            <a:prstDash val="solid"/>
          </a:ln>
        </p:spPr>
      </p:sp>
      <p:sp>
        <p:nvSpPr>
          <p:cNvPr id="4" name="Text 2"/>
          <p:cNvSpPr txBox="1"/>
          <p:nvPr/>
        </p:nvSpPr>
        <p:spPr>
          <a:xfrm>
            <a:off x="3566160" y="1234440"/>
            <a:ext cx="5120640" cy="219456"/>
          </a:xfrm>
          <a:prstGeom prst="rect">
            <a:avLst/>
          </a:prstGeom>
          <a:noFill/>
          <a:ln/>
        </p:spPr>
        <p:txBody>
          <a:bodyPr wrap="square" lIns="0" tIns="0" rIns="0" bIns="0" rtlCol="0" anchor="t"/>
          <a:lstStyle/>
          <a:p>
            <a:pPr indent="0" marL="0">
              <a:buNone/>
            </a:pPr>
            <a:r>
              <a:rPr lang="en-US" sz="900" b="1" spc="250" kern="0" dirty="0">
                <a:solidFill>
                  <a:srgbClr val="ED780F"/>
                </a:solidFill>
                <a:latin typeface="Segoe UI" pitchFamily="34" charset="0"/>
                <a:ea typeface="Segoe UI" pitchFamily="34" charset="-122"/>
                <a:cs typeface="Segoe UI" pitchFamily="34" charset="-120"/>
              </a:rPr>
              <a:t>ACT 3 · SERVICE CLOUD</a:t>
            </a:r>
            <a:endParaRPr lang="en-US" sz="900" dirty="0"/>
          </a:p>
        </p:txBody>
      </p:sp>
      <p:sp>
        <p:nvSpPr>
          <p:cNvPr id="5" name="Text 3"/>
          <p:cNvSpPr txBox="1"/>
          <p:nvPr/>
        </p:nvSpPr>
        <p:spPr>
          <a:xfrm>
            <a:off x="3566160" y="1554480"/>
            <a:ext cx="5120640" cy="1188720"/>
          </a:xfrm>
          <a:prstGeom prst="rect">
            <a:avLst/>
          </a:prstGeom>
          <a:noFill/>
          <a:ln/>
        </p:spPr>
        <p:txBody>
          <a:bodyPr wrap="square" lIns="0" tIns="0" rIns="0" bIns="0" rtlCol="0" anchor="t">
            <a:normAutofit/>
          </a:bodyPr>
          <a:lstStyle/>
          <a:p>
            <a:pPr indent="0" marL="0">
              <a:buNone/>
            </a:pPr>
            <a:r>
              <a:rPr lang="en-US" sz="3200" dirty="0">
                <a:solidFill>
                  <a:srgbClr val="FFFFFF"/>
                </a:solidFill>
                <a:latin typeface="Segoe UI Semibold" pitchFamily="34" charset="0"/>
                <a:ea typeface="Segoe UI Semibold" pitchFamily="34" charset="-122"/>
                <a:cs typeface="Segoe UI Semibold" pitchFamily="34" charset="-120"/>
              </a:rPr>
              <a:t>The banker opens the accounts</a:t>
            </a:r>
            <a:endParaRPr lang="en-US" sz="3200" dirty="0"/>
          </a:p>
        </p:txBody>
      </p:sp>
      <p:sp>
        <p:nvSpPr>
          <p:cNvPr id="6" name="Tracker 1"/>
          <p:cNvSpPr/>
          <p:nvPr/>
        </p:nvSpPr>
        <p:spPr>
          <a:xfrm>
            <a:off x="457200" y="3977640"/>
            <a:ext cx="1554480" cy="54864"/>
          </a:xfrm>
          <a:prstGeom prst="rect">
            <a:avLst/>
          </a:prstGeom>
          <a:solidFill>
            <a:srgbClr val="2B4C7E"/>
          </a:solidFill>
          <a:ln w="12700">
            <a:solidFill>
              <a:srgbClr val="2B4C7E"/>
            </a:solidFill>
            <a:prstDash val="solid"/>
          </a:ln>
        </p:spPr>
      </p:sp>
      <p:sp>
        <p:nvSpPr>
          <p:cNvPr id="7" name="Text 5"/>
          <p:cNvSpPr txBox="1"/>
          <p:nvPr/>
        </p:nvSpPr>
        <p:spPr>
          <a:xfrm>
            <a:off x="457200"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1  Targeting</a:t>
            </a:r>
            <a:endParaRPr lang="en-US" sz="900" dirty="0"/>
          </a:p>
        </p:txBody>
      </p:sp>
      <p:sp>
        <p:nvSpPr>
          <p:cNvPr id="8" name="Tracker 2"/>
          <p:cNvSpPr/>
          <p:nvPr/>
        </p:nvSpPr>
        <p:spPr>
          <a:xfrm>
            <a:off x="2121408" y="3977640"/>
            <a:ext cx="1554480" cy="54864"/>
          </a:xfrm>
          <a:prstGeom prst="rect">
            <a:avLst/>
          </a:prstGeom>
          <a:solidFill>
            <a:srgbClr val="2B4C7E"/>
          </a:solidFill>
          <a:ln w="12700">
            <a:solidFill>
              <a:srgbClr val="2B4C7E"/>
            </a:solidFill>
            <a:prstDash val="solid"/>
          </a:ln>
        </p:spPr>
      </p:sp>
      <p:sp>
        <p:nvSpPr>
          <p:cNvPr id="9" name="Text 7"/>
          <p:cNvSpPr txBox="1"/>
          <p:nvPr/>
        </p:nvSpPr>
        <p:spPr>
          <a:xfrm>
            <a:off x="2121408"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2  Join and apply</a:t>
            </a:r>
            <a:endParaRPr lang="en-US" sz="900" dirty="0"/>
          </a:p>
        </p:txBody>
      </p:sp>
      <p:sp>
        <p:nvSpPr>
          <p:cNvPr id="10" name="Tracker 3"/>
          <p:cNvSpPr/>
          <p:nvPr/>
        </p:nvSpPr>
        <p:spPr>
          <a:xfrm>
            <a:off x="3785616" y="3977640"/>
            <a:ext cx="1554480" cy="54864"/>
          </a:xfrm>
          <a:prstGeom prst="rect">
            <a:avLst/>
          </a:prstGeom>
          <a:solidFill>
            <a:srgbClr val="ED780F"/>
          </a:solidFill>
          <a:ln w="12700">
            <a:solidFill>
              <a:srgbClr val="ED780F"/>
            </a:solidFill>
            <a:prstDash val="solid"/>
          </a:ln>
        </p:spPr>
      </p:sp>
      <p:sp>
        <p:nvSpPr>
          <p:cNvPr id="11" name="Text 9"/>
          <p:cNvSpPr txBox="1"/>
          <p:nvPr/>
        </p:nvSpPr>
        <p:spPr>
          <a:xfrm>
            <a:off x="3785616" y="4114800"/>
            <a:ext cx="1554480" cy="228600"/>
          </a:xfrm>
          <a:prstGeom prst="rect">
            <a:avLst/>
          </a:prstGeom>
          <a:noFill/>
          <a:ln/>
        </p:spPr>
        <p:txBody>
          <a:bodyPr wrap="square" lIns="0" tIns="0" rIns="0" bIns="0" rtlCol="0" anchor="t"/>
          <a:lstStyle/>
          <a:p>
            <a:pPr indent="0" marL="0">
              <a:buNone/>
            </a:pPr>
            <a:r>
              <a:rPr lang="en-US" sz="900" b="1" dirty="0">
                <a:solidFill>
                  <a:srgbClr val="FFFFFF"/>
                </a:solidFill>
                <a:latin typeface="Segoe UI" pitchFamily="34" charset="0"/>
                <a:ea typeface="Segoe UI" pitchFamily="34" charset="-122"/>
                <a:cs typeface="Segoe UI" pitchFamily="34" charset="-120"/>
              </a:rPr>
              <a:t>3  Open accounts</a:t>
            </a:r>
            <a:endParaRPr lang="en-US" sz="900" dirty="0"/>
          </a:p>
        </p:txBody>
      </p:sp>
      <p:sp>
        <p:nvSpPr>
          <p:cNvPr id="12" name="Tracker 4"/>
          <p:cNvSpPr/>
          <p:nvPr/>
        </p:nvSpPr>
        <p:spPr>
          <a:xfrm>
            <a:off x="5449824" y="3977640"/>
            <a:ext cx="1554480" cy="54864"/>
          </a:xfrm>
          <a:prstGeom prst="rect">
            <a:avLst/>
          </a:prstGeom>
          <a:solidFill>
            <a:srgbClr val="2B4C7E"/>
          </a:solidFill>
          <a:ln w="12700">
            <a:solidFill>
              <a:srgbClr val="2B4C7E"/>
            </a:solidFill>
            <a:prstDash val="solid"/>
          </a:ln>
        </p:spPr>
      </p:sp>
      <p:sp>
        <p:nvSpPr>
          <p:cNvPr id="13" name="Text 11"/>
          <p:cNvSpPr txBox="1"/>
          <p:nvPr/>
        </p:nvSpPr>
        <p:spPr>
          <a:xfrm>
            <a:off x="5449824"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4  First 30 days</a:t>
            </a:r>
            <a:endParaRPr lang="en-US" sz="900" dirty="0"/>
          </a:p>
        </p:txBody>
      </p:sp>
      <p:sp>
        <p:nvSpPr>
          <p:cNvPr id="14" name="Tracker 5"/>
          <p:cNvSpPr/>
          <p:nvPr/>
        </p:nvSpPr>
        <p:spPr>
          <a:xfrm>
            <a:off x="7114032" y="3977640"/>
            <a:ext cx="1554480" cy="54864"/>
          </a:xfrm>
          <a:prstGeom prst="rect">
            <a:avLst/>
          </a:prstGeom>
          <a:solidFill>
            <a:srgbClr val="2B4C7E"/>
          </a:solidFill>
          <a:ln w="12700">
            <a:solidFill>
              <a:srgbClr val="2B4C7E"/>
            </a:solidFill>
            <a:prstDash val="solid"/>
          </a:ln>
        </p:spPr>
      </p:sp>
      <p:sp>
        <p:nvSpPr>
          <p:cNvPr id="15" name="Text 13"/>
          <p:cNvSpPr txBox="1"/>
          <p:nvPr/>
        </p:nvSpPr>
        <p:spPr>
          <a:xfrm>
            <a:off x="7114032"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5  Measure and grow</a:t>
            </a:r>
            <a:endParaRPr lang="en-US" sz="9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EA3C4"/>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Browser frame"/>
          <p:cNvSpPr/>
          <p:nvPr/>
        </p:nvSpPr>
        <p:spPr>
          <a:xfrm>
            <a:off x="411480" y="320040"/>
            <a:ext cx="4892040" cy="3148394"/>
          </a:xfrm>
          <a:prstGeom prst="roundRect">
            <a:avLst>
              <a:gd name="adj" fmla="val 3485"/>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3" name="Browser bar"/>
          <p:cNvSpPr/>
          <p:nvPr/>
        </p:nvSpPr>
        <p:spPr>
          <a:xfrm>
            <a:off x="429768" y="338328"/>
            <a:ext cx="4855464" cy="256032"/>
          </a:xfrm>
          <a:prstGeom prst="rect">
            <a:avLst/>
          </a:prstGeom>
          <a:solidFill>
            <a:srgbClr val="EAF0F8"/>
          </a:solidFill>
          <a:ln w="12700">
            <a:solidFill>
              <a:srgbClr val="EAF0F8"/>
            </a:solidFill>
            <a:prstDash val="solid"/>
          </a:ln>
        </p:spPr>
      </p:sp>
      <p:sp>
        <p:nvSpPr>
          <p:cNvPr id="4" name="Browser dot 1"/>
          <p:cNvSpPr/>
          <p:nvPr/>
        </p:nvSpPr>
        <p:spPr>
          <a:xfrm>
            <a:off x="521208" y="411480"/>
            <a:ext cx="82296" cy="82296"/>
          </a:xfrm>
          <a:prstGeom prst="ellipse">
            <a:avLst/>
          </a:prstGeom>
          <a:solidFill>
            <a:srgbClr val="E46A5E"/>
          </a:solidFill>
          <a:ln w="12700">
            <a:solidFill>
              <a:srgbClr val="E46A5E"/>
            </a:solidFill>
            <a:prstDash val="solid"/>
          </a:ln>
        </p:spPr>
      </p:sp>
      <p:sp>
        <p:nvSpPr>
          <p:cNvPr id="5" name="Browser dot 2"/>
          <p:cNvSpPr/>
          <p:nvPr/>
        </p:nvSpPr>
        <p:spPr>
          <a:xfrm>
            <a:off x="649224" y="411480"/>
            <a:ext cx="82296" cy="82296"/>
          </a:xfrm>
          <a:prstGeom prst="ellipse">
            <a:avLst/>
          </a:prstGeom>
          <a:solidFill>
            <a:srgbClr val="F2B84B"/>
          </a:solidFill>
          <a:ln w="12700">
            <a:solidFill>
              <a:srgbClr val="F2B84B"/>
            </a:solidFill>
            <a:prstDash val="solid"/>
          </a:ln>
        </p:spPr>
      </p:sp>
      <p:sp>
        <p:nvSpPr>
          <p:cNvPr id="6" name="Browser dot 3"/>
          <p:cNvSpPr/>
          <p:nvPr/>
        </p:nvSpPr>
        <p:spPr>
          <a:xfrm>
            <a:off x="777240" y="411480"/>
            <a:ext cx="82296" cy="82296"/>
          </a:xfrm>
          <a:prstGeom prst="ellipse">
            <a:avLst/>
          </a:prstGeom>
          <a:solidFill>
            <a:srgbClr val="5DBB63"/>
          </a:solidFill>
          <a:ln w="12700">
            <a:solidFill>
              <a:srgbClr val="5DBB63"/>
            </a:solidFill>
            <a:prstDash val="solid"/>
          </a:ln>
        </p:spPr>
      </p:sp>
      <p:sp>
        <p:nvSpPr>
          <p:cNvPr id="7" name="Address bar"/>
          <p:cNvSpPr/>
          <p:nvPr/>
        </p:nvSpPr>
        <p:spPr>
          <a:xfrm>
            <a:off x="960120" y="374904"/>
            <a:ext cx="3291840" cy="164592"/>
          </a:xfrm>
          <a:prstGeom prst="roundRect">
            <a:avLst>
              <a:gd name="adj" fmla="val 50000"/>
            </a:avLst>
          </a:prstGeom>
          <a:solidFill>
            <a:srgbClr val="FFFFFF"/>
          </a:solidFill>
          <a:ln w="6350">
            <a:solidFill>
              <a:srgbClr val="D6DFEB"/>
            </a:solidFill>
            <a:prstDash val="solid"/>
          </a:ln>
        </p:spPr>
      </p:sp>
      <p:sp>
        <p:nvSpPr>
          <p:cNvPr id="8" name="Text 6"/>
          <p:cNvSpPr txBox="1"/>
          <p:nvPr/>
        </p:nvSpPr>
        <p:spPr>
          <a:xfrm>
            <a:off x="1051560" y="374904"/>
            <a:ext cx="3154680" cy="164592"/>
          </a:xfrm>
          <a:prstGeom prst="rect">
            <a:avLst/>
          </a:prstGeom>
          <a:noFill/>
          <a:ln/>
        </p:spPr>
        <p:txBody>
          <a:bodyPr wrap="square" lIns="0" tIns="0" rIns="0" bIns="0" rtlCol="0" anchor="ctr"/>
          <a:lstStyle/>
          <a:p>
            <a:pPr indent="0" marL="0">
              <a:buNone/>
            </a:pPr>
            <a:r>
              <a:rPr lang="en-US" sz="700" dirty="0">
                <a:solidFill>
                  <a:srgbClr val="5A6577"/>
                </a:solidFill>
                <a:latin typeface="Segoe UI" pitchFamily="34" charset="0"/>
                <a:ea typeface="Segoe UI" pitchFamily="34" charset="-122"/>
                <a:cs typeface="Segoe UI" pitchFamily="34" charset="-120"/>
              </a:rPr>
              <a:t>Service Console · Open Deposit Accounts</a:t>
            </a:r>
            <a:endParaRPr lang="en-US" sz="700" dirty="0"/>
          </a:p>
        </p:txBody>
      </p:sp>
      <p:pic>
        <p:nvPicPr>
          <p:cNvPr id="9" name="Screenshot 14-banker-products.jpg" descr="Open Deposit Accounts · Step 1 of 3: Products">    </p:cNvPr>
          <p:cNvPicPr>
            <a:picLocks noChangeAspect="1"/>
          </p:cNvPicPr>
          <p:nvPr/>
        </p:nvPicPr>
        <p:blipFill>
          <a:blip r:embed="rId1"/>
          <a:stretch>
            <a:fillRect/>
          </a:stretch>
        </p:blipFill>
        <p:spPr>
          <a:xfrm>
            <a:off x="411480" y="594360"/>
            <a:ext cx="4892040" cy="2874074"/>
          </a:xfrm>
          <a:prstGeom prst="rect">
            <a:avLst/>
          </a:prstGeom>
        </p:spPr>
      </p:pic>
      <p:sp>
        <p:nvSpPr>
          <p:cNvPr id="10" name="Text 7"/>
          <p:cNvSpPr txBox="1"/>
          <p:nvPr/>
        </p:nvSpPr>
        <p:spPr>
          <a:xfrm>
            <a:off x="5715000" y="502920"/>
            <a:ext cx="3017520"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3 · OPEN ACCOUNTS</a:t>
            </a:r>
            <a:endParaRPr lang="en-US" sz="900" dirty="0"/>
          </a:p>
        </p:txBody>
      </p:sp>
      <p:sp>
        <p:nvSpPr>
          <p:cNvPr id="11" name="Text 8"/>
          <p:cNvSpPr txBox="1"/>
          <p:nvPr/>
        </p:nvSpPr>
        <p:spPr>
          <a:xfrm>
            <a:off x="5715000" y="777240"/>
            <a:ext cx="3017520" cy="1143000"/>
          </a:xfrm>
          <a:prstGeom prst="rect">
            <a:avLst/>
          </a:prstGeom>
          <a:noFill/>
          <a:ln/>
        </p:spPr>
        <p:txBody>
          <a:bodyPr wrap="square" lIns="0" tIns="0" rIns="0" bIns="0" rtlCol="0" anchor="t">
            <a:normAutofit/>
          </a:bodyPr>
          <a:lstStyle/>
          <a:p>
            <a:pPr indent="0" marL="0">
              <a:buNone/>
            </a:pPr>
            <a:r>
              <a:rPr lang="en-US" sz="2400" dirty="0">
                <a:solidFill>
                  <a:srgbClr val="043370"/>
                </a:solidFill>
                <a:latin typeface="Segoe UI Semibold" pitchFamily="34" charset="0"/>
                <a:ea typeface="Segoe UI Semibold" pitchFamily="34" charset="-122"/>
                <a:cs typeface="Segoe UI Semibold" pitchFamily="34" charset="-120"/>
              </a:rPr>
              <a:t>The banker confirms the products</a:t>
            </a:r>
            <a:endParaRPr lang="en-US" sz="2400" dirty="0"/>
          </a:p>
        </p:txBody>
      </p:sp>
      <p:sp>
        <p:nvSpPr>
          <p:cNvPr id="12" name="Text 9"/>
          <p:cNvSpPr txBox="1"/>
          <p:nvPr/>
        </p:nvSpPr>
        <p:spPr>
          <a:xfrm>
            <a:off x="5715000" y="1920240"/>
            <a:ext cx="3017520" cy="365760"/>
          </a:xfrm>
          <a:prstGeom prst="rect">
            <a:avLst/>
          </a:prstGeom>
          <a:noFill/>
          <a:ln/>
        </p:spPr>
        <p:txBody>
          <a:bodyPr wrap="square" lIns="0" tIns="0" rIns="0" bIns="0" rtlCol="0" anchor="t"/>
          <a:lstStyle/>
          <a:p>
            <a:pPr indent="0" marL="0">
              <a:buNone/>
            </a:pPr>
            <a:r>
              <a:rPr lang="en-US" sz="1100" i="1" dirty="0">
                <a:solidFill>
                  <a:srgbClr val="5A6577"/>
                </a:solidFill>
                <a:latin typeface="Segoe UI" pitchFamily="34" charset="0"/>
                <a:ea typeface="Segoe UI" pitchFamily="34" charset="-122"/>
                <a:cs typeface="Segoe UI" pitchFamily="34" charset="-120"/>
              </a:rPr>
              <a:t>Open Deposit Accounts · Step 1 of 3: Products</a:t>
            </a:r>
            <a:endParaRPr lang="en-US" sz="1100" dirty="0"/>
          </a:p>
        </p:txBody>
      </p:sp>
      <p:sp>
        <p:nvSpPr>
          <p:cNvPr id="13" name="Point 1"/>
          <p:cNvSpPr/>
          <p:nvPr/>
        </p:nvSpPr>
        <p:spPr>
          <a:xfrm>
            <a:off x="5715000" y="2377440"/>
            <a:ext cx="329184" cy="329184"/>
          </a:xfrm>
          <a:prstGeom prst="roundRect">
            <a:avLst>
              <a:gd name="adj" fmla="val 22222"/>
            </a:avLst>
          </a:prstGeom>
          <a:solidFill>
            <a:srgbClr val="ED780F"/>
          </a:solidFill>
          <a:ln w="12700">
            <a:solidFill>
              <a:srgbClr val="ED780F"/>
            </a:solidFill>
            <a:prstDash val="solid"/>
          </a:ln>
        </p:spPr>
      </p:sp>
      <p:sp>
        <p:nvSpPr>
          <p:cNvPr id="14" name="Text 11"/>
          <p:cNvSpPr txBox="1"/>
          <p:nvPr/>
        </p:nvSpPr>
        <p:spPr>
          <a:xfrm>
            <a:off x="5715000" y="237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15" name="Text 12"/>
          <p:cNvSpPr txBox="1"/>
          <p:nvPr/>
        </p:nvSpPr>
        <p:spPr>
          <a:xfrm>
            <a:off x="6190488" y="2359152"/>
            <a:ext cx="2542032"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Member, eligibility and documents in one view</a:t>
            </a:r>
            <a:endParaRPr lang="en-US" sz="1300" dirty="0"/>
          </a:p>
        </p:txBody>
      </p:sp>
      <p:sp>
        <p:nvSpPr>
          <p:cNvPr id="16" name="Point 2"/>
          <p:cNvSpPr/>
          <p:nvPr/>
        </p:nvSpPr>
        <p:spPr>
          <a:xfrm>
            <a:off x="5715000" y="3108960"/>
            <a:ext cx="329184" cy="329184"/>
          </a:xfrm>
          <a:prstGeom prst="roundRect">
            <a:avLst>
              <a:gd name="adj" fmla="val 22222"/>
            </a:avLst>
          </a:prstGeom>
          <a:solidFill>
            <a:srgbClr val="ED780F"/>
          </a:solidFill>
          <a:ln w="12700">
            <a:solidFill>
              <a:srgbClr val="ED780F"/>
            </a:solidFill>
            <a:prstDash val="solid"/>
          </a:ln>
        </p:spPr>
      </p:sp>
      <p:sp>
        <p:nvSpPr>
          <p:cNvPr id="17" name="Text 14"/>
          <p:cNvSpPr txBox="1"/>
          <p:nvPr/>
        </p:nvSpPr>
        <p:spPr>
          <a:xfrm>
            <a:off x="5715000" y="3108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8" name="Text 15"/>
          <p:cNvSpPr txBox="1"/>
          <p:nvPr/>
        </p:nvSpPr>
        <p:spPr>
          <a:xfrm>
            <a:off x="6190488" y="3090672"/>
            <a:ext cx="2542032"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Savings and checking from his application</a:t>
            </a:r>
            <a:endParaRPr lang="en-US" sz="1300" dirty="0"/>
          </a:p>
        </p:txBody>
      </p:sp>
      <p:sp>
        <p:nvSpPr>
          <p:cNvPr id="19" name="Point 3"/>
          <p:cNvSpPr/>
          <p:nvPr/>
        </p:nvSpPr>
        <p:spPr>
          <a:xfrm>
            <a:off x="5715000" y="3840480"/>
            <a:ext cx="329184" cy="329184"/>
          </a:xfrm>
          <a:prstGeom prst="roundRect">
            <a:avLst>
              <a:gd name="adj" fmla="val 22222"/>
            </a:avLst>
          </a:prstGeom>
          <a:solidFill>
            <a:srgbClr val="ED780F"/>
          </a:solidFill>
          <a:ln w="12700">
            <a:solidFill>
              <a:srgbClr val="ED780F"/>
            </a:solidFill>
            <a:prstDash val="solid"/>
          </a:ln>
        </p:spPr>
      </p:sp>
      <p:sp>
        <p:nvSpPr>
          <p:cNvPr id="20" name="Text 17"/>
          <p:cNvSpPr txBox="1"/>
          <p:nvPr/>
        </p:nvSpPr>
        <p:spPr>
          <a:xfrm>
            <a:off x="5715000" y="38404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1" name="Text 18"/>
          <p:cNvSpPr txBox="1"/>
          <p:nvPr/>
        </p:nvSpPr>
        <p:spPr>
          <a:xfrm>
            <a:off x="6190488" y="3822192"/>
            <a:ext cx="2542032"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Overdraft protection offered here</a:t>
            </a:r>
            <a:endParaRPr lang="en-US" sz="13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320040"/>
            <a:ext cx="8229600"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3 · OPEN ACCOUNTS · STEP 2 OF 3</a:t>
            </a:r>
            <a:endParaRPr lang="en-US" sz="900" dirty="0"/>
          </a:p>
        </p:txBody>
      </p:sp>
      <p:sp>
        <p:nvSpPr>
          <p:cNvPr id="3" name="Text 1"/>
          <p:cNvSpPr txBox="1"/>
          <p:nvPr/>
        </p:nvSpPr>
        <p:spPr>
          <a:xfrm>
            <a:off x="457200" y="566928"/>
            <a:ext cx="8229600" cy="548640"/>
          </a:xfrm>
          <a:prstGeom prst="rect">
            <a:avLst/>
          </a:prstGeom>
          <a:noFill/>
          <a:ln/>
        </p:spPr>
        <p:txBody>
          <a:bodyPr wrap="square" lIns="0" tIns="0" rIns="0" bIns="0" rtlCol="0" anchor="t">
            <a:normAutofit/>
          </a:bodyPr>
          <a:lstStyle/>
          <a:p>
            <a:pPr indent="0" marL="0">
              <a:buNone/>
            </a:pPr>
            <a:r>
              <a:rPr lang="en-US" sz="2600" dirty="0">
                <a:solidFill>
                  <a:srgbClr val="043370"/>
                </a:solidFill>
                <a:latin typeface="Segoe UI Semibold" pitchFamily="34" charset="0"/>
                <a:ea typeface="Segoe UI Semibold" pitchFamily="34" charset="-122"/>
                <a:cs typeface="Segoe UI Semibold" pitchFamily="34" charset="-120"/>
              </a:rPr>
              <a:t>KYC and identity in one step</a:t>
            </a:r>
            <a:endParaRPr lang="en-US" sz="2600" dirty="0"/>
          </a:p>
        </p:txBody>
      </p:sp>
      <p:sp>
        <p:nvSpPr>
          <p:cNvPr id="4" name="Questions card"/>
          <p:cNvSpPr/>
          <p:nvPr/>
        </p:nvSpPr>
        <p:spPr>
          <a:xfrm>
            <a:off x="457200" y="1280160"/>
            <a:ext cx="3291840" cy="3246120"/>
          </a:xfrm>
          <a:prstGeom prst="roundRect">
            <a:avLst>
              <a:gd name="adj" fmla="val 3380"/>
            </a:avLst>
          </a:prstGeom>
          <a:solidFill>
            <a:srgbClr val="043370"/>
          </a:solidFill>
          <a:ln w="9525">
            <a:solidFill>
              <a:srgbClr val="043370"/>
            </a:solidFill>
            <a:prstDash val="solid"/>
          </a:ln>
          <a:effectLst>
            <a:outerShdw sx="100000" sy="100000" kx="0" ky="0" algn="bl" rotWithShape="0" blurRad="101600" dist="25400" dir="5400000">
              <a:srgbClr val="0B2347">
                <a:alpha val="12000"/>
              </a:srgbClr>
            </a:outerShdw>
          </a:effectLst>
        </p:spPr>
      </p:sp>
      <p:sp>
        <p:nvSpPr>
          <p:cNvPr id="5" name="Text 3"/>
          <p:cNvSpPr txBox="1"/>
          <p:nvPr/>
        </p:nvSpPr>
        <p:spPr>
          <a:xfrm>
            <a:off x="685800" y="1463040"/>
            <a:ext cx="2834640" cy="201168"/>
          </a:xfrm>
          <a:prstGeom prst="rect">
            <a:avLst/>
          </a:prstGeom>
          <a:noFill/>
          <a:ln/>
        </p:spPr>
        <p:txBody>
          <a:bodyPr wrap="square" lIns="0" tIns="0" rIns="0" bIns="0" rtlCol="0" anchor="t"/>
          <a:lstStyle/>
          <a:p>
            <a:pPr indent="0" marL="0">
              <a:buNone/>
            </a:pPr>
            <a:r>
              <a:rPr lang="en-US" sz="850" b="1" spc="200" kern="0" dirty="0">
                <a:solidFill>
                  <a:srgbClr val="ED780F"/>
                </a:solidFill>
                <a:latin typeface="Segoe UI" pitchFamily="34" charset="0"/>
                <a:ea typeface="Segoe UI" pitchFamily="34" charset="-122"/>
                <a:cs typeface="Segoe UI" pitchFamily="34" charset="-120"/>
              </a:rPr>
              <a:t>THE BANKER ASKS</a:t>
            </a:r>
            <a:endParaRPr lang="en-US" sz="850" dirty="0"/>
          </a:p>
        </p:txBody>
      </p:sp>
      <p:sp>
        <p:nvSpPr>
          <p:cNvPr id="6" name="Question 1 marker"/>
          <p:cNvSpPr/>
          <p:nvPr/>
        </p:nvSpPr>
        <p:spPr>
          <a:xfrm>
            <a:off x="713232" y="1874520"/>
            <a:ext cx="91440" cy="91440"/>
          </a:xfrm>
          <a:prstGeom prst="ellipse">
            <a:avLst/>
          </a:prstGeom>
          <a:solidFill>
            <a:srgbClr val="ED780F"/>
          </a:solidFill>
          <a:ln w="12700">
            <a:solidFill>
              <a:srgbClr val="ED780F"/>
            </a:solidFill>
            <a:prstDash val="solid"/>
          </a:ln>
        </p:spPr>
      </p:sp>
      <p:sp>
        <p:nvSpPr>
          <p:cNvPr id="7" name="Text 5"/>
          <p:cNvSpPr txBox="1"/>
          <p:nvPr/>
        </p:nvSpPr>
        <p:spPr>
          <a:xfrm>
            <a:off x="914400" y="1783080"/>
            <a:ext cx="2651760" cy="365760"/>
          </a:xfrm>
          <a:prstGeom prst="rect">
            <a:avLst/>
          </a:prstGeom>
          <a:noFill/>
          <a:ln/>
        </p:spPr>
        <p:txBody>
          <a:bodyPr wrap="square" lIns="0" tIns="0" rIns="0" bIns="0" rtlCol="0" anchor="t"/>
          <a:lstStyle/>
          <a:p>
            <a:pPr indent="0" marL="0">
              <a:buNone/>
            </a:pPr>
            <a:r>
              <a:rPr lang="en-US" sz="1250" dirty="0">
                <a:solidFill>
                  <a:srgbClr val="FFFFFF"/>
                </a:solidFill>
                <a:latin typeface="Segoe UI" pitchFamily="34" charset="0"/>
                <a:ea typeface="Segoe UI" pitchFamily="34" charset="-122"/>
                <a:cs typeface="Segoe UI" pitchFamily="34" charset="-120"/>
              </a:rPr>
              <a:t>Occupation and employer</a:t>
            </a:r>
            <a:endParaRPr lang="en-US" sz="1250" dirty="0"/>
          </a:p>
        </p:txBody>
      </p:sp>
      <p:sp>
        <p:nvSpPr>
          <p:cNvPr id="8" name="Question 2 marker"/>
          <p:cNvSpPr/>
          <p:nvPr/>
        </p:nvSpPr>
        <p:spPr>
          <a:xfrm>
            <a:off x="713232" y="2350008"/>
            <a:ext cx="91440" cy="91440"/>
          </a:xfrm>
          <a:prstGeom prst="ellipse">
            <a:avLst/>
          </a:prstGeom>
          <a:solidFill>
            <a:srgbClr val="ED780F"/>
          </a:solidFill>
          <a:ln w="12700">
            <a:solidFill>
              <a:srgbClr val="ED780F"/>
            </a:solidFill>
            <a:prstDash val="solid"/>
          </a:ln>
        </p:spPr>
      </p:sp>
      <p:sp>
        <p:nvSpPr>
          <p:cNvPr id="9" name="Text 7"/>
          <p:cNvSpPr txBox="1"/>
          <p:nvPr/>
        </p:nvSpPr>
        <p:spPr>
          <a:xfrm>
            <a:off x="914400" y="2258568"/>
            <a:ext cx="2651760" cy="365760"/>
          </a:xfrm>
          <a:prstGeom prst="rect">
            <a:avLst/>
          </a:prstGeom>
          <a:noFill/>
          <a:ln/>
        </p:spPr>
        <p:txBody>
          <a:bodyPr wrap="square" lIns="0" tIns="0" rIns="0" bIns="0" rtlCol="0" anchor="t"/>
          <a:lstStyle/>
          <a:p>
            <a:pPr indent="0" marL="0">
              <a:buNone/>
            </a:pPr>
            <a:r>
              <a:rPr lang="en-US" sz="1250" dirty="0">
                <a:solidFill>
                  <a:srgbClr val="FFFFFF"/>
                </a:solidFill>
                <a:latin typeface="Segoe UI" pitchFamily="34" charset="0"/>
                <a:ea typeface="Segoe UI" pitchFamily="34" charset="-122"/>
                <a:cs typeface="Segoe UI" pitchFamily="34" charset="-120"/>
              </a:rPr>
              <a:t>Source of funds</a:t>
            </a:r>
            <a:endParaRPr lang="en-US" sz="1250" dirty="0"/>
          </a:p>
        </p:txBody>
      </p:sp>
      <p:sp>
        <p:nvSpPr>
          <p:cNvPr id="10" name="Question 3 marker"/>
          <p:cNvSpPr/>
          <p:nvPr/>
        </p:nvSpPr>
        <p:spPr>
          <a:xfrm>
            <a:off x="713232" y="2825496"/>
            <a:ext cx="91440" cy="91440"/>
          </a:xfrm>
          <a:prstGeom prst="ellipse">
            <a:avLst/>
          </a:prstGeom>
          <a:solidFill>
            <a:srgbClr val="ED780F"/>
          </a:solidFill>
          <a:ln w="12700">
            <a:solidFill>
              <a:srgbClr val="ED780F"/>
            </a:solidFill>
            <a:prstDash val="solid"/>
          </a:ln>
        </p:spPr>
      </p:sp>
      <p:sp>
        <p:nvSpPr>
          <p:cNvPr id="11" name="Text 9"/>
          <p:cNvSpPr txBox="1"/>
          <p:nvPr/>
        </p:nvSpPr>
        <p:spPr>
          <a:xfrm>
            <a:off x="914400" y="2734056"/>
            <a:ext cx="2651760" cy="365760"/>
          </a:xfrm>
          <a:prstGeom prst="rect">
            <a:avLst/>
          </a:prstGeom>
          <a:noFill/>
          <a:ln/>
        </p:spPr>
        <p:txBody>
          <a:bodyPr wrap="square" lIns="0" tIns="0" rIns="0" bIns="0" rtlCol="0" anchor="t"/>
          <a:lstStyle/>
          <a:p>
            <a:pPr indent="0" marL="0">
              <a:buNone/>
            </a:pPr>
            <a:r>
              <a:rPr lang="en-US" sz="1250" dirty="0">
                <a:solidFill>
                  <a:srgbClr val="FFFFFF"/>
                </a:solidFill>
                <a:latin typeface="Segoe UI" pitchFamily="34" charset="0"/>
                <a:ea typeface="Segoe UI" pitchFamily="34" charset="-122"/>
                <a:cs typeface="Segoe UI" pitchFamily="34" charset="-120"/>
              </a:rPr>
              <a:t>Expected monthly deposits</a:t>
            </a:r>
            <a:endParaRPr lang="en-US" sz="1250" dirty="0"/>
          </a:p>
        </p:txBody>
      </p:sp>
      <p:sp>
        <p:nvSpPr>
          <p:cNvPr id="12" name="Question 4 marker"/>
          <p:cNvSpPr/>
          <p:nvPr/>
        </p:nvSpPr>
        <p:spPr>
          <a:xfrm>
            <a:off x="713232" y="3300984"/>
            <a:ext cx="91440" cy="91440"/>
          </a:xfrm>
          <a:prstGeom prst="ellipse">
            <a:avLst/>
          </a:prstGeom>
          <a:solidFill>
            <a:srgbClr val="ED780F"/>
          </a:solidFill>
          <a:ln w="12700">
            <a:solidFill>
              <a:srgbClr val="ED780F"/>
            </a:solidFill>
            <a:prstDash val="solid"/>
          </a:ln>
        </p:spPr>
      </p:sp>
      <p:sp>
        <p:nvSpPr>
          <p:cNvPr id="13" name="Text 11"/>
          <p:cNvSpPr txBox="1"/>
          <p:nvPr/>
        </p:nvSpPr>
        <p:spPr>
          <a:xfrm>
            <a:off x="914400" y="3209544"/>
            <a:ext cx="2651760" cy="365760"/>
          </a:xfrm>
          <a:prstGeom prst="rect">
            <a:avLst/>
          </a:prstGeom>
          <a:noFill/>
          <a:ln/>
        </p:spPr>
        <p:txBody>
          <a:bodyPr wrap="square" lIns="0" tIns="0" rIns="0" bIns="0" rtlCol="0" anchor="t"/>
          <a:lstStyle/>
          <a:p>
            <a:pPr indent="0" marL="0">
              <a:buNone/>
            </a:pPr>
            <a:r>
              <a:rPr lang="en-US" sz="1250" dirty="0">
                <a:solidFill>
                  <a:srgbClr val="FFFFFF"/>
                </a:solidFill>
                <a:latin typeface="Segoe UI" pitchFamily="34" charset="0"/>
                <a:ea typeface="Segoe UI" pitchFamily="34" charset="-122"/>
                <a:cs typeface="Segoe UI" pitchFamily="34" charset="-120"/>
              </a:rPr>
              <a:t>Purpose of the account</a:t>
            </a:r>
            <a:endParaRPr lang="en-US" sz="1250" dirty="0"/>
          </a:p>
        </p:txBody>
      </p:sp>
      <p:sp>
        <p:nvSpPr>
          <p:cNvPr id="14" name="Question 5 marker"/>
          <p:cNvSpPr/>
          <p:nvPr/>
        </p:nvSpPr>
        <p:spPr>
          <a:xfrm>
            <a:off x="713232" y="3776472"/>
            <a:ext cx="91440" cy="91440"/>
          </a:xfrm>
          <a:prstGeom prst="ellipse">
            <a:avLst/>
          </a:prstGeom>
          <a:solidFill>
            <a:srgbClr val="ED780F"/>
          </a:solidFill>
          <a:ln w="12700">
            <a:solidFill>
              <a:srgbClr val="ED780F"/>
            </a:solidFill>
            <a:prstDash val="solid"/>
          </a:ln>
        </p:spPr>
      </p:sp>
      <p:sp>
        <p:nvSpPr>
          <p:cNvPr id="15" name="Text 13"/>
          <p:cNvSpPr txBox="1"/>
          <p:nvPr/>
        </p:nvSpPr>
        <p:spPr>
          <a:xfrm>
            <a:off x="914400" y="3685032"/>
            <a:ext cx="2651760" cy="365760"/>
          </a:xfrm>
          <a:prstGeom prst="rect">
            <a:avLst/>
          </a:prstGeom>
          <a:noFill/>
          <a:ln/>
        </p:spPr>
        <p:txBody>
          <a:bodyPr wrap="square" lIns="0" tIns="0" rIns="0" bIns="0" rtlCol="0" anchor="t"/>
          <a:lstStyle/>
          <a:p>
            <a:pPr indent="0" marL="0">
              <a:buNone/>
            </a:pPr>
            <a:r>
              <a:rPr lang="en-US" sz="1250" dirty="0">
                <a:solidFill>
                  <a:srgbClr val="FFFFFF"/>
                </a:solidFill>
                <a:latin typeface="Segoe UI" pitchFamily="34" charset="0"/>
                <a:ea typeface="Segoe UI" pitchFamily="34" charset="-122"/>
                <a:cs typeface="Segoe UI" pitchFamily="34" charset="-120"/>
              </a:rPr>
              <a:t>ID read from the document on file</a:t>
            </a:r>
            <a:endParaRPr lang="en-US" sz="1250" dirty="0"/>
          </a:p>
        </p:txBody>
      </p:sp>
      <p:sp>
        <p:nvSpPr>
          <p:cNvPr id="16" name="Text 14"/>
          <p:cNvSpPr txBox="1"/>
          <p:nvPr/>
        </p:nvSpPr>
        <p:spPr>
          <a:xfrm>
            <a:off x="4069080" y="1280160"/>
            <a:ext cx="2743200" cy="201168"/>
          </a:xfrm>
          <a:prstGeom prst="rect">
            <a:avLst/>
          </a:prstGeom>
          <a:noFill/>
          <a:ln/>
        </p:spPr>
        <p:txBody>
          <a:bodyPr wrap="square" lIns="0" tIns="0" rIns="0" bIns="0" rtlCol="0" anchor="t"/>
          <a:lstStyle/>
          <a:p>
            <a:pPr indent="0" marL="0">
              <a:buNone/>
            </a:pPr>
            <a:r>
              <a:rPr lang="en-US" sz="850" b="1" spc="200" kern="0" dirty="0">
                <a:solidFill>
                  <a:srgbClr val="5A6577"/>
                </a:solidFill>
                <a:latin typeface="Segoe UI" pitchFamily="34" charset="0"/>
                <a:ea typeface="Segoe UI" pitchFamily="34" charset="-122"/>
                <a:cs typeface="Segoe UI" pitchFamily="34" charset="-120"/>
              </a:rPr>
              <a:t>ONE CLICK RUNS</a:t>
            </a:r>
            <a:endParaRPr lang="en-US" sz="850" dirty="0"/>
          </a:p>
        </p:txBody>
      </p:sp>
      <p:sp>
        <p:nvSpPr>
          <p:cNvPr id="17" name="Check 1"/>
          <p:cNvSpPr/>
          <p:nvPr/>
        </p:nvSpPr>
        <p:spPr>
          <a:xfrm>
            <a:off x="4069080" y="1554480"/>
            <a:ext cx="4617720" cy="402336"/>
          </a:xfrm>
          <a:prstGeom prst="roundRect">
            <a:avLst>
              <a:gd name="adj" fmla="val 27273"/>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18" name="Check 1 tick"/>
          <p:cNvSpPr/>
          <p:nvPr/>
        </p:nvSpPr>
        <p:spPr>
          <a:xfrm>
            <a:off x="4224528" y="1673352"/>
            <a:ext cx="164592" cy="164592"/>
          </a:xfrm>
          <a:prstGeom prst="ellipse">
            <a:avLst/>
          </a:prstGeom>
          <a:solidFill>
            <a:srgbClr val="2E7D4F"/>
          </a:solidFill>
          <a:ln w="12700">
            <a:solidFill>
              <a:srgbClr val="2E7D4F"/>
            </a:solidFill>
            <a:prstDash val="solid"/>
          </a:ln>
        </p:spPr>
      </p:sp>
      <p:sp>
        <p:nvSpPr>
          <p:cNvPr id="19" name="Text 17"/>
          <p:cNvSpPr txBox="1"/>
          <p:nvPr/>
        </p:nvSpPr>
        <p:spPr>
          <a:xfrm>
            <a:off x="4526280" y="1554480"/>
            <a:ext cx="2834640" cy="402336"/>
          </a:xfrm>
          <a:prstGeom prst="rect">
            <a:avLst/>
          </a:prstGeom>
          <a:noFill/>
          <a:ln/>
        </p:spPr>
        <p:txBody>
          <a:bodyPr wrap="square" lIns="0" tIns="0" rIns="0" bIns="0" rtlCol="0" anchor="ctr"/>
          <a:lstStyle/>
          <a:p>
            <a:pPr indent="0" marL="0">
              <a:buNone/>
            </a:pPr>
            <a:r>
              <a:rPr lang="en-US" sz="1250" b="1" dirty="0">
                <a:solidFill>
                  <a:srgbClr val="14213D"/>
                </a:solidFill>
                <a:latin typeface="Segoe UI" pitchFamily="34" charset="0"/>
                <a:ea typeface="Segoe UI" pitchFamily="34" charset="-122"/>
                <a:cs typeface="Segoe UI" pitchFamily="34" charset="-120"/>
              </a:rPr>
              <a:t>Identity verification</a:t>
            </a:r>
            <a:endParaRPr lang="en-US" sz="1250" dirty="0"/>
          </a:p>
        </p:txBody>
      </p:sp>
      <p:sp>
        <p:nvSpPr>
          <p:cNvPr id="20" name="Check 1 result"/>
          <p:cNvSpPr/>
          <p:nvPr/>
        </p:nvSpPr>
        <p:spPr>
          <a:xfrm>
            <a:off x="7498080" y="1636776"/>
            <a:ext cx="1051560" cy="237744"/>
          </a:xfrm>
          <a:prstGeom prst="roundRect">
            <a:avLst>
              <a:gd name="adj" fmla="val 50000"/>
            </a:avLst>
          </a:prstGeom>
          <a:solidFill>
            <a:srgbClr val="E3F2E8"/>
          </a:solidFill>
          <a:ln w="12700">
            <a:solidFill>
              <a:srgbClr val="E3F2E8"/>
            </a:solidFill>
            <a:prstDash val="solid"/>
          </a:ln>
        </p:spPr>
      </p:sp>
      <p:sp>
        <p:nvSpPr>
          <p:cNvPr id="21" name="Text 19"/>
          <p:cNvSpPr txBox="1"/>
          <p:nvPr/>
        </p:nvSpPr>
        <p:spPr>
          <a:xfrm>
            <a:off x="7498080" y="1636776"/>
            <a:ext cx="1051560" cy="237744"/>
          </a:xfrm>
          <a:prstGeom prst="rect">
            <a:avLst/>
          </a:prstGeom>
          <a:noFill/>
          <a:ln/>
        </p:spPr>
        <p:txBody>
          <a:bodyPr wrap="square" lIns="0" tIns="0" rIns="0" bIns="0" rtlCol="0" anchor="ctr"/>
          <a:lstStyle/>
          <a:p>
            <a:pPr algn="ctr" indent="0" marL="0">
              <a:buNone/>
            </a:pPr>
            <a:r>
              <a:rPr lang="en-US" sz="1000" b="1" dirty="0">
                <a:solidFill>
                  <a:srgbClr val="2E7D4F"/>
                </a:solidFill>
                <a:latin typeface="Segoe UI" pitchFamily="34" charset="0"/>
                <a:ea typeface="Segoe UI" pitchFamily="34" charset="-122"/>
                <a:cs typeface="Segoe UI" pitchFamily="34" charset="-120"/>
              </a:rPr>
              <a:t>Pass</a:t>
            </a:r>
            <a:endParaRPr lang="en-US" sz="1000" dirty="0"/>
          </a:p>
        </p:txBody>
      </p:sp>
      <p:sp>
        <p:nvSpPr>
          <p:cNvPr id="22" name="Check 2"/>
          <p:cNvSpPr/>
          <p:nvPr/>
        </p:nvSpPr>
        <p:spPr>
          <a:xfrm>
            <a:off x="4069080" y="2048256"/>
            <a:ext cx="4617720" cy="402336"/>
          </a:xfrm>
          <a:prstGeom prst="roundRect">
            <a:avLst>
              <a:gd name="adj" fmla="val 27273"/>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23" name="Check 2 tick"/>
          <p:cNvSpPr/>
          <p:nvPr/>
        </p:nvSpPr>
        <p:spPr>
          <a:xfrm>
            <a:off x="4224528" y="2167128"/>
            <a:ext cx="164592" cy="164592"/>
          </a:xfrm>
          <a:prstGeom prst="ellipse">
            <a:avLst/>
          </a:prstGeom>
          <a:solidFill>
            <a:srgbClr val="2E7D4F"/>
          </a:solidFill>
          <a:ln w="12700">
            <a:solidFill>
              <a:srgbClr val="2E7D4F"/>
            </a:solidFill>
            <a:prstDash val="solid"/>
          </a:ln>
        </p:spPr>
      </p:sp>
      <p:sp>
        <p:nvSpPr>
          <p:cNvPr id="24" name="Text 22"/>
          <p:cNvSpPr txBox="1"/>
          <p:nvPr/>
        </p:nvSpPr>
        <p:spPr>
          <a:xfrm>
            <a:off x="4526280" y="2048256"/>
            <a:ext cx="2834640" cy="402336"/>
          </a:xfrm>
          <a:prstGeom prst="rect">
            <a:avLst/>
          </a:prstGeom>
          <a:noFill/>
          <a:ln/>
        </p:spPr>
        <p:txBody>
          <a:bodyPr wrap="square" lIns="0" tIns="0" rIns="0" bIns="0" rtlCol="0" anchor="ctr"/>
          <a:lstStyle/>
          <a:p>
            <a:pPr indent="0" marL="0">
              <a:buNone/>
            </a:pPr>
            <a:r>
              <a:rPr lang="en-US" sz="1250" b="1" dirty="0">
                <a:solidFill>
                  <a:srgbClr val="14213D"/>
                </a:solidFill>
                <a:latin typeface="Segoe UI" pitchFamily="34" charset="0"/>
                <a:ea typeface="Segoe UI" pitchFamily="34" charset="-122"/>
                <a:cs typeface="Segoe UI" pitchFamily="34" charset="-120"/>
              </a:rPr>
              <a:t>Document authentication</a:t>
            </a:r>
            <a:endParaRPr lang="en-US" sz="1250" dirty="0"/>
          </a:p>
        </p:txBody>
      </p:sp>
      <p:sp>
        <p:nvSpPr>
          <p:cNvPr id="25" name="Check 2 result"/>
          <p:cNvSpPr/>
          <p:nvPr/>
        </p:nvSpPr>
        <p:spPr>
          <a:xfrm>
            <a:off x="7498080" y="2130552"/>
            <a:ext cx="1051560" cy="237744"/>
          </a:xfrm>
          <a:prstGeom prst="roundRect">
            <a:avLst>
              <a:gd name="adj" fmla="val 50000"/>
            </a:avLst>
          </a:prstGeom>
          <a:solidFill>
            <a:srgbClr val="E3F2E8"/>
          </a:solidFill>
          <a:ln w="12700">
            <a:solidFill>
              <a:srgbClr val="E3F2E8"/>
            </a:solidFill>
            <a:prstDash val="solid"/>
          </a:ln>
        </p:spPr>
      </p:sp>
      <p:sp>
        <p:nvSpPr>
          <p:cNvPr id="26" name="Text 24"/>
          <p:cNvSpPr txBox="1"/>
          <p:nvPr/>
        </p:nvSpPr>
        <p:spPr>
          <a:xfrm>
            <a:off x="7498080" y="2130552"/>
            <a:ext cx="1051560" cy="237744"/>
          </a:xfrm>
          <a:prstGeom prst="rect">
            <a:avLst/>
          </a:prstGeom>
          <a:noFill/>
          <a:ln/>
        </p:spPr>
        <p:txBody>
          <a:bodyPr wrap="square" lIns="0" tIns="0" rIns="0" bIns="0" rtlCol="0" anchor="ctr"/>
          <a:lstStyle/>
          <a:p>
            <a:pPr algn="ctr" indent="0" marL="0">
              <a:buNone/>
            </a:pPr>
            <a:r>
              <a:rPr lang="en-US" sz="1000" b="1" dirty="0">
                <a:solidFill>
                  <a:srgbClr val="2E7D4F"/>
                </a:solidFill>
                <a:latin typeface="Segoe UI" pitchFamily="34" charset="0"/>
                <a:ea typeface="Segoe UI" pitchFamily="34" charset="-122"/>
                <a:cs typeface="Segoe UI" pitchFamily="34" charset="-120"/>
              </a:rPr>
              <a:t>Pass</a:t>
            </a:r>
            <a:endParaRPr lang="en-US" sz="1000" dirty="0"/>
          </a:p>
        </p:txBody>
      </p:sp>
      <p:sp>
        <p:nvSpPr>
          <p:cNvPr id="27" name="Check 3"/>
          <p:cNvSpPr/>
          <p:nvPr/>
        </p:nvSpPr>
        <p:spPr>
          <a:xfrm>
            <a:off x="4069080" y="2542032"/>
            <a:ext cx="4617720" cy="402336"/>
          </a:xfrm>
          <a:prstGeom prst="roundRect">
            <a:avLst>
              <a:gd name="adj" fmla="val 27273"/>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28" name="Check 3 tick"/>
          <p:cNvSpPr/>
          <p:nvPr/>
        </p:nvSpPr>
        <p:spPr>
          <a:xfrm>
            <a:off x="4224528" y="2660904"/>
            <a:ext cx="164592" cy="164592"/>
          </a:xfrm>
          <a:prstGeom prst="ellipse">
            <a:avLst/>
          </a:prstGeom>
          <a:solidFill>
            <a:srgbClr val="2E7D4F"/>
          </a:solidFill>
          <a:ln w="12700">
            <a:solidFill>
              <a:srgbClr val="2E7D4F"/>
            </a:solidFill>
            <a:prstDash val="solid"/>
          </a:ln>
        </p:spPr>
      </p:sp>
      <p:sp>
        <p:nvSpPr>
          <p:cNvPr id="29" name="Text 27"/>
          <p:cNvSpPr txBox="1"/>
          <p:nvPr/>
        </p:nvSpPr>
        <p:spPr>
          <a:xfrm>
            <a:off x="4526280" y="2542032"/>
            <a:ext cx="2834640" cy="402336"/>
          </a:xfrm>
          <a:prstGeom prst="rect">
            <a:avLst/>
          </a:prstGeom>
          <a:noFill/>
          <a:ln/>
        </p:spPr>
        <p:txBody>
          <a:bodyPr wrap="square" lIns="0" tIns="0" rIns="0" bIns="0" rtlCol="0" anchor="ctr"/>
          <a:lstStyle/>
          <a:p>
            <a:pPr indent="0" marL="0">
              <a:buNone/>
            </a:pPr>
            <a:r>
              <a:rPr lang="en-US" sz="1250" b="1" dirty="0">
                <a:solidFill>
                  <a:srgbClr val="14213D"/>
                </a:solidFill>
                <a:latin typeface="Segoe UI" pitchFamily="34" charset="0"/>
                <a:ea typeface="Segoe UI" pitchFamily="34" charset="-122"/>
                <a:cs typeface="Segoe UI" pitchFamily="34" charset="-120"/>
              </a:rPr>
              <a:t>Sanctions screening (OFAC)</a:t>
            </a:r>
            <a:endParaRPr lang="en-US" sz="1250" dirty="0"/>
          </a:p>
        </p:txBody>
      </p:sp>
      <p:sp>
        <p:nvSpPr>
          <p:cNvPr id="30" name="Check 3 result"/>
          <p:cNvSpPr/>
          <p:nvPr/>
        </p:nvSpPr>
        <p:spPr>
          <a:xfrm>
            <a:off x="7498080" y="2624328"/>
            <a:ext cx="1051560" cy="237744"/>
          </a:xfrm>
          <a:prstGeom prst="roundRect">
            <a:avLst>
              <a:gd name="adj" fmla="val 50000"/>
            </a:avLst>
          </a:prstGeom>
          <a:solidFill>
            <a:srgbClr val="E3F2E8"/>
          </a:solidFill>
          <a:ln w="12700">
            <a:solidFill>
              <a:srgbClr val="E3F2E8"/>
            </a:solidFill>
            <a:prstDash val="solid"/>
          </a:ln>
        </p:spPr>
      </p:sp>
      <p:sp>
        <p:nvSpPr>
          <p:cNvPr id="31" name="Text 29"/>
          <p:cNvSpPr txBox="1"/>
          <p:nvPr/>
        </p:nvSpPr>
        <p:spPr>
          <a:xfrm>
            <a:off x="7498080" y="2624328"/>
            <a:ext cx="1051560" cy="237744"/>
          </a:xfrm>
          <a:prstGeom prst="rect">
            <a:avLst/>
          </a:prstGeom>
          <a:noFill/>
          <a:ln/>
        </p:spPr>
        <p:txBody>
          <a:bodyPr wrap="square" lIns="0" tIns="0" rIns="0" bIns="0" rtlCol="0" anchor="ctr"/>
          <a:lstStyle/>
          <a:p>
            <a:pPr algn="ctr" indent="0" marL="0">
              <a:buNone/>
            </a:pPr>
            <a:r>
              <a:rPr lang="en-US" sz="1000" b="1" dirty="0">
                <a:solidFill>
                  <a:srgbClr val="2E7D4F"/>
                </a:solidFill>
                <a:latin typeface="Segoe UI" pitchFamily="34" charset="0"/>
                <a:ea typeface="Segoe UI" pitchFamily="34" charset="-122"/>
                <a:cs typeface="Segoe UI" pitchFamily="34" charset="-120"/>
              </a:rPr>
              <a:t>Clear</a:t>
            </a:r>
            <a:endParaRPr lang="en-US" sz="1000" dirty="0"/>
          </a:p>
        </p:txBody>
      </p:sp>
      <p:sp>
        <p:nvSpPr>
          <p:cNvPr id="32" name="Check 4"/>
          <p:cNvSpPr/>
          <p:nvPr/>
        </p:nvSpPr>
        <p:spPr>
          <a:xfrm>
            <a:off x="4069080" y="3035808"/>
            <a:ext cx="4617720" cy="402336"/>
          </a:xfrm>
          <a:prstGeom prst="roundRect">
            <a:avLst>
              <a:gd name="adj" fmla="val 27273"/>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33" name="Check 4 tick"/>
          <p:cNvSpPr/>
          <p:nvPr/>
        </p:nvSpPr>
        <p:spPr>
          <a:xfrm>
            <a:off x="4224528" y="3154680"/>
            <a:ext cx="164592" cy="164592"/>
          </a:xfrm>
          <a:prstGeom prst="ellipse">
            <a:avLst/>
          </a:prstGeom>
          <a:solidFill>
            <a:srgbClr val="2E7D4F"/>
          </a:solidFill>
          <a:ln w="12700">
            <a:solidFill>
              <a:srgbClr val="2E7D4F"/>
            </a:solidFill>
            <a:prstDash val="solid"/>
          </a:ln>
        </p:spPr>
      </p:sp>
      <p:sp>
        <p:nvSpPr>
          <p:cNvPr id="34" name="Text 32"/>
          <p:cNvSpPr txBox="1"/>
          <p:nvPr/>
        </p:nvSpPr>
        <p:spPr>
          <a:xfrm>
            <a:off x="4526280" y="3035808"/>
            <a:ext cx="2834640" cy="402336"/>
          </a:xfrm>
          <a:prstGeom prst="rect">
            <a:avLst/>
          </a:prstGeom>
          <a:noFill/>
          <a:ln/>
        </p:spPr>
        <p:txBody>
          <a:bodyPr wrap="square" lIns="0" tIns="0" rIns="0" bIns="0" rtlCol="0" anchor="ctr"/>
          <a:lstStyle/>
          <a:p>
            <a:pPr indent="0" marL="0">
              <a:buNone/>
            </a:pPr>
            <a:r>
              <a:rPr lang="en-US" sz="1250" b="1" dirty="0">
                <a:solidFill>
                  <a:srgbClr val="14213D"/>
                </a:solidFill>
                <a:latin typeface="Segoe UI" pitchFamily="34" charset="0"/>
                <a:ea typeface="Segoe UI" pitchFamily="34" charset="-122"/>
                <a:cs typeface="Segoe UI" pitchFamily="34" charset="-120"/>
              </a:rPr>
              <a:t>Deposit account history</a:t>
            </a:r>
            <a:endParaRPr lang="en-US" sz="1250" dirty="0"/>
          </a:p>
        </p:txBody>
      </p:sp>
      <p:sp>
        <p:nvSpPr>
          <p:cNvPr id="35" name="Check 4 result"/>
          <p:cNvSpPr/>
          <p:nvPr/>
        </p:nvSpPr>
        <p:spPr>
          <a:xfrm>
            <a:off x="7498080" y="3118104"/>
            <a:ext cx="1051560" cy="237744"/>
          </a:xfrm>
          <a:prstGeom prst="roundRect">
            <a:avLst>
              <a:gd name="adj" fmla="val 50000"/>
            </a:avLst>
          </a:prstGeom>
          <a:solidFill>
            <a:srgbClr val="E3F2E8"/>
          </a:solidFill>
          <a:ln w="12700">
            <a:solidFill>
              <a:srgbClr val="E3F2E8"/>
            </a:solidFill>
            <a:prstDash val="solid"/>
          </a:ln>
        </p:spPr>
      </p:sp>
      <p:sp>
        <p:nvSpPr>
          <p:cNvPr id="36" name="Text 34"/>
          <p:cNvSpPr txBox="1"/>
          <p:nvPr/>
        </p:nvSpPr>
        <p:spPr>
          <a:xfrm>
            <a:off x="7498080" y="3118104"/>
            <a:ext cx="1051560" cy="237744"/>
          </a:xfrm>
          <a:prstGeom prst="rect">
            <a:avLst/>
          </a:prstGeom>
          <a:noFill/>
          <a:ln/>
        </p:spPr>
        <p:txBody>
          <a:bodyPr wrap="square" lIns="0" tIns="0" rIns="0" bIns="0" rtlCol="0" anchor="ctr"/>
          <a:lstStyle/>
          <a:p>
            <a:pPr algn="ctr" indent="0" marL="0">
              <a:buNone/>
            </a:pPr>
            <a:r>
              <a:rPr lang="en-US" sz="1000" b="1" dirty="0">
                <a:solidFill>
                  <a:srgbClr val="2E7D4F"/>
                </a:solidFill>
                <a:latin typeface="Segoe UI" pitchFamily="34" charset="0"/>
                <a:ea typeface="Segoe UI" pitchFamily="34" charset="-122"/>
                <a:cs typeface="Segoe UI" pitchFamily="34" charset="-120"/>
              </a:rPr>
              <a:t>Low risk</a:t>
            </a:r>
            <a:endParaRPr lang="en-US" sz="1000" dirty="0"/>
          </a:p>
        </p:txBody>
      </p:sp>
      <p:sp>
        <p:nvSpPr>
          <p:cNvPr id="37" name="Check 5"/>
          <p:cNvSpPr/>
          <p:nvPr/>
        </p:nvSpPr>
        <p:spPr>
          <a:xfrm>
            <a:off x="4069080" y="3529584"/>
            <a:ext cx="4617720" cy="402336"/>
          </a:xfrm>
          <a:prstGeom prst="roundRect">
            <a:avLst>
              <a:gd name="adj" fmla="val 27273"/>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38" name="Check 5 tick"/>
          <p:cNvSpPr/>
          <p:nvPr/>
        </p:nvSpPr>
        <p:spPr>
          <a:xfrm>
            <a:off x="4224528" y="3648456"/>
            <a:ext cx="164592" cy="164592"/>
          </a:xfrm>
          <a:prstGeom prst="ellipse">
            <a:avLst/>
          </a:prstGeom>
          <a:solidFill>
            <a:srgbClr val="2E7D4F"/>
          </a:solidFill>
          <a:ln w="12700">
            <a:solidFill>
              <a:srgbClr val="2E7D4F"/>
            </a:solidFill>
            <a:prstDash val="solid"/>
          </a:ln>
        </p:spPr>
      </p:sp>
      <p:sp>
        <p:nvSpPr>
          <p:cNvPr id="39" name="Text 37"/>
          <p:cNvSpPr txBox="1"/>
          <p:nvPr/>
        </p:nvSpPr>
        <p:spPr>
          <a:xfrm>
            <a:off x="4526280" y="3529584"/>
            <a:ext cx="2834640" cy="402336"/>
          </a:xfrm>
          <a:prstGeom prst="rect">
            <a:avLst/>
          </a:prstGeom>
          <a:noFill/>
          <a:ln/>
        </p:spPr>
        <p:txBody>
          <a:bodyPr wrap="square" lIns="0" tIns="0" rIns="0" bIns="0" rtlCol="0" anchor="ctr"/>
          <a:lstStyle/>
          <a:p>
            <a:pPr indent="0" marL="0">
              <a:buNone/>
            </a:pPr>
            <a:r>
              <a:rPr lang="en-US" sz="1250" b="1" dirty="0">
                <a:solidFill>
                  <a:srgbClr val="14213D"/>
                </a:solidFill>
                <a:latin typeface="Segoe UI" pitchFamily="34" charset="0"/>
                <a:ea typeface="Segoe UI" pitchFamily="34" charset="-122"/>
                <a:cs typeface="Segoe UI" pitchFamily="34" charset="-120"/>
              </a:rPr>
              <a:t>Address verification</a:t>
            </a:r>
            <a:endParaRPr lang="en-US" sz="1250" dirty="0"/>
          </a:p>
        </p:txBody>
      </p:sp>
      <p:sp>
        <p:nvSpPr>
          <p:cNvPr id="40" name="Check 5 result"/>
          <p:cNvSpPr/>
          <p:nvPr/>
        </p:nvSpPr>
        <p:spPr>
          <a:xfrm>
            <a:off x="7498080" y="3611880"/>
            <a:ext cx="1051560" cy="237744"/>
          </a:xfrm>
          <a:prstGeom prst="roundRect">
            <a:avLst>
              <a:gd name="adj" fmla="val 50000"/>
            </a:avLst>
          </a:prstGeom>
          <a:solidFill>
            <a:srgbClr val="E3F2E8"/>
          </a:solidFill>
          <a:ln w="12700">
            <a:solidFill>
              <a:srgbClr val="E3F2E8"/>
            </a:solidFill>
            <a:prstDash val="solid"/>
          </a:ln>
        </p:spPr>
      </p:sp>
      <p:sp>
        <p:nvSpPr>
          <p:cNvPr id="41" name="Text 39"/>
          <p:cNvSpPr txBox="1"/>
          <p:nvPr/>
        </p:nvSpPr>
        <p:spPr>
          <a:xfrm>
            <a:off x="7498080" y="3611880"/>
            <a:ext cx="1051560" cy="237744"/>
          </a:xfrm>
          <a:prstGeom prst="rect">
            <a:avLst/>
          </a:prstGeom>
          <a:noFill/>
          <a:ln/>
        </p:spPr>
        <p:txBody>
          <a:bodyPr wrap="square" lIns="0" tIns="0" rIns="0" bIns="0" rtlCol="0" anchor="ctr"/>
          <a:lstStyle/>
          <a:p>
            <a:pPr algn="ctr" indent="0" marL="0">
              <a:buNone/>
            </a:pPr>
            <a:r>
              <a:rPr lang="en-US" sz="1000" b="1" dirty="0">
                <a:solidFill>
                  <a:srgbClr val="2E7D4F"/>
                </a:solidFill>
                <a:latin typeface="Segoe UI" pitchFamily="34" charset="0"/>
                <a:ea typeface="Segoe UI" pitchFamily="34" charset="-122"/>
                <a:cs typeface="Segoe UI" pitchFamily="34" charset="-120"/>
              </a:rPr>
              <a:t>Verified</a:t>
            </a:r>
            <a:endParaRPr lang="en-US" sz="1000" dirty="0"/>
          </a:p>
        </p:txBody>
      </p:sp>
      <p:sp>
        <p:nvSpPr>
          <p:cNvPr id="42" name="Text 40"/>
          <p:cNvSpPr txBox="1"/>
          <p:nvPr/>
        </p:nvSpPr>
        <p:spPr>
          <a:xfrm>
            <a:off x="4069080" y="4069080"/>
            <a:ext cx="4617720" cy="457200"/>
          </a:xfrm>
          <a:prstGeom prst="rect">
            <a:avLst/>
          </a:prstGeom>
          <a:noFill/>
          <a:ln/>
        </p:spPr>
        <p:txBody>
          <a:bodyPr wrap="square" lIns="0" tIns="0" rIns="0" bIns="0" rtlCol="0" anchor="t"/>
          <a:lstStyle/>
          <a:p>
            <a:pPr indent="0" marL="0">
              <a:buNone/>
            </a:pPr>
            <a:r>
              <a:rPr lang="en-US" sz="950" i="1" dirty="0">
                <a:solidFill>
                  <a:srgbClr val="5A6577"/>
                </a:solidFill>
                <a:latin typeface="Segoe UI" pitchFamily="34" charset="0"/>
                <a:ea typeface="Segoe UI" pitchFamily="34" charset="-122"/>
                <a:cs typeface="Segoe UI" pitchFamily="34" charset="-120"/>
              </a:rPr>
              <a:t>Checks are simulated in the demo. In production they call Navy Federal’s identity, sanctions and deposit-history vendors through MuleSoft.</a:t>
            </a:r>
            <a:endParaRPr lang="en-US" sz="95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320040"/>
            <a:ext cx="8229600"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3 · OPEN ACCOUNTS · OPEN DEPOSIT ACCOUNTS · STEP 3 OF 3: OPEN AND FUND</a:t>
            </a:r>
            <a:endParaRPr lang="en-US" sz="900" dirty="0"/>
          </a:p>
        </p:txBody>
      </p:sp>
      <p:sp>
        <p:nvSpPr>
          <p:cNvPr id="3" name="Text 1"/>
          <p:cNvSpPr txBox="1"/>
          <p:nvPr/>
        </p:nvSpPr>
        <p:spPr>
          <a:xfrm>
            <a:off x="457200" y="566928"/>
            <a:ext cx="8229600" cy="502920"/>
          </a:xfrm>
          <a:prstGeom prst="rect">
            <a:avLst/>
          </a:prstGeom>
          <a:noFill/>
          <a:ln/>
        </p:spPr>
        <p:txBody>
          <a:bodyPr wrap="square" lIns="0" tIns="0" rIns="0" bIns="0" rtlCol="0" anchor="t">
            <a:normAutofit/>
          </a:bodyPr>
          <a:lstStyle/>
          <a:p>
            <a:pPr indent="0" marL="0">
              <a:buNone/>
            </a:pPr>
            <a:r>
              <a:rPr lang="en-US" sz="2400" dirty="0">
                <a:solidFill>
                  <a:srgbClr val="043370"/>
                </a:solidFill>
                <a:latin typeface="Segoe UI Semibold" pitchFamily="34" charset="0"/>
                <a:ea typeface="Segoe UI Semibold" pitchFamily="34" charset="-122"/>
                <a:cs typeface="Segoe UI Semibold" pitchFamily="34" charset="-120"/>
              </a:rPr>
              <a:t>Opened and funded in the same conversation</a:t>
            </a:r>
            <a:endParaRPr lang="en-US" sz="2400" dirty="0"/>
          </a:p>
        </p:txBody>
      </p:sp>
      <p:sp>
        <p:nvSpPr>
          <p:cNvPr id="4" name="Browser frame"/>
          <p:cNvSpPr/>
          <p:nvPr/>
        </p:nvSpPr>
        <p:spPr>
          <a:xfrm>
            <a:off x="457200" y="1188720"/>
            <a:ext cx="5120640" cy="2514600"/>
          </a:xfrm>
          <a:prstGeom prst="roundRect">
            <a:avLst>
              <a:gd name="adj" fmla="val 4364"/>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5" name="Browser bar"/>
          <p:cNvSpPr/>
          <p:nvPr/>
        </p:nvSpPr>
        <p:spPr>
          <a:xfrm>
            <a:off x="475488" y="1207008"/>
            <a:ext cx="5084064" cy="256032"/>
          </a:xfrm>
          <a:prstGeom prst="rect">
            <a:avLst/>
          </a:prstGeom>
          <a:solidFill>
            <a:srgbClr val="EAF0F8"/>
          </a:solidFill>
          <a:ln w="12700">
            <a:solidFill>
              <a:srgbClr val="EAF0F8"/>
            </a:solidFill>
            <a:prstDash val="solid"/>
          </a:ln>
        </p:spPr>
      </p:sp>
      <p:sp>
        <p:nvSpPr>
          <p:cNvPr id="6" name="Browser dot 1"/>
          <p:cNvSpPr/>
          <p:nvPr/>
        </p:nvSpPr>
        <p:spPr>
          <a:xfrm>
            <a:off x="566928" y="1280160"/>
            <a:ext cx="82296" cy="82296"/>
          </a:xfrm>
          <a:prstGeom prst="ellipse">
            <a:avLst/>
          </a:prstGeom>
          <a:solidFill>
            <a:srgbClr val="E46A5E"/>
          </a:solidFill>
          <a:ln w="12700">
            <a:solidFill>
              <a:srgbClr val="E46A5E"/>
            </a:solidFill>
            <a:prstDash val="solid"/>
          </a:ln>
        </p:spPr>
      </p:sp>
      <p:sp>
        <p:nvSpPr>
          <p:cNvPr id="7" name="Browser dot 2"/>
          <p:cNvSpPr/>
          <p:nvPr/>
        </p:nvSpPr>
        <p:spPr>
          <a:xfrm>
            <a:off x="694944" y="1280160"/>
            <a:ext cx="82296" cy="82296"/>
          </a:xfrm>
          <a:prstGeom prst="ellipse">
            <a:avLst/>
          </a:prstGeom>
          <a:solidFill>
            <a:srgbClr val="F2B84B"/>
          </a:solidFill>
          <a:ln w="12700">
            <a:solidFill>
              <a:srgbClr val="F2B84B"/>
            </a:solidFill>
            <a:prstDash val="solid"/>
          </a:ln>
        </p:spPr>
      </p:sp>
      <p:sp>
        <p:nvSpPr>
          <p:cNvPr id="8" name="Browser dot 3"/>
          <p:cNvSpPr/>
          <p:nvPr/>
        </p:nvSpPr>
        <p:spPr>
          <a:xfrm>
            <a:off x="822960" y="1280160"/>
            <a:ext cx="82296" cy="82296"/>
          </a:xfrm>
          <a:prstGeom prst="ellipse">
            <a:avLst/>
          </a:prstGeom>
          <a:solidFill>
            <a:srgbClr val="5DBB63"/>
          </a:solidFill>
          <a:ln w="12700">
            <a:solidFill>
              <a:srgbClr val="5DBB63"/>
            </a:solidFill>
            <a:prstDash val="solid"/>
          </a:ln>
        </p:spPr>
      </p:sp>
      <p:sp>
        <p:nvSpPr>
          <p:cNvPr id="9" name="Address bar"/>
          <p:cNvSpPr/>
          <p:nvPr/>
        </p:nvSpPr>
        <p:spPr>
          <a:xfrm>
            <a:off x="1005840" y="1243584"/>
            <a:ext cx="3291840" cy="164592"/>
          </a:xfrm>
          <a:prstGeom prst="roundRect">
            <a:avLst>
              <a:gd name="adj" fmla="val 50000"/>
            </a:avLst>
          </a:prstGeom>
          <a:solidFill>
            <a:srgbClr val="FFFFFF"/>
          </a:solidFill>
          <a:ln w="6350">
            <a:solidFill>
              <a:srgbClr val="D6DFEB"/>
            </a:solidFill>
            <a:prstDash val="solid"/>
          </a:ln>
        </p:spPr>
      </p:sp>
      <p:sp>
        <p:nvSpPr>
          <p:cNvPr id="10" name="Text 8"/>
          <p:cNvSpPr txBox="1"/>
          <p:nvPr/>
        </p:nvSpPr>
        <p:spPr>
          <a:xfrm>
            <a:off x="1097280" y="1243584"/>
            <a:ext cx="3154680" cy="164592"/>
          </a:xfrm>
          <a:prstGeom prst="rect">
            <a:avLst/>
          </a:prstGeom>
          <a:noFill/>
          <a:ln/>
        </p:spPr>
        <p:txBody>
          <a:bodyPr wrap="square" lIns="0" tIns="0" rIns="0" bIns="0" rtlCol="0" anchor="ctr"/>
          <a:lstStyle/>
          <a:p>
            <a:pPr indent="0" marL="0">
              <a:buNone/>
            </a:pPr>
            <a:r>
              <a:rPr lang="en-US" sz="700" dirty="0">
                <a:solidFill>
                  <a:srgbClr val="5A6577"/>
                </a:solidFill>
                <a:latin typeface="Segoe UI" pitchFamily="34" charset="0"/>
                <a:ea typeface="Segoe UI" pitchFamily="34" charset="-122"/>
                <a:cs typeface="Segoe UI" pitchFamily="34" charset="-120"/>
              </a:rPr>
              <a:t>Service Console · Open Deposit Accounts</a:t>
            </a:r>
            <a:endParaRPr lang="en-US" sz="700" dirty="0"/>
          </a:p>
        </p:txBody>
      </p:sp>
      <p:pic>
        <p:nvPicPr>
          <p:cNvPr id="11" name="Screenshot 15-banker-open-fund.jpg" descr="Open Deposit Accounts · Step 3 of 3: Open and fund">    </p:cNvPr>
          <p:cNvPicPr>
            <a:picLocks noChangeAspect="1"/>
          </p:cNvPicPr>
          <p:nvPr/>
        </p:nvPicPr>
        <p:blipFill>
          <a:blip r:embed="rId1"/>
          <a:stretch>
            <a:fillRect/>
          </a:stretch>
        </p:blipFill>
        <p:spPr>
          <a:xfrm>
            <a:off x="457200" y="1463040"/>
            <a:ext cx="5120640" cy="2240280"/>
          </a:xfrm>
          <a:prstGeom prst="rect">
            <a:avLst/>
          </a:prstGeom>
        </p:spPr>
      </p:pic>
      <p:sp>
        <p:nvSpPr>
          <p:cNvPr id="12" name="Point 1"/>
          <p:cNvSpPr/>
          <p:nvPr/>
        </p:nvSpPr>
        <p:spPr>
          <a:xfrm>
            <a:off x="457200" y="3931920"/>
            <a:ext cx="292608" cy="292608"/>
          </a:xfrm>
          <a:prstGeom prst="roundRect">
            <a:avLst>
              <a:gd name="adj" fmla="val 25000"/>
            </a:avLst>
          </a:prstGeom>
          <a:solidFill>
            <a:srgbClr val="ED780F"/>
          </a:solidFill>
          <a:ln w="12700">
            <a:solidFill>
              <a:srgbClr val="ED780F"/>
            </a:solidFill>
            <a:prstDash val="solid"/>
          </a:ln>
        </p:spPr>
      </p:sp>
      <p:sp>
        <p:nvSpPr>
          <p:cNvPr id="13" name="Text 10"/>
          <p:cNvSpPr txBox="1"/>
          <p:nvPr/>
        </p:nvSpPr>
        <p:spPr>
          <a:xfrm>
            <a:off x="457200" y="39319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4" name="Text 11"/>
          <p:cNvSpPr txBox="1"/>
          <p:nvPr/>
        </p:nvSpPr>
        <p:spPr>
          <a:xfrm>
            <a:off x="868680" y="3913632"/>
            <a:ext cx="2240280" cy="685800"/>
          </a:xfrm>
          <a:prstGeom prst="rect">
            <a:avLst/>
          </a:prstGeom>
          <a:noFill/>
          <a:ln/>
        </p:spPr>
        <p:txBody>
          <a:bodyPr wrap="square" lIns="0" tIns="0" rIns="0" bIns="0" rtlCol="0" anchor="t"/>
          <a:lstStyle/>
          <a:p>
            <a:pPr indent="0" marL="0">
              <a:buNone/>
            </a:pPr>
            <a:r>
              <a:rPr lang="en-US" sz="1200" dirty="0">
                <a:solidFill>
                  <a:srgbClr val="14213D"/>
                </a:solidFill>
                <a:latin typeface="Segoe UI" pitchFamily="34" charset="0"/>
                <a:ea typeface="Segoe UI" pitchFamily="34" charset="-122"/>
                <a:cs typeface="Segoe UI" pitchFamily="34" charset="-120"/>
              </a:rPr>
              <a:t>Financial accounts created with Ethan as owner</a:t>
            </a:r>
            <a:endParaRPr lang="en-US" sz="1200" dirty="0"/>
          </a:p>
        </p:txBody>
      </p:sp>
      <p:sp>
        <p:nvSpPr>
          <p:cNvPr id="15" name="Point 2"/>
          <p:cNvSpPr/>
          <p:nvPr/>
        </p:nvSpPr>
        <p:spPr>
          <a:xfrm>
            <a:off x="3246120" y="3931920"/>
            <a:ext cx="292608" cy="292608"/>
          </a:xfrm>
          <a:prstGeom prst="roundRect">
            <a:avLst>
              <a:gd name="adj" fmla="val 25000"/>
            </a:avLst>
          </a:prstGeom>
          <a:solidFill>
            <a:srgbClr val="ED780F"/>
          </a:solidFill>
          <a:ln w="12700">
            <a:solidFill>
              <a:srgbClr val="ED780F"/>
            </a:solidFill>
            <a:prstDash val="solid"/>
          </a:ln>
        </p:spPr>
      </p:sp>
      <p:sp>
        <p:nvSpPr>
          <p:cNvPr id="16" name="Text 13"/>
          <p:cNvSpPr txBox="1"/>
          <p:nvPr/>
        </p:nvSpPr>
        <p:spPr>
          <a:xfrm>
            <a:off x="3246120" y="39319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7" name="Text 14"/>
          <p:cNvSpPr txBox="1"/>
          <p:nvPr/>
        </p:nvSpPr>
        <p:spPr>
          <a:xfrm>
            <a:off x="3657600" y="3913632"/>
            <a:ext cx="2240280" cy="685800"/>
          </a:xfrm>
          <a:prstGeom prst="rect">
            <a:avLst/>
          </a:prstGeom>
          <a:noFill/>
          <a:ln/>
        </p:spPr>
        <p:txBody>
          <a:bodyPr wrap="square" lIns="0" tIns="0" rIns="0" bIns="0" rtlCol="0" anchor="t"/>
          <a:lstStyle/>
          <a:p>
            <a:pPr indent="0" marL="0">
              <a:buNone/>
            </a:pPr>
            <a:r>
              <a:rPr lang="en-US" sz="1200" dirty="0">
                <a:solidFill>
                  <a:srgbClr val="14213D"/>
                </a:solidFill>
                <a:latin typeface="Segoe UI" pitchFamily="34" charset="0"/>
                <a:ea typeface="Segoe UI" pitchFamily="34" charset="-122"/>
                <a:cs typeface="Segoe UI" pitchFamily="34" charset="-120"/>
              </a:rPr>
              <a:t>$255 posted from his external account</a:t>
            </a:r>
            <a:endParaRPr lang="en-US" sz="1200" dirty="0"/>
          </a:p>
        </p:txBody>
      </p:sp>
      <p:sp>
        <p:nvSpPr>
          <p:cNvPr id="18" name="Point 3"/>
          <p:cNvSpPr/>
          <p:nvPr/>
        </p:nvSpPr>
        <p:spPr>
          <a:xfrm>
            <a:off x="6035040" y="3931920"/>
            <a:ext cx="292608" cy="292608"/>
          </a:xfrm>
          <a:prstGeom prst="roundRect">
            <a:avLst>
              <a:gd name="adj" fmla="val 25000"/>
            </a:avLst>
          </a:prstGeom>
          <a:solidFill>
            <a:srgbClr val="ED780F"/>
          </a:solidFill>
          <a:ln w="12700">
            <a:solidFill>
              <a:srgbClr val="ED780F"/>
            </a:solidFill>
            <a:prstDash val="solid"/>
          </a:ln>
        </p:spPr>
      </p:sp>
      <p:sp>
        <p:nvSpPr>
          <p:cNvPr id="19" name="Text 16"/>
          <p:cNvSpPr txBox="1"/>
          <p:nvPr/>
        </p:nvSpPr>
        <p:spPr>
          <a:xfrm>
            <a:off x="6035040" y="39319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0" name="Text 17"/>
          <p:cNvSpPr txBox="1"/>
          <p:nvPr/>
        </p:nvSpPr>
        <p:spPr>
          <a:xfrm>
            <a:off x="6446520" y="3913632"/>
            <a:ext cx="2240280" cy="685800"/>
          </a:xfrm>
          <a:prstGeom prst="rect">
            <a:avLst/>
          </a:prstGeom>
          <a:noFill/>
          <a:ln/>
        </p:spPr>
        <p:txBody>
          <a:bodyPr wrap="square" lIns="0" tIns="0" rIns="0" bIns="0" rtlCol="0" anchor="t"/>
          <a:lstStyle/>
          <a:p>
            <a:pPr indent="0" marL="0">
              <a:buNone/>
            </a:pPr>
            <a:r>
              <a:rPr lang="en-US" sz="1200" dirty="0">
                <a:solidFill>
                  <a:srgbClr val="14213D"/>
                </a:solidFill>
                <a:latin typeface="Segoe UI" pitchFamily="34" charset="0"/>
                <a:ea typeface="Segoe UI" pitchFamily="34" charset="-122"/>
                <a:cs typeface="Segoe UI" pitchFamily="34" charset="-120"/>
              </a:rPr>
              <a:t>Debit card ordered automatically</a:t>
            </a:r>
            <a:endParaRPr lang="en-US" sz="12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822960"/>
            <a:ext cx="2743200" cy="2011680"/>
          </a:xfrm>
          <a:prstGeom prst="rect">
            <a:avLst/>
          </a:prstGeom>
          <a:noFill/>
          <a:ln/>
        </p:spPr>
        <p:txBody>
          <a:bodyPr wrap="square" lIns="0" tIns="0" rIns="0" bIns="0" rtlCol="0" anchor="ctr"/>
          <a:lstStyle/>
          <a:p>
            <a:pPr indent="0" marL="0">
              <a:buNone/>
            </a:pPr>
            <a:r>
              <a:rPr lang="en-US" sz="13000" dirty="0">
                <a:solidFill>
                  <a:srgbClr val="ED780F"/>
                </a:solidFill>
                <a:latin typeface="Segoe UI Semibold" pitchFamily="34" charset="0"/>
                <a:ea typeface="Segoe UI Semibold" pitchFamily="34" charset="-122"/>
                <a:cs typeface="Segoe UI Semibold" pitchFamily="34" charset="-120"/>
              </a:rPr>
              <a:t>04</a:t>
            </a:r>
            <a:endParaRPr lang="en-US" sz="13000" dirty="0"/>
          </a:p>
        </p:txBody>
      </p:sp>
      <p:sp>
        <p:nvSpPr>
          <p:cNvPr id="3" name="Divider rule"/>
          <p:cNvSpPr/>
          <p:nvPr/>
        </p:nvSpPr>
        <p:spPr>
          <a:xfrm>
            <a:off x="3246120" y="1143000"/>
            <a:ext cx="0" cy="1371600"/>
          </a:xfrm>
          <a:prstGeom prst="line">
            <a:avLst/>
          </a:prstGeom>
          <a:noFill/>
          <a:ln w="15875">
            <a:solidFill>
              <a:srgbClr val="3A5A8C"/>
            </a:solidFill>
            <a:prstDash val="solid"/>
          </a:ln>
        </p:spPr>
      </p:sp>
      <p:sp>
        <p:nvSpPr>
          <p:cNvPr id="4" name="Text 2"/>
          <p:cNvSpPr txBox="1"/>
          <p:nvPr/>
        </p:nvSpPr>
        <p:spPr>
          <a:xfrm>
            <a:off x="3566160" y="1234440"/>
            <a:ext cx="5120640" cy="219456"/>
          </a:xfrm>
          <a:prstGeom prst="rect">
            <a:avLst/>
          </a:prstGeom>
          <a:noFill/>
          <a:ln/>
        </p:spPr>
        <p:txBody>
          <a:bodyPr wrap="square" lIns="0" tIns="0" rIns="0" bIns="0" rtlCol="0" anchor="t"/>
          <a:lstStyle/>
          <a:p>
            <a:pPr indent="0" marL="0">
              <a:buNone/>
            </a:pPr>
            <a:r>
              <a:rPr lang="en-US" sz="900" b="1" spc="250" kern="0" dirty="0">
                <a:solidFill>
                  <a:srgbClr val="ED780F"/>
                </a:solidFill>
                <a:latin typeface="Segoe UI" pitchFamily="34" charset="0"/>
                <a:ea typeface="Segoe UI" pitchFamily="34" charset="-122"/>
                <a:cs typeface="Segoe UI" pitchFamily="34" charset="-120"/>
              </a:rPr>
              <a:t>ACT 4 · EXPERIENCE CLOUD</a:t>
            </a:r>
            <a:endParaRPr lang="en-US" sz="900" dirty="0"/>
          </a:p>
        </p:txBody>
      </p:sp>
      <p:sp>
        <p:nvSpPr>
          <p:cNvPr id="5" name="Text 3"/>
          <p:cNvSpPr txBox="1"/>
          <p:nvPr/>
        </p:nvSpPr>
        <p:spPr>
          <a:xfrm>
            <a:off x="3566160" y="1554480"/>
            <a:ext cx="5120640" cy="1188720"/>
          </a:xfrm>
          <a:prstGeom prst="rect">
            <a:avLst/>
          </a:prstGeom>
          <a:noFill/>
          <a:ln/>
        </p:spPr>
        <p:txBody>
          <a:bodyPr wrap="square" lIns="0" tIns="0" rIns="0" bIns="0" rtlCol="0" anchor="t">
            <a:normAutofit/>
          </a:bodyPr>
          <a:lstStyle/>
          <a:p>
            <a:pPr indent="0" marL="0">
              <a:buNone/>
            </a:pPr>
            <a:r>
              <a:rPr lang="en-US" sz="3200" dirty="0">
                <a:solidFill>
                  <a:srgbClr val="FFFFFF"/>
                </a:solidFill>
                <a:latin typeface="Segoe UI Semibold" pitchFamily="34" charset="0"/>
                <a:ea typeface="Segoe UI Semibold" pitchFamily="34" charset="-122"/>
                <a:cs typeface="Segoe UI Semibold" pitchFamily="34" charset="-120"/>
              </a:rPr>
              <a:t>The first 30 days</a:t>
            </a:r>
            <a:endParaRPr lang="en-US" sz="3200" dirty="0"/>
          </a:p>
        </p:txBody>
      </p:sp>
      <p:sp>
        <p:nvSpPr>
          <p:cNvPr id="6" name="Tracker 1"/>
          <p:cNvSpPr/>
          <p:nvPr/>
        </p:nvSpPr>
        <p:spPr>
          <a:xfrm>
            <a:off x="457200" y="3977640"/>
            <a:ext cx="1554480" cy="54864"/>
          </a:xfrm>
          <a:prstGeom prst="rect">
            <a:avLst/>
          </a:prstGeom>
          <a:solidFill>
            <a:srgbClr val="2B4C7E"/>
          </a:solidFill>
          <a:ln w="12700">
            <a:solidFill>
              <a:srgbClr val="2B4C7E"/>
            </a:solidFill>
            <a:prstDash val="solid"/>
          </a:ln>
        </p:spPr>
      </p:sp>
      <p:sp>
        <p:nvSpPr>
          <p:cNvPr id="7" name="Text 5"/>
          <p:cNvSpPr txBox="1"/>
          <p:nvPr/>
        </p:nvSpPr>
        <p:spPr>
          <a:xfrm>
            <a:off x="457200"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1  Targeting</a:t>
            </a:r>
            <a:endParaRPr lang="en-US" sz="900" dirty="0"/>
          </a:p>
        </p:txBody>
      </p:sp>
      <p:sp>
        <p:nvSpPr>
          <p:cNvPr id="8" name="Tracker 2"/>
          <p:cNvSpPr/>
          <p:nvPr/>
        </p:nvSpPr>
        <p:spPr>
          <a:xfrm>
            <a:off x="2121408" y="3977640"/>
            <a:ext cx="1554480" cy="54864"/>
          </a:xfrm>
          <a:prstGeom prst="rect">
            <a:avLst/>
          </a:prstGeom>
          <a:solidFill>
            <a:srgbClr val="2B4C7E"/>
          </a:solidFill>
          <a:ln w="12700">
            <a:solidFill>
              <a:srgbClr val="2B4C7E"/>
            </a:solidFill>
            <a:prstDash val="solid"/>
          </a:ln>
        </p:spPr>
      </p:sp>
      <p:sp>
        <p:nvSpPr>
          <p:cNvPr id="9" name="Text 7"/>
          <p:cNvSpPr txBox="1"/>
          <p:nvPr/>
        </p:nvSpPr>
        <p:spPr>
          <a:xfrm>
            <a:off x="2121408"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2  Join and apply</a:t>
            </a:r>
            <a:endParaRPr lang="en-US" sz="900" dirty="0"/>
          </a:p>
        </p:txBody>
      </p:sp>
      <p:sp>
        <p:nvSpPr>
          <p:cNvPr id="10" name="Tracker 3"/>
          <p:cNvSpPr/>
          <p:nvPr/>
        </p:nvSpPr>
        <p:spPr>
          <a:xfrm>
            <a:off x="3785616" y="3977640"/>
            <a:ext cx="1554480" cy="54864"/>
          </a:xfrm>
          <a:prstGeom prst="rect">
            <a:avLst/>
          </a:prstGeom>
          <a:solidFill>
            <a:srgbClr val="2B4C7E"/>
          </a:solidFill>
          <a:ln w="12700">
            <a:solidFill>
              <a:srgbClr val="2B4C7E"/>
            </a:solidFill>
            <a:prstDash val="solid"/>
          </a:ln>
        </p:spPr>
      </p:sp>
      <p:sp>
        <p:nvSpPr>
          <p:cNvPr id="11" name="Text 9"/>
          <p:cNvSpPr txBox="1"/>
          <p:nvPr/>
        </p:nvSpPr>
        <p:spPr>
          <a:xfrm>
            <a:off x="3785616"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3  Open accounts</a:t>
            </a:r>
            <a:endParaRPr lang="en-US" sz="900" dirty="0"/>
          </a:p>
        </p:txBody>
      </p:sp>
      <p:sp>
        <p:nvSpPr>
          <p:cNvPr id="12" name="Tracker 4"/>
          <p:cNvSpPr/>
          <p:nvPr/>
        </p:nvSpPr>
        <p:spPr>
          <a:xfrm>
            <a:off x="5449824" y="3977640"/>
            <a:ext cx="1554480" cy="54864"/>
          </a:xfrm>
          <a:prstGeom prst="rect">
            <a:avLst/>
          </a:prstGeom>
          <a:solidFill>
            <a:srgbClr val="ED780F"/>
          </a:solidFill>
          <a:ln w="12700">
            <a:solidFill>
              <a:srgbClr val="ED780F"/>
            </a:solidFill>
            <a:prstDash val="solid"/>
          </a:ln>
        </p:spPr>
      </p:sp>
      <p:sp>
        <p:nvSpPr>
          <p:cNvPr id="13" name="Text 11"/>
          <p:cNvSpPr txBox="1"/>
          <p:nvPr/>
        </p:nvSpPr>
        <p:spPr>
          <a:xfrm>
            <a:off x="5449824" y="4114800"/>
            <a:ext cx="1554480" cy="228600"/>
          </a:xfrm>
          <a:prstGeom prst="rect">
            <a:avLst/>
          </a:prstGeom>
          <a:noFill/>
          <a:ln/>
        </p:spPr>
        <p:txBody>
          <a:bodyPr wrap="square" lIns="0" tIns="0" rIns="0" bIns="0" rtlCol="0" anchor="t"/>
          <a:lstStyle/>
          <a:p>
            <a:pPr indent="0" marL="0">
              <a:buNone/>
            </a:pPr>
            <a:r>
              <a:rPr lang="en-US" sz="900" b="1" dirty="0">
                <a:solidFill>
                  <a:srgbClr val="FFFFFF"/>
                </a:solidFill>
                <a:latin typeface="Segoe UI" pitchFamily="34" charset="0"/>
                <a:ea typeface="Segoe UI" pitchFamily="34" charset="-122"/>
                <a:cs typeface="Segoe UI" pitchFamily="34" charset="-120"/>
              </a:rPr>
              <a:t>4  First 30 days</a:t>
            </a:r>
            <a:endParaRPr lang="en-US" sz="900" dirty="0"/>
          </a:p>
        </p:txBody>
      </p:sp>
      <p:sp>
        <p:nvSpPr>
          <p:cNvPr id="14" name="Tracker 5"/>
          <p:cNvSpPr/>
          <p:nvPr/>
        </p:nvSpPr>
        <p:spPr>
          <a:xfrm>
            <a:off x="7114032" y="3977640"/>
            <a:ext cx="1554480" cy="54864"/>
          </a:xfrm>
          <a:prstGeom prst="rect">
            <a:avLst/>
          </a:prstGeom>
          <a:solidFill>
            <a:srgbClr val="2B4C7E"/>
          </a:solidFill>
          <a:ln w="12700">
            <a:solidFill>
              <a:srgbClr val="2B4C7E"/>
            </a:solidFill>
            <a:prstDash val="solid"/>
          </a:ln>
        </p:spPr>
      </p:sp>
      <p:sp>
        <p:nvSpPr>
          <p:cNvPr id="15" name="Text 13"/>
          <p:cNvSpPr txBox="1"/>
          <p:nvPr/>
        </p:nvSpPr>
        <p:spPr>
          <a:xfrm>
            <a:off x="7114032"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5  Measure and grow</a:t>
            </a:r>
            <a:endParaRPr lang="en-US" sz="9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EA3C4"/>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Browser frame"/>
          <p:cNvSpPr/>
          <p:nvPr/>
        </p:nvSpPr>
        <p:spPr>
          <a:xfrm>
            <a:off x="411480" y="320040"/>
            <a:ext cx="4892040" cy="3515297"/>
          </a:xfrm>
          <a:prstGeom prst="roundRect">
            <a:avLst>
              <a:gd name="adj" fmla="val 3121"/>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3" name="Browser bar"/>
          <p:cNvSpPr/>
          <p:nvPr/>
        </p:nvSpPr>
        <p:spPr>
          <a:xfrm>
            <a:off x="429768" y="338328"/>
            <a:ext cx="4855464" cy="256032"/>
          </a:xfrm>
          <a:prstGeom prst="rect">
            <a:avLst/>
          </a:prstGeom>
          <a:solidFill>
            <a:srgbClr val="EAF0F8"/>
          </a:solidFill>
          <a:ln w="12700">
            <a:solidFill>
              <a:srgbClr val="EAF0F8"/>
            </a:solidFill>
            <a:prstDash val="solid"/>
          </a:ln>
        </p:spPr>
      </p:sp>
      <p:sp>
        <p:nvSpPr>
          <p:cNvPr id="4" name="Browser dot 1"/>
          <p:cNvSpPr/>
          <p:nvPr/>
        </p:nvSpPr>
        <p:spPr>
          <a:xfrm>
            <a:off x="521208" y="411480"/>
            <a:ext cx="82296" cy="82296"/>
          </a:xfrm>
          <a:prstGeom prst="ellipse">
            <a:avLst/>
          </a:prstGeom>
          <a:solidFill>
            <a:srgbClr val="E46A5E"/>
          </a:solidFill>
          <a:ln w="12700">
            <a:solidFill>
              <a:srgbClr val="E46A5E"/>
            </a:solidFill>
            <a:prstDash val="solid"/>
          </a:ln>
        </p:spPr>
      </p:sp>
      <p:sp>
        <p:nvSpPr>
          <p:cNvPr id="5" name="Browser dot 2"/>
          <p:cNvSpPr/>
          <p:nvPr/>
        </p:nvSpPr>
        <p:spPr>
          <a:xfrm>
            <a:off x="649224" y="411480"/>
            <a:ext cx="82296" cy="82296"/>
          </a:xfrm>
          <a:prstGeom prst="ellipse">
            <a:avLst/>
          </a:prstGeom>
          <a:solidFill>
            <a:srgbClr val="F2B84B"/>
          </a:solidFill>
          <a:ln w="12700">
            <a:solidFill>
              <a:srgbClr val="F2B84B"/>
            </a:solidFill>
            <a:prstDash val="solid"/>
          </a:ln>
        </p:spPr>
      </p:sp>
      <p:sp>
        <p:nvSpPr>
          <p:cNvPr id="6" name="Browser dot 3"/>
          <p:cNvSpPr/>
          <p:nvPr/>
        </p:nvSpPr>
        <p:spPr>
          <a:xfrm>
            <a:off x="777240" y="411480"/>
            <a:ext cx="82296" cy="82296"/>
          </a:xfrm>
          <a:prstGeom prst="ellipse">
            <a:avLst/>
          </a:prstGeom>
          <a:solidFill>
            <a:srgbClr val="5DBB63"/>
          </a:solidFill>
          <a:ln w="12700">
            <a:solidFill>
              <a:srgbClr val="5DBB63"/>
            </a:solidFill>
            <a:prstDash val="solid"/>
          </a:ln>
        </p:spPr>
      </p:sp>
      <p:sp>
        <p:nvSpPr>
          <p:cNvPr id="7" name="Address bar"/>
          <p:cNvSpPr/>
          <p:nvPr/>
        </p:nvSpPr>
        <p:spPr>
          <a:xfrm>
            <a:off x="960120" y="374904"/>
            <a:ext cx="3291840" cy="164592"/>
          </a:xfrm>
          <a:prstGeom prst="roundRect">
            <a:avLst>
              <a:gd name="adj" fmla="val 50000"/>
            </a:avLst>
          </a:prstGeom>
          <a:solidFill>
            <a:srgbClr val="FFFFFF"/>
          </a:solidFill>
          <a:ln w="6350">
            <a:solidFill>
              <a:srgbClr val="D6DFEB"/>
            </a:solidFill>
            <a:prstDash val="solid"/>
          </a:ln>
        </p:spPr>
      </p:sp>
      <p:sp>
        <p:nvSpPr>
          <p:cNvPr id="8" name="Text 6"/>
          <p:cNvSpPr txBox="1"/>
          <p:nvPr/>
        </p:nvSpPr>
        <p:spPr>
          <a:xfrm>
            <a:off x="1051560" y="374904"/>
            <a:ext cx="3154680" cy="164592"/>
          </a:xfrm>
          <a:prstGeom prst="rect">
            <a:avLst/>
          </a:prstGeom>
          <a:noFill/>
          <a:ln/>
        </p:spPr>
        <p:txBody>
          <a:bodyPr wrap="square" lIns="0" tIns="0" rIns="0" bIns="0" rtlCol="0" anchor="ctr"/>
          <a:lstStyle/>
          <a:p>
            <a:pPr indent="0" marL="0">
              <a:buNone/>
            </a:pPr>
            <a:r>
              <a:rPr lang="en-US" sz="700" dirty="0">
                <a:solidFill>
                  <a:srgbClr val="5A6577"/>
                </a:solidFill>
                <a:latin typeface="Segoe UI" pitchFamily="34" charset="0"/>
                <a:ea typeface="Segoe UI" pitchFamily="34" charset="-122"/>
                <a:cs typeface="Segoe UI" pitchFamily="34" charset="-120"/>
              </a:rPr>
              <a:t>storm-6269dbe2d00053.my.site.com/consumer/s/welcome?t=••••••</a:t>
            </a:r>
            <a:endParaRPr lang="en-US" sz="700" dirty="0"/>
          </a:p>
        </p:txBody>
      </p:sp>
      <p:pic>
        <p:nvPicPr>
          <p:cNvPr id="9" name="Screenshot 11-welcome-start.jpg" descr="Your first 30 days · private link from the welcome email">    </p:cNvPr>
          <p:cNvPicPr>
            <a:picLocks noChangeAspect="1"/>
          </p:cNvPicPr>
          <p:nvPr/>
        </p:nvPicPr>
        <p:blipFill>
          <a:blip r:embed="rId1"/>
          <a:stretch>
            <a:fillRect/>
          </a:stretch>
        </p:blipFill>
        <p:spPr>
          <a:xfrm>
            <a:off x="411480" y="594360"/>
            <a:ext cx="4892040" cy="3240977"/>
          </a:xfrm>
          <a:prstGeom prst="rect">
            <a:avLst/>
          </a:prstGeom>
        </p:spPr>
      </p:pic>
      <p:sp>
        <p:nvSpPr>
          <p:cNvPr id="10" name="Text 7"/>
          <p:cNvSpPr txBox="1"/>
          <p:nvPr/>
        </p:nvSpPr>
        <p:spPr>
          <a:xfrm>
            <a:off x="5715000" y="502920"/>
            <a:ext cx="3017520"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4 · FIRST 30 DAYS</a:t>
            </a:r>
            <a:endParaRPr lang="en-US" sz="900" dirty="0"/>
          </a:p>
        </p:txBody>
      </p:sp>
      <p:sp>
        <p:nvSpPr>
          <p:cNvPr id="11" name="Text 8"/>
          <p:cNvSpPr txBox="1"/>
          <p:nvPr/>
        </p:nvSpPr>
        <p:spPr>
          <a:xfrm>
            <a:off x="5715000" y="777240"/>
            <a:ext cx="3017520" cy="1143000"/>
          </a:xfrm>
          <a:prstGeom prst="rect">
            <a:avLst/>
          </a:prstGeom>
          <a:noFill/>
          <a:ln/>
        </p:spPr>
        <p:txBody>
          <a:bodyPr wrap="square" lIns="0" tIns="0" rIns="0" bIns="0" rtlCol="0" anchor="t">
            <a:normAutofit/>
          </a:bodyPr>
          <a:lstStyle/>
          <a:p>
            <a:pPr indent="0" marL="0">
              <a:buNone/>
            </a:pPr>
            <a:r>
              <a:rPr lang="en-US" sz="2400" dirty="0">
                <a:solidFill>
                  <a:srgbClr val="043370"/>
                </a:solidFill>
                <a:latin typeface="Segoe UI Semibold" pitchFamily="34" charset="0"/>
                <a:ea typeface="Segoe UI Semibold" pitchFamily="34" charset="-122"/>
                <a:cs typeface="Segoe UI Semibold" pitchFamily="34" charset="-120"/>
              </a:rPr>
              <a:t>His first 30 days, in one place</a:t>
            </a:r>
            <a:endParaRPr lang="en-US" sz="2400" dirty="0"/>
          </a:p>
        </p:txBody>
      </p:sp>
      <p:sp>
        <p:nvSpPr>
          <p:cNvPr id="12" name="Text 9"/>
          <p:cNvSpPr txBox="1"/>
          <p:nvPr/>
        </p:nvSpPr>
        <p:spPr>
          <a:xfrm>
            <a:off x="5715000" y="1920240"/>
            <a:ext cx="3017520" cy="365760"/>
          </a:xfrm>
          <a:prstGeom prst="rect">
            <a:avLst/>
          </a:prstGeom>
          <a:noFill/>
          <a:ln/>
        </p:spPr>
        <p:txBody>
          <a:bodyPr wrap="square" lIns="0" tIns="0" rIns="0" bIns="0" rtlCol="0" anchor="t"/>
          <a:lstStyle/>
          <a:p>
            <a:pPr indent="0" marL="0">
              <a:buNone/>
            </a:pPr>
            <a:r>
              <a:rPr lang="en-US" sz="1100" i="1" dirty="0">
                <a:solidFill>
                  <a:srgbClr val="5A6577"/>
                </a:solidFill>
                <a:latin typeface="Segoe UI" pitchFamily="34" charset="0"/>
                <a:ea typeface="Segoe UI" pitchFamily="34" charset="-122"/>
                <a:cs typeface="Segoe UI" pitchFamily="34" charset="-120"/>
              </a:rPr>
              <a:t>Your first 30 days · private link from the welcome email</a:t>
            </a:r>
            <a:endParaRPr lang="en-US" sz="1100" dirty="0"/>
          </a:p>
        </p:txBody>
      </p:sp>
      <p:sp>
        <p:nvSpPr>
          <p:cNvPr id="13" name="Point 1"/>
          <p:cNvSpPr/>
          <p:nvPr/>
        </p:nvSpPr>
        <p:spPr>
          <a:xfrm>
            <a:off x="5715000" y="2377440"/>
            <a:ext cx="329184" cy="329184"/>
          </a:xfrm>
          <a:prstGeom prst="roundRect">
            <a:avLst>
              <a:gd name="adj" fmla="val 22222"/>
            </a:avLst>
          </a:prstGeom>
          <a:solidFill>
            <a:srgbClr val="ED780F"/>
          </a:solidFill>
          <a:ln w="12700">
            <a:solidFill>
              <a:srgbClr val="ED780F"/>
            </a:solidFill>
            <a:prstDash val="solid"/>
          </a:ln>
        </p:spPr>
      </p:sp>
      <p:sp>
        <p:nvSpPr>
          <p:cNvPr id="14" name="Text 11"/>
          <p:cNvSpPr txBox="1"/>
          <p:nvPr/>
        </p:nvSpPr>
        <p:spPr>
          <a:xfrm>
            <a:off x="5715000" y="237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15" name="Text 12"/>
          <p:cNvSpPr txBox="1"/>
          <p:nvPr/>
        </p:nvSpPr>
        <p:spPr>
          <a:xfrm>
            <a:off x="6190488" y="2359152"/>
            <a:ext cx="2542032"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Progress ring across five steps</a:t>
            </a:r>
            <a:endParaRPr lang="en-US" sz="1300" dirty="0"/>
          </a:p>
        </p:txBody>
      </p:sp>
      <p:sp>
        <p:nvSpPr>
          <p:cNvPr id="16" name="Point 2"/>
          <p:cNvSpPr/>
          <p:nvPr/>
        </p:nvSpPr>
        <p:spPr>
          <a:xfrm>
            <a:off x="5715000" y="3108960"/>
            <a:ext cx="329184" cy="329184"/>
          </a:xfrm>
          <a:prstGeom prst="roundRect">
            <a:avLst>
              <a:gd name="adj" fmla="val 22222"/>
            </a:avLst>
          </a:prstGeom>
          <a:solidFill>
            <a:srgbClr val="ED780F"/>
          </a:solidFill>
          <a:ln w="12700">
            <a:solidFill>
              <a:srgbClr val="ED780F"/>
            </a:solidFill>
            <a:prstDash val="solid"/>
          </a:ln>
        </p:spPr>
      </p:sp>
      <p:sp>
        <p:nvSpPr>
          <p:cNvPr id="17" name="Text 14"/>
          <p:cNvSpPr txBox="1"/>
          <p:nvPr/>
        </p:nvSpPr>
        <p:spPr>
          <a:xfrm>
            <a:off x="5715000" y="3108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8" name="Text 15"/>
          <p:cNvSpPr txBox="1"/>
          <p:nvPr/>
        </p:nvSpPr>
        <p:spPr>
          <a:xfrm>
            <a:off x="6190488" y="3090672"/>
            <a:ext cx="2542032"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Live balances from the accounts the banker opened</a:t>
            </a:r>
            <a:endParaRPr lang="en-US" sz="1300" dirty="0"/>
          </a:p>
        </p:txBody>
      </p:sp>
      <p:sp>
        <p:nvSpPr>
          <p:cNvPr id="19" name="Point 3"/>
          <p:cNvSpPr/>
          <p:nvPr/>
        </p:nvSpPr>
        <p:spPr>
          <a:xfrm>
            <a:off x="5715000" y="3840480"/>
            <a:ext cx="329184" cy="329184"/>
          </a:xfrm>
          <a:prstGeom prst="roundRect">
            <a:avLst>
              <a:gd name="adj" fmla="val 22222"/>
            </a:avLst>
          </a:prstGeom>
          <a:solidFill>
            <a:srgbClr val="ED780F"/>
          </a:solidFill>
          <a:ln w="12700">
            <a:solidFill>
              <a:srgbClr val="ED780F"/>
            </a:solidFill>
            <a:prstDash val="solid"/>
          </a:ln>
        </p:spPr>
      </p:sp>
      <p:sp>
        <p:nvSpPr>
          <p:cNvPr id="20" name="Text 17"/>
          <p:cNvSpPr txBox="1"/>
          <p:nvPr/>
        </p:nvSpPr>
        <p:spPr>
          <a:xfrm>
            <a:off x="5715000" y="38404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1" name="Text 18"/>
          <p:cNvSpPr txBox="1"/>
          <p:nvPr/>
        </p:nvSpPr>
        <p:spPr>
          <a:xfrm>
            <a:off x="6190488" y="3822192"/>
            <a:ext cx="2542032"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No portal login needed</a:t>
            </a:r>
            <a:endParaRPr lang="en-US" sz="13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Browser frame"/>
          <p:cNvSpPr/>
          <p:nvPr/>
        </p:nvSpPr>
        <p:spPr>
          <a:xfrm>
            <a:off x="411480" y="320040"/>
            <a:ext cx="3678264" cy="4343400"/>
          </a:xfrm>
          <a:prstGeom prst="roundRect">
            <a:avLst>
              <a:gd name="adj" fmla="val 2983"/>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3" name="Browser bar"/>
          <p:cNvSpPr/>
          <p:nvPr/>
        </p:nvSpPr>
        <p:spPr>
          <a:xfrm>
            <a:off x="429768" y="338328"/>
            <a:ext cx="3641688" cy="256032"/>
          </a:xfrm>
          <a:prstGeom prst="rect">
            <a:avLst/>
          </a:prstGeom>
          <a:solidFill>
            <a:srgbClr val="EAF0F8"/>
          </a:solidFill>
          <a:ln w="12700">
            <a:solidFill>
              <a:srgbClr val="EAF0F8"/>
            </a:solidFill>
            <a:prstDash val="solid"/>
          </a:ln>
        </p:spPr>
      </p:sp>
      <p:sp>
        <p:nvSpPr>
          <p:cNvPr id="4" name="Browser dot 1"/>
          <p:cNvSpPr/>
          <p:nvPr/>
        </p:nvSpPr>
        <p:spPr>
          <a:xfrm>
            <a:off x="521208" y="411480"/>
            <a:ext cx="82296" cy="82296"/>
          </a:xfrm>
          <a:prstGeom prst="ellipse">
            <a:avLst/>
          </a:prstGeom>
          <a:solidFill>
            <a:srgbClr val="E46A5E"/>
          </a:solidFill>
          <a:ln w="12700">
            <a:solidFill>
              <a:srgbClr val="E46A5E"/>
            </a:solidFill>
            <a:prstDash val="solid"/>
          </a:ln>
        </p:spPr>
      </p:sp>
      <p:sp>
        <p:nvSpPr>
          <p:cNvPr id="5" name="Browser dot 2"/>
          <p:cNvSpPr/>
          <p:nvPr/>
        </p:nvSpPr>
        <p:spPr>
          <a:xfrm>
            <a:off x="649224" y="411480"/>
            <a:ext cx="82296" cy="82296"/>
          </a:xfrm>
          <a:prstGeom prst="ellipse">
            <a:avLst/>
          </a:prstGeom>
          <a:solidFill>
            <a:srgbClr val="F2B84B"/>
          </a:solidFill>
          <a:ln w="12700">
            <a:solidFill>
              <a:srgbClr val="F2B84B"/>
            </a:solidFill>
            <a:prstDash val="solid"/>
          </a:ln>
        </p:spPr>
      </p:sp>
      <p:sp>
        <p:nvSpPr>
          <p:cNvPr id="6" name="Browser dot 3"/>
          <p:cNvSpPr/>
          <p:nvPr/>
        </p:nvSpPr>
        <p:spPr>
          <a:xfrm>
            <a:off x="777240" y="411480"/>
            <a:ext cx="82296" cy="82296"/>
          </a:xfrm>
          <a:prstGeom prst="ellipse">
            <a:avLst/>
          </a:prstGeom>
          <a:solidFill>
            <a:srgbClr val="5DBB63"/>
          </a:solidFill>
          <a:ln w="12700">
            <a:solidFill>
              <a:srgbClr val="5DBB63"/>
            </a:solidFill>
            <a:prstDash val="solid"/>
          </a:ln>
        </p:spPr>
      </p:sp>
      <p:sp>
        <p:nvSpPr>
          <p:cNvPr id="7" name="Address bar"/>
          <p:cNvSpPr/>
          <p:nvPr/>
        </p:nvSpPr>
        <p:spPr>
          <a:xfrm>
            <a:off x="960120" y="374904"/>
            <a:ext cx="2992464" cy="164592"/>
          </a:xfrm>
          <a:prstGeom prst="roundRect">
            <a:avLst>
              <a:gd name="adj" fmla="val 50000"/>
            </a:avLst>
          </a:prstGeom>
          <a:solidFill>
            <a:srgbClr val="FFFFFF"/>
          </a:solidFill>
          <a:ln w="6350">
            <a:solidFill>
              <a:srgbClr val="D6DFEB"/>
            </a:solidFill>
            <a:prstDash val="solid"/>
          </a:ln>
        </p:spPr>
      </p:sp>
      <p:sp>
        <p:nvSpPr>
          <p:cNvPr id="8" name="Text 6"/>
          <p:cNvSpPr txBox="1"/>
          <p:nvPr/>
        </p:nvSpPr>
        <p:spPr>
          <a:xfrm>
            <a:off x="1051560" y="374904"/>
            <a:ext cx="2901024" cy="164592"/>
          </a:xfrm>
          <a:prstGeom prst="rect">
            <a:avLst/>
          </a:prstGeom>
          <a:noFill/>
          <a:ln/>
        </p:spPr>
        <p:txBody>
          <a:bodyPr wrap="square" lIns="0" tIns="0" rIns="0" bIns="0" rtlCol="0" anchor="ctr"/>
          <a:lstStyle/>
          <a:p>
            <a:pPr indent="0" marL="0">
              <a:buNone/>
            </a:pPr>
            <a:r>
              <a:rPr lang="en-US" sz="700" dirty="0">
                <a:solidFill>
                  <a:srgbClr val="5A6577"/>
                </a:solidFill>
                <a:latin typeface="Segoe UI" pitchFamily="34" charset="0"/>
                <a:ea typeface="Segoe UI" pitchFamily="34" charset="-122"/>
                <a:cs typeface="Segoe UI" pitchFamily="34" charset="-120"/>
              </a:rPr>
              <a:t>storm-6269dbe2d00053.my.site.com/consumer/s/welcome?t=••••••</a:t>
            </a:r>
            <a:endParaRPr lang="en-US" sz="700" dirty="0"/>
          </a:p>
        </p:txBody>
      </p:sp>
      <p:pic>
        <p:nvPicPr>
          <p:cNvPr id="9" name="Screenshot 12-welcome-card-dd.jpg" descr="Debit card activation and direct deposit">    </p:cNvPr>
          <p:cNvPicPr>
            <a:picLocks noChangeAspect="1"/>
          </p:cNvPicPr>
          <p:nvPr/>
        </p:nvPicPr>
        <p:blipFill>
          <a:blip r:embed="rId1"/>
          <a:stretch>
            <a:fillRect/>
          </a:stretch>
        </p:blipFill>
        <p:spPr>
          <a:xfrm>
            <a:off x="411480" y="594360"/>
            <a:ext cx="3678264" cy="4069080"/>
          </a:xfrm>
          <a:prstGeom prst="rect">
            <a:avLst/>
          </a:prstGeom>
        </p:spPr>
      </p:pic>
      <p:sp>
        <p:nvSpPr>
          <p:cNvPr id="10" name="Text 7"/>
          <p:cNvSpPr txBox="1"/>
          <p:nvPr/>
        </p:nvSpPr>
        <p:spPr>
          <a:xfrm>
            <a:off x="4501224" y="502920"/>
            <a:ext cx="4231296"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4 · FIRST 30 DAYS</a:t>
            </a:r>
            <a:endParaRPr lang="en-US" sz="900" dirty="0"/>
          </a:p>
        </p:txBody>
      </p:sp>
      <p:sp>
        <p:nvSpPr>
          <p:cNvPr id="11" name="Text 8"/>
          <p:cNvSpPr txBox="1"/>
          <p:nvPr/>
        </p:nvSpPr>
        <p:spPr>
          <a:xfrm>
            <a:off x="4501224" y="777240"/>
            <a:ext cx="4231296" cy="1143000"/>
          </a:xfrm>
          <a:prstGeom prst="rect">
            <a:avLst/>
          </a:prstGeom>
          <a:noFill/>
          <a:ln/>
        </p:spPr>
        <p:txBody>
          <a:bodyPr wrap="square" lIns="0" tIns="0" rIns="0" bIns="0" rtlCol="0" anchor="t">
            <a:normAutofit/>
          </a:bodyPr>
          <a:lstStyle/>
          <a:p>
            <a:pPr indent="0" marL="0">
              <a:buNone/>
            </a:pPr>
            <a:r>
              <a:rPr lang="en-US" sz="2400" dirty="0">
                <a:solidFill>
                  <a:srgbClr val="043370"/>
                </a:solidFill>
                <a:latin typeface="Segoe UI Semibold" pitchFamily="34" charset="0"/>
                <a:ea typeface="Segoe UI Semibold" pitchFamily="34" charset="-122"/>
                <a:cs typeface="Segoe UI Semibold" pitchFamily="34" charset="-120"/>
              </a:rPr>
              <a:t>Card active, paycheck on its way</a:t>
            </a:r>
            <a:endParaRPr lang="en-US" sz="2400" dirty="0"/>
          </a:p>
        </p:txBody>
      </p:sp>
      <p:sp>
        <p:nvSpPr>
          <p:cNvPr id="12" name="Text 9"/>
          <p:cNvSpPr txBox="1"/>
          <p:nvPr/>
        </p:nvSpPr>
        <p:spPr>
          <a:xfrm>
            <a:off x="4501224" y="1920240"/>
            <a:ext cx="4231296" cy="365760"/>
          </a:xfrm>
          <a:prstGeom prst="rect">
            <a:avLst/>
          </a:prstGeom>
          <a:noFill/>
          <a:ln/>
        </p:spPr>
        <p:txBody>
          <a:bodyPr wrap="square" lIns="0" tIns="0" rIns="0" bIns="0" rtlCol="0" anchor="t"/>
          <a:lstStyle/>
          <a:p>
            <a:pPr indent="0" marL="0">
              <a:buNone/>
            </a:pPr>
            <a:r>
              <a:rPr lang="en-US" sz="1100" i="1" dirty="0">
                <a:solidFill>
                  <a:srgbClr val="5A6577"/>
                </a:solidFill>
                <a:latin typeface="Segoe UI" pitchFamily="34" charset="0"/>
                <a:ea typeface="Segoe UI" pitchFamily="34" charset="-122"/>
                <a:cs typeface="Segoe UI" pitchFamily="34" charset="-120"/>
              </a:rPr>
              <a:t>Debit card activation and direct deposit</a:t>
            </a:r>
            <a:endParaRPr lang="en-US" sz="1100" dirty="0"/>
          </a:p>
        </p:txBody>
      </p:sp>
      <p:sp>
        <p:nvSpPr>
          <p:cNvPr id="13" name="Point 1"/>
          <p:cNvSpPr/>
          <p:nvPr/>
        </p:nvSpPr>
        <p:spPr>
          <a:xfrm>
            <a:off x="4501224" y="2377440"/>
            <a:ext cx="329184" cy="329184"/>
          </a:xfrm>
          <a:prstGeom prst="roundRect">
            <a:avLst>
              <a:gd name="adj" fmla="val 22222"/>
            </a:avLst>
          </a:prstGeom>
          <a:solidFill>
            <a:srgbClr val="ED780F"/>
          </a:solidFill>
          <a:ln w="12700">
            <a:solidFill>
              <a:srgbClr val="ED780F"/>
            </a:solidFill>
            <a:prstDash val="solid"/>
          </a:ln>
        </p:spPr>
      </p:sp>
      <p:sp>
        <p:nvSpPr>
          <p:cNvPr id="14" name="Text 11"/>
          <p:cNvSpPr txBox="1"/>
          <p:nvPr/>
        </p:nvSpPr>
        <p:spPr>
          <a:xfrm>
            <a:off x="4501224" y="237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15" name="Text 12"/>
          <p:cNvSpPr txBox="1"/>
          <p:nvPr/>
        </p:nvSpPr>
        <p:spPr>
          <a:xfrm>
            <a:off x="4976712" y="2359152"/>
            <a:ext cx="3755808"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Activates with the card’s last 4 digits and date of birth</a:t>
            </a:r>
            <a:endParaRPr lang="en-US" sz="1300" dirty="0"/>
          </a:p>
        </p:txBody>
      </p:sp>
      <p:sp>
        <p:nvSpPr>
          <p:cNvPr id="16" name="Point 2"/>
          <p:cNvSpPr/>
          <p:nvPr/>
        </p:nvSpPr>
        <p:spPr>
          <a:xfrm>
            <a:off x="4501224" y="3108960"/>
            <a:ext cx="329184" cy="329184"/>
          </a:xfrm>
          <a:prstGeom prst="roundRect">
            <a:avLst>
              <a:gd name="adj" fmla="val 22222"/>
            </a:avLst>
          </a:prstGeom>
          <a:solidFill>
            <a:srgbClr val="ED780F"/>
          </a:solidFill>
          <a:ln w="12700">
            <a:solidFill>
              <a:srgbClr val="ED780F"/>
            </a:solidFill>
            <a:prstDash val="solid"/>
          </a:ln>
        </p:spPr>
      </p:sp>
      <p:sp>
        <p:nvSpPr>
          <p:cNvPr id="17" name="Text 14"/>
          <p:cNvSpPr txBox="1"/>
          <p:nvPr/>
        </p:nvSpPr>
        <p:spPr>
          <a:xfrm>
            <a:off x="4501224" y="3108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8" name="Text 15"/>
          <p:cNvSpPr txBox="1"/>
          <p:nvPr/>
        </p:nvSpPr>
        <p:spPr>
          <a:xfrm>
            <a:off x="4976712" y="3090672"/>
            <a:ext cx="3755808"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Direct deposit form filled in for his employer</a:t>
            </a:r>
            <a:endParaRPr lang="en-US" sz="1300" dirty="0"/>
          </a:p>
        </p:txBody>
      </p:sp>
      <p:sp>
        <p:nvSpPr>
          <p:cNvPr id="19" name="Point 3"/>
          <p:cNvSpPr/>
          <p:nvPr/>
        </p:nvSpPr>
        <p:spPr>
          <a:xfrm>
            <a:off x="4501224" y="3840480"/>
            <a:ext cx="329184" cy="329184"/>
          </a:xfrm>
          <a:prstGeom prst="roundRect">
            <a:avLst>
              <a:gd name="adj" fmla="val 22222"/>
            </a:avLst>
          </a:prstGeom>
          <a:solidFill>
            <a:srgbClr val="ED780F"/>
          </a:solidFill>
          <a:ln w="12700">
            <a:solidFill>
              <a:srgbClr val="ED780F"/>
            </a:solidFill>
            <a:prstDash val="solid"/>
          </a:ln>
        </p:spPr>
      </p:sp>
      <p:sp>
        <p:nvSpPr>
          <p:cNvPr id="20" name="Text 17"/>
          <p:cNvSpPr txBox="1"/>
          <p:nvPr/>
        </p:nvSpPr>
        <p:spPr>
          <a:xfrm>
            <a:off x="4501224" y="38404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1" name="Text 18"/>
          <p:cNvSpPr txBox="1"/>
          <p:nvPr/>
        </p:nvSpPr>
        <p:spPr>
          <a:xfrm>
            <a:off x="4976712" y="3822192"/>
            <a:ext cx="3755808"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Routing and account numbers, nothing to look up</a:t>
            </a:r>
            <a:endParaRPr lang="en-US" sz="13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Browser frame"/>
          <p:cNvSpPr/>
          <p:nvPr/>
        </p:nvSpPr>
        <p:spPr>
          <a:xfrm>
            <a:off x="411480" y="320040"/>
            <a:ext cx="4892040" cy="3026092"/>
          </a:xfrm>
          <a:prstGeom prst="roundRect">
            <a:avLst>
              <a:gd name="adj" fmla="val 3626"/>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3" name="Browser bar"/>
          <p:cNvSpPr/>
          <p:nvPr/>
        </p:nvSpPr>
        <p:spPr>
          <a:xfrm>
            <a:off x="429768" y="338328"/>
            <a:ext cx="4855464" cy="256032"/>
          </a:xfrm>
          <a:prstGeom prst="rect">
            <a:avLst/>
          </a:prstGeom>
          <a:solidFill>
            <a:srgbClr val="EAF0F8"/>
          </a:solidFill>
          <a:ln w="12700">
            <a:solidFill>
              <a:srgbClr val="EAF0F8"/>
            </a:solidFill>
            <a:prstDash val="solid"/>
          </a:ln>
        </p:spPr>
      </p:sp>
      <p:sp>
        <p:nvSpPr>
          <p:cNvPr id="4" name="Browser dot 1"/>
          <p:cNvSpPr/>
          <p:nvPr/>
        </p:nvSpPr>
        <p:spPr>
          <a:xfrm>
            <a:off x="521208" y="411480"/>
            <a:ext cx="82296" cy="82296"/>
          </a:xfrm>
          <a:prstGeom prst="ellipse">
            <a:avLst/>
          </a:prstGeom>
          <a:solidFill>
            <a:srgbClr val="E46A5E"/>
          </a:solidFill>
          <a:ln w="12700">
            <a:solidFill>
              <a:srgbClr val="E46A5E"/>
            </a:solidFill>
            <a:prstDash val="solid"/>
          </a:ln>
        </p:spPr>
      </p:sp>
      <p:sp>
        <p:nvSpPr>
          <p:cNvPr id="5" name="Browser dot 2"/>
          <p:cNvSpPr/>
          <p:nvPr/>
        </p:nvSpPr>
        <p:spPr>
          <a:xfrm>
            <a:off x="649224" y="411480"/>
            <a:ext cx="82296" cy="82296"/>
          </a:xfrm>
          <a:prstGeom prst="ellipse">
            <a:avLst/>
          </a:prstGeom>
          <a:solidFill>
            <a:srgbClr val="F2B84B"/>
          </a:solidFill>
          <a:ln w="12700">
            <a:solidFill>
              <a:srgbClr val="F2B84B"/>
            </a:solidFill>
            <a:prstDash val="solid"/>
          </a:ln>
        </p:spPr>
      </p:sp>
      <p:sp>
        <p:nvSpPr>
          <p:cNvPr id="6" name="Browser dot 3"/>
          <p:cNvSpPr/>
          <p:nvPr/>
        </p:nvSpPr>
        <p:spPr>
          <a:xfrm>
            <a:off x="777240" y="411480"/>
            <a:ext cx="82296" cy="82296"/>
          </a:xfrm>
          <a:prstGeom prst="ellipse">
            <a:avLst/>
          </a:prstGeom>
          <a:solidFill>
            <a:srgbClr val="5DBB63"/>
          </a:solidFill>
          <a:ln w="12700">
            <a:solidFill>
              <a:srgbClr val="5DBB63"/>
            </a:solidFill>
            <a:prstDash val="solid"/>
          </a:ln>
        </p:spPr>
      </p:sp>
      <p:sp>
        <p:nvSpPr>
          <p:cNvPr id="7" name="Address bar"/>
          <p:cNvSpPr/>
          <p:nvPr/>
        </p:nvSpPr>
        <p:spPr>
          <a:xfrm>
            <a:off x="960120" y="374904"/>
            <a:ext cx="3291840" cy="164592"/>
          </a:xfrm>
          <a:prstGeom prst="roundRect">
            <a:avLst>
              <a:gd name="adj" fmla="val 50000"/>
            </a:avLst>
          </a:prstGeom>
          <a:solidFill>
            <a:srgbClr val="FFFFFF"/>
          </a:solidFill>
          <a:ln w="6350">
            <a:solidFill>
              <a:srgbClr val="D6DFEB"/>
            </a:solidFill>
            <a:prstDash val="solid"/>
          </a:ln>
        </p:spPr>
      </p:sp>
      <p:sp>
        <p:nvSpPr>
          <p:cNvPr id="8" name="Text 6"/>
          <p:cNvSpPr txBox="1"/>
          <p:nvPr/>
        </p:nvSpPr>
        <p:spPr>
          <a:xfrm>
            <a:off x="1051560" y="374904"/>
            <a:ext cx="3154680" cy="164592"/>
          </a:xfrm>
          <a:prstGeom prst="rect">
            <a:avLst/>
          </a:prstGeom>
          <a:noFill/>
          <a:ln/>
        </p:spPr>
        <p:txBody>
          <a:bodyPr wrap="square" lIns="0" tIns="0" rIns="0" bIns="0" rtlCol="0" anchor="ctr"/>
          <a:lstStyle/>
          <a:p>
            <a:pPr indent="0" marL="0">
              <a:buNone/>
            </a:pPr>
            <a:r>
              <a:rPr lang="en-US" sz="700" dirty="0">
                <a:solidFill>
                  <a:srgbClr val="5A6577"/>
                </a:solidFill>
                <a:latin typeface="Segoe UI" pitchFamily="34" charset="0"/>
                <a:ea typeface="Segoe UI" pitchFamily="34" charset="-122"/>
                <a:cs typeface="Segoe UI" pitchFamily="34" charset="-120"/>
              </a:rPr>
              <a:t>storm-6269dbe2d00053.my.site.com/consumer/s/welcome?t=••••••</a:t>
            </a:r>
            <a:endParaRPr lang="en-US" sz="700" dirty="0"/>
          </a:p>
        </p:txBody>
      </p:sp>
      <p:pic>
        <p:nvPicPr>
          <p:cNvPr id="9" name="Screenshot 13-welcome-done.jpg" descr="Your first 30 days · 100% complete">    </p:cNvPr>
          <p:cNvPicPr>
            <a:picLocks noChangeAspect="1"/>
          </p:cNvPicPr>
          <p:nvPr/>
        </p:nvPicPr>
        <p:blipFill>
          <a:blip r:embed="rId1"/>
          <a:stretch>
            <a:fillRect/>
          </a:stretch>
        </p:blipFill>
        <p:spPr>
          <a:xfrm>
            <a:off x="411480" y="594360"/>
            <a:ext cx="4892040" cy="2751773"/>
          </a:xfrm>
          <a:prstGeom prst="rect">
            <a:avLst/>
          </a:prstGeom>
        </p:spPr>
      </p:pic>
      <p:sp>
        <p:nvSpPr>
          <p:cNvPr id="10" name="Text 7"/>
          <p:cNvSpPr txBox="1"/>
          <p:nvPr/>
        </p:nvSpPr>
        <p:spPr>
          <a:xfrm>
            <a:off x="5715000" y="502920"/>
            <a:ext cx="3017520"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4 · FIRST 30 DAYS</a:t>
            </a:r>
            <a:endParaRPr lang="en-US" sz="900" dirty="0"/>
          </a:p>
        </p:txBody>
      </p:sp>
      <p:sp>
        <p:nvSpPr>
          <p:cNvPr id="11" name="Text 8"/>
          <p:cNvSpPr txBox="1"/>
          <p:nvPr/>
        </p:nvSpPr>
        <p:spPr>
          <a:xfrm>
            <a:off x="5715000" y="777240"/>
            <a:ext cx="3017520" cy="1143000"/>
          </a:xfrm>
          <a:prstGeom prst="rect">
            <a:avLst/>
          </a:prstGeom>
          <a:noFill/>
          <a:ln/>
        </p:spPr>
        <p:txBody>
          <a:bodyPr wrap="square" lIns="0" tIns="0" rIns="0" bIns="0" rtlCol="0" anchor="t">
            <a:normAutofit/>
          </a:bodyPr>
          <a:lstStyle/>
          <a:p>
            <a:pPr indent="0" marL="0">
              <a:buNone/>
            </a:pPr>
            <a:r>
              <a:rPr lang="en-US" sz="2400" dirty="0">
                <a:solidFill>
                  <a:srgbClr val="043370"/>
                </a:solidFill>
                <a:latin typeface="Segoe UI Semibold" pitchFamily="34" charset="0"/>
                <a:ea typeface="Segoe UI Semibold" pitchFamily="34" charset="-122"/>
                <a:cs typeface="Segoe UI Semibold" pitchFamily="34" charset="-120"/>
              </a:rPr>
              <a:t>Fully onboarded</a:t>
            </a:r>
            <a:endParaRPr lang="en-US" sz="2400" dirty="0"/>
          </a:p>
        </p:txBody>
      </p:sp>
      <p:sp>
        <p:nvSpPr>
          <p:cNvPr id="12" name="Text 9"/>
          <p:cNvSpPr txBox="1"/>
          <p:nvPr/>
        </p:nvSpPr>
        <p:spPr>
          <a:xfrm>
            <a:off x="5715000" y="1920240"/>
            <a:ext cx="3017520" cy="365760"/>
          </a:xfrm>
          <a:prstGeom prst="rect">
            <a:avLst/>
          </a:prstGeom>
          <a:noFill/>
          <a:ln/>
        </p:spPr>
        <p:txBody>
          <a:bodyPr wrap="square" lIns="0" tIns="0" rIns="0" bIns="0" rtlCol="0" anchor="t"/>
          <a:lstStyle/>
          <a:p>
            <a:pPr indent="0" marL="0">
              <a:buNone/>
            </a:pPr>
            <a:r>
              <a:rPr lang="en-US" sz="1100" i="1" dirty="0">
                <a:solidFill>
                  <a:srgbClr val="5A6577"/>
                </a:solidFill>
                <a:latin typeface="Segoe UI" pitchFamily="34" charset="0"/>
                <a:ea typeface="Segoe UI" pitchFamily="34" charset="-122"/>
                <a:cs typeface="Segoe UI" pitchFamily="34" charset="-120"/>
              </a:rPr>
              <a:t>Your first 30 days · 100% complete</a:t>
            </a:r>
            <a:endParaRPr lang="en-US" sz="1100" dirty="0"/>
          </a:p>
        </p:txBody>
      </p:sp>
      <p:sp>
        <p:nvSpPr>
          <p:cNvPr id="13" name="Point 1"/>
          <p:cNvSpPr/>
          <p:nvPr/>
        </p:nvSpPr>
        <p:spPr>
          <a:xfrm>
            <a:off x="5715000" y="2377440"/>
            <a:ext cx="329184" cy="329184"/>
          </a:xfrm>
          <a:prstGeom prst="roundRect">
            <a:avLst>
              <a:gd name="adj" fmla="val 22222"/>
            </a:avLst>
          </a:prstGeom>
          <a:solidFill>
            <a:srgbClr val="ED780F"/>
          </a:solidFill>
          <a:ln w="12700">
            <a:solidFill>
              <a:srgbClr val="ED780F"/>
            </a:solidFill>
            <a:prstDash val="solid"/>
          </a:ln>
        </p:spPr>
      </p:sp>
      <p:sp>
        <p:nvSpPr>
          <p:cNvPr id="14" name="Text 11"/>
          <p:cNvSpPr txBox="1"/>
          <p:nvPr/>
        </p:nvSpPr>
        <p:spPr>
          <a:xfrm>
            <a:off x="5715000" y="237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15" name="Text 12"/>
          <p:cNvSpPr txBox="1"/>
          <p:nvPr/>
        </p:nvSpPr>
        <p:spPr>
          <a:xfrm>
            <a:off x="6190488" y="2359152"/>
            <a:ext cx="2542032"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Every step logged on the case for the banker</a:t>
            </a:r>
            <a:endParaRPr lang="en-US" sz="1300" dirty="0"/>
          </a:p>
        </p:txBody>
      </p:sp>
      <p:sp>
        <p:nvSpPr>
          <p:cNvPr id="16" name="Point 2"/>
          <p:cNvSpPr/>
          <p:nvPr/>
        </p:nvSpPr>
        <p:spPr>
          <a:xfrm>
            <a:off x="5715000" y="3108960"/>
            <a:ext cx="329184" cy="329184"/>
          </a:xfrm>
          <a:prstGeom prst="roundRect">
            <a:avLst>
              <a:gd name="adj" fmla="val 22222"/>
            </a:avLst>
          </a:prstGeom>
          <a:solidFill>
            <a:srgbClr val="ED780F"/>
          </a:solidFill>
          <a:ln w="12700">
            <a:solidFill>
              <a:srgbClr val="ED780F"/>
            </a:solidFill>
            <a:prstDash val="solid"/>
          </a:ln>
        </p:spPr>
      </p:sp>
      <p:sp>
        <p:nvSpPr>
          <p:cNvPr id="17" name="Text 14"/>
          <p:cNvSpPr txBox="1"/>
          <p:nvPr/>
        </p:nvSpPr>
        <p:spPr>
          <a:xfrm>
            <a:off x="5715000" y="3108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8" name="Text 15"/>
          <p:cNvSpPr txBox="1"/>
          <p:nvPr/>
        </p:nvSpPr>
        <p:spPr>
          <a:xfrm>
            <a:off x="6190488" y="3090672"/>
            <a:ext cx="2542032"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Digital banking enrollment without collecting a password</a:t>
            </a:r>
            <a:endParaRPr lang="en-US" sz="1300" dirty="0"/>
          </a:p>
        </p:txBody>
      </p:sp>
      <p:sp>
        <p:nvSpPr>
          <p:cNvPr id="19" name="Point 3"/>
          <p:cNvSpPr/>
          <p:nvPr/>
        </p:nvSpPr>
        <p:spPr>
          <a:xfrm>
            <a:off x="5715000" y="3840480"/>
            <a:ext cx="329184" cy="329184"/>
          </a:xfrm>
          <a:prstGeom prst="roundRect">
            <a:avLst>
              <a:gd name="adj" fmla="val 22222"/>
            </a:avLst>
          </a:prstGeom>
          <a:solidFill>
            <a:srgbClr val="ED780F"/>
          </a:solidFill>
          <a:ln w="12700">
            <a:solidFill>
              <a:srgbClr val="ED780F"/>
            </a:solidFill>
            <a:prstDash val="solid"/>
          </a:ln>
        </p:spPr>
      </p:sp>
      <p:sp>
        <p:nvSpPr>
          <p:cNvPr id="20" name="Text 17"/>
          <p:cNvSpPr txBox="1"/>
          <p:nvPr/>
        </p:nvSpPr>
        <p:spPr>
          <a:xfrm>
            <a:off x="5715000" y="38404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1" name="Text 18"/>
          <p:cNvSpPr txBox="1"/>
          <p:nvPr/>
        </p:nvSpPr>
        <p:spPr>
          <a:xfrm>
            <a:off x="6190488" y="3822192"/>
            <a:ext cx="2542032" cy="658368"/>
          </a:xfrm>
          <a:prstGeom prst="rect">
            <a:avLst/>
          </a:prstGeom>
          <a:noFill/>
          <a:ln/>
        </p:spPr>
        <p:txBody>
          <a:bodyPr wrap="square" lIns="0" tIns="0" rIns="0" bIns="0" rtlCol="0" anchor="t"/>
          <a:lstStyle/>
          <a:p>
            <a:pPr indent="0" marL="0">
              <a:buNone/>
            </a:pPr>
            <a:r>
              <a:rPr lang="en-US" sz="1300" dirty="0">
                <a:solidFill>
                  <a:srgbClr val="14213D"/>
                </a:solidFill>
                <a:latin typeface="Segoe UI" pitchFamily="34" charset="0"/>
                <a:ea typeface="Segoe UI" pitchFamily="34" charset="-122"/>
                <a:cs typeface="Segoe UI" pitchFamily="34" charset="-120"/>
              </a:rPr>
              <a:t>A primary relationship, not just an account</a:t>
            </a:r>
            <a:endParaRPr lang="en-US" sz="13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822960"/>
            <a:ext cx="2743200" cy="2011680"/>
          </a:xfrm>
          <a:prstGeom prst="rect">
            <a:avLst/>
          </a:prstGeom>
          <a:noFill/>
          <a:ln/>
        </p:spPr>
        <p:txBody>
          <a:bodyPr wrap="square" lIns="0" tIns="0" rIns="0" bIns="0" rtlCol="0" anchor="ctr"/>
          <a:lstStyle/>
          <a:p>
            <a:pPr indent="0" marL="0">
              <a:buNone/>
            </a:pPr>
            <a:r>
              <a:rPr lang="en-US" sz="13000" dirty="0">
                <a:solidFill>
                  <a:srgbClr val="ED780F"/>
                </a:solidFill>
                <a:latin typeface="Segoe UI Semibold" pitchFamily="34" charset="0"/>
                <a:ea typeface="Segoe UI Semibold" pitchFamily="34" charset="-122"/>
                <a:cs typeface="Segoe UI Semibold" pitchFamily="34" charset="-120"/>
              </a:rPr>
              <a:t>05</a:t>
            </a:r>
            <a:endParaRPr lang="en-US" sz="13000" dirty="0"/>
          </a:p>
        </p:txBody>
      </p:sp>
      <p:sp>
        <p:nvSpPr>
          <p:cNvPr id="3" name="Divider rule"/>
          <p:cNvSpPr/>
          <p:nvPr/>
        </p:nvSpPr>
        <p:spPr>
          <a:xfrm>
            <a:off x="3246120" y="1143000"/>
            <a:ext cx="0" cy="1371600"/>
          </a:xfrm>
          <a:prstGeom prst="line">
            <a:avLst/>
          </a:prstGeom>
          <a:noFill/>
          <a:ln w="15875">
            <a:solidFill>
              <a:srgbClr val="3A5A8C"/>
            </a:solidFill>
            <a:prstDash val="solid"/>
          </a:ln>
        </p:spPr>
      </p:sp>
      <p:sp>
        <p:nvSpPr>
          <p:cNvPr id="4" name="Text 2"/>
          <p:cNvSpPr txBox="1"/>
          <p:nvPr/>
        </p:nvSpPr>
        <p:spPr>
          <a:xfrm>
            <a:off x="3566160" y="1234440"/>
            <a:ext cx="5120640" cy="219456"/>
          </a:xfrm>
          <a:prstGeom prst="rect">
            <a:avLst/>
          </a:prstGeom>
          <a:noFill/>
          <a:ln/>
        </p:spPr>
        <p:txBody>
          <a:bodyPr wrap="square" lIns="0" tIns="0" rIns="0" bIns="0" rtlCol="0" anchor="t"/>
          <a:lstStyle/>
          <a:p>
            <a:pPr indent="0" marL="0">
              <a:buNone/>
            </a:pPr>
            <a:r>
              <a:rPr lang="en-US" sz="900" b="1" spc="250" kern="0" dirty="0">
                <a:solidFill>
                  <a:srgbClr val="ED780F"/>
                </a:solidFill>
                <a:latin typeface="Segoe UI" pitchFamily="34" charset="0"/>
                <a:ea typeface="Segoe UI" pitchFamily="34" charset="-122"/>
                <a:cs typeface="Segoe UI" pitchFamily="34" charset="-120"/>
              </a:rPr>
              <a:t>ACT 5 · MEASURE AND GROW</a:t>
            </a:r>
            <a:endParaRPr lang="en-US" sz="900" dirty="0"/>
          </a:p>
        </p:txBody>
      </p:sp>
      <p:sp>
        <p:nvSpPr>
          <p:cNvPr id="5" name="Text 3"/>
          <p:cNvSpPr txBox="1"/>
          <p:nvPr/>
        </p:nvSpPr>
        <p:spPr>
          <a:xfrm>
            <a:off x="3566160" y="1554480"/>
            <a:ext cx="5120640" cy="1188720"/>
          </a:xfrm>
          <a:prstGeom prst="rect">
            <a:avLst/>
          </a:prstGeom>
          <a:noFill/>
          <a:ln/>
        </p:spPr>
        <p:txBody>
          <a:bodyPr wrap="square" lIns="0" tIns="0" rIns="0" bIns="0" rtlCol="0" anchor="t">
            <a:normAutofit/>
          </a:bodyPr>
          <a:lstStyle/>
          <a:p>
            <a:pPr indent="0" marL="0">
              <a:buNone/>
            </a:pPr>
            <a:r>
              <a:rPr lang="en-US" sz="3200" dirty="0">
                <a:solidFill>
                  <a:srgbClr val="FFFFFF"/>
                </a:solidFill>
                <a:latin typeface="Segoe UI Semibold" pitchFamily="34" charset="0"/>
                <a:ea typeface="Segoe UI Semibold" pitchFamily="34" charset="-122"/>
                <a:cs typeface="Segoe UI Semibold" pitchFamily="34" charset="-120"/>
              </a:rPr>
              <a:t>One funnel from prospect to primary</a:t>
            </a:r>
            <a:endParaRPr lang="en-US" sz="3200" dirty="0"/>
          </a:p>
        </p:txBody>
      </p:sp>
      <p:sp>
        <p:nvSpPr>
          <p:cNvPr id="6" name="Tracker 1"/>
          <p:cNvSpPr/>
          <p:nvPr/>
        </p:nvSpPr>
        <p:spPr>
          <a:xfrm>
            <a:off x="457200" y="3977640"/>
            <a:ext cx="1554480" cy="54864"/>
          </a:xfrm>
          <a:prstGeom prst="rect">
            <a:avLst/>
          </a:prstGeom>
          <a:solidFill>
            <a:srgbClr val="2B4C7E"/>
          </a:solidFill>
          <a:ln w="12700">
            <a:solidFill>
              <a:srgbClr val="2B4C7E"/>
            </a:solidFill>
            <a:prstDash val="solid"/>
          </a:ln>
        </p:spPr>
      </p:sp>
      <p:sp>
        <p:nvSpPr>
          <p:cNvPr id="7" name="Text 5"/>
          <p:cNvSpPr txBox="1"/>
          <p:nvPr/>
        </p:nvSpPr>
        <p:spPr>
          <a:xfrm>
            <a:off x="457200"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1  Targeting</a:t>
            </a:r>
            <a:endParaRPr lang="en-US" sz="900" dirty="0"/>
          </a:p>
        </p:txBody>
      </p:sp>
      <p:sp>
        <p:nvSpPr>
          <p:cNvPr id="8" name="Tracker 2"/>
          <p:cNvSpPr/>
          <p:nvPr/>
        </p:nvSpPr>
        <p:spPr>
          <a:xfrm>
            <a:off x="2121408" y="3977640"/>
            <a:ext cx="1554480" cy="54864"/>
          </a:xfrm>
          <a:prstGeom prst="rect">
            <a:avLst/>
          </a:prstGeom>
          <a:solidFill>
            <a:srgbClr val="2B4C7E"/>
          </a:solidFill>
          <a:ln w="12700">
            <a:solidFill>
              <a:srgbClr val="2B4C7E"/>
            </a:solidFill>
            <a:prstDash val="solid"/>
          </a:ln>
        </p:spPr>
      </p:sp>
      <p:sp>
        <p:nvSpPr>
          <p:cNvPr id="9" name="Text 7"/>
          <p:cNvSpPr txBox="1"/>
          <p:nvPr/>
        </p:nvSpPr>
        <p:spPr>
          <a:xfrm>
            <a:off x="2121408"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2  Join and apply</a:t>
            </a:r>
            <a:endParaRPr lang="en-US" sz="900" dirty="0"/>
          </a:p>
        </p:txBody>
      </p:sp>
      <p:sp>
        <p:nvSpPr>
          <p:cNvPr id="10" name="Tracker 3"/>
          <p:cNvSpPr/>
          <p:nvPr/>
        </p:nvSpPr>
        <p:spPr>
          <a:xfrm>
            <a:off x="3785616" y="3977640"/>
            <a:ext cx="1554480" cy="54864"/>
          </a:xfrm>
          <a:prstGeom prst="rect">
            <a:avLst/>
          </a:prstGeom>
          <a:solidFill>
            <a:srgbClr val="2B4C7E"/>
          </a:solidFill>
          <a:ln w="12700">
            <a:solidFill>
              <a:srgbClr val="2B4C7E"/>
            </a:solidFill>
            <a:prstDash val="solid"/>
          </a:ln>
        </p:spPr>
      </p:sp>
      <p:sp>
        <p:nvSpPr>
          <p:cNvPr id="11" name="Text 9"/>
          <p:cNvSpPr txBox="1"/>
          <p:nvPr/>
        </p:nvSpPr>
        <p:spPr>
          <a:xfrm>
            <a:off x="3785616"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3  Open accounts</a:t>
            </a:r>
            <a:endParaRPr lang="en-US" sz="900" dirty="0"/>
          </a:p>
        </p:txBody>
      </p:sp>
      <p:sp>
        <p:nvSpPr>
          <p:cNvPr id="12" name="Tracker 4"/>
          <p:cNvSpPr/>
          <p:nvPr/>
        </p:nvSpPr>
        <p:spPr>
          <a:xfrm>
            <a:off x="5449824" y="3977640"/>
            <a:ext cx="1554480" cy="54864"/>
          </a:xfrm>
          <a:prstGeom prst="rect">
            <a:avLst/>
          </a:prstGeom>
          <a:solidFill>
            <a:srgbClr val="2B4C7E"/>
          </a:solidFill>
          <a:ln w="12700">
            <a:solidFill>
              <a:srgbClr val="2B4C7E"/>
            </a:solidFill>
            <a:prstDash val="solid"/>
          </a:ln>
        </p:spPr>
      </p:sp>
      <p:sp>
        <p:nvSpPr>
          <p:cNvPr id="13" name="Text 11"/>
          <p:cNvSpPr txBox="1"/>
          <p:nvPr/>
        </p:nvSpPr>
        <p:spPr>
          <a:xfrm>
            <a:off x="5449824" y="4114800"/>
            <a:ext cx="1554480" cy="228600"/>
          </a:xfrm>
          <a:prstGeom prst="rect">
            <a:avLst/>
          </a:prstGeom>
          <a:noFill/>
          <a:ln/>
        </p:spPr>
        <p:txBody>
          <a:bodyPr wrap="square" lIns="0" tIns="0" rIns="0" bIns="0" rtlCol="0" anchor="t"/>
          <a:lstStyle/>
          <a:p>
            <a:pPr indent="0" marL="0">
              <a:buNone/>
            </a:pPr>
            <a:r>
              <a:rPr lang="en-US" sz="900" dirty="0">
                <a:solidFill>
                  <a:srgbClr val="8EA3C4"/>
                </a:solidFill>
                <a:latin typeface="Segoe UI" pitchFamily="34" charset="0"/>
                <a:ea typeface="Segoe UI" pitchFamily="34" charset="-122"/>
                <a:cs typeface="Segoe UI" pitchFamily="34" charset="-120"/>
              </a:rPr>
              <a:t>4  First 30 days</a:t>
            </a:r>
            <a:endParaRPr lang="en-US" sz="900" dirty="0"/>
          </a:p>
        </p:txBody>
      </p:sp>
      <p:sp>
        <p:nvSpPr>
          <p:cNvPr id="14" name="Tracker 5"/>
          <p:cNvSpPr/>
          <p:nvPr/>
        </p:nvSpPr>
        <p:spPr>
          <a:xfrm>
            <a:off x="7114032" y="3977640"/>
            <a:ext cx="1554480" cy="54864"/>
          </a:xfrm>
          <a:prstGeom prst="rect">
            <a:avLst/>
          </a:prstGeom>
          <a:solidFill>
            <a:srgbClr val="ED780F"/>
          </a:solidFill>
          <a:ln w="12700">
            <a:solidFill>
              <a:srgbClr val="ED780F"/>
            </a:solidFill>
            <a:prstDash val="solid"/>
          </a:ln>
        </p:spPr>
      </p:sp>
      <p:sp>
        <p:nvSpPr>
          <p:cNvPr id="15" name="Text 13"/>
          <p:cNvSpPr txBox="1"/>
          <p:nvPr/>
        </p:nvSpPr>
        <p:spPr>
          <a:xfrm>
            <a:off x="7114032" y="4114800"/>
            <a:ext cx="1554480" cy="228600"/>
          </a:xfrm>
          <a:prstGeom prst="rect">
            <a:avLst/>
          </a:prstGeom>
          <a:noFill/>
          <a:ln/>
        </p:spPr>
        <p:txBody>
          <a:bodyPr wrap="square" lIns="0" tIns="0" rIns="0" bIns="0" rtlCol="0" anchor="t"/>
          <a:lstStyle/>
          <a:p>
            <a:pPr indent="0" marL="0">
              <a:buNone/>
            </a:pPr>
            <a:r>
              <a:rPr lang="en-US" sz="900" b="1" dirty="0">
                <a:solidFill>
                  <a:srgbClr val="FFFFFF"/>
                </a:solidFill>
                <a:latin typeface="Segoe UI" pitchFamily="34" charset="0"/>
                <a:ea typeface="Segoe UI" pitchFamily="34" charset="-122"/>
                <a:cs typeface="Segoe UI" pitchFamily="34" charset="-120"/>
              </a:rPr>
              <a:t>5  Measure and grow</a:t>
            </a:r>
            <a:endParaRPr lang="en-US" sz="9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EA3C4"/>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320040"/>
            <a:ext cx="8229600"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5 · MEASURE AND GROW · EVERY STAGE IS A FIELD ON RECORDS THE DEMO ALREADY CREATES</a:t>
            </a:r>
            <a:endParaRPr lang="en-US" sz="900" dirty="0"/>
          </a:p>
        </p:txBody>
      </p:sp>
      <p:sp>
        <p:nvSpPr>
          <p:cNvPr id="3" name="Text 1"/>
          <p:cNvSpPr txBox="1"/>
          <p:nvPr/>
        </p:nvSpPr>
        <p:spPr>
          <a:xfrm>
            <a:off x="457200" y="566928"/>
            <a:ext cx="8229600" cy="548640"/>
          </a:xfrm>
          <a:prstGeom prst="rect">
            <a:avLst/>
          </a:prstGeom>
          <a:noFill/>
          <a:ln/>
        </p:spPr>
        <p:txBody>
          <a:bodyPr wrap="square" lIns="0" tIns="0" rIns="0" bIns="0" rtlCol="0" anchor="t">
            <a:normAutofit/>
          </a:bodyPr>
          <a:lstStyle/>
          <a:p>
            <a:pPr indent="0" marL="0">
              <a:buNone/>
            </a:pPr>
            <a:r>
              <a:rPr lang="en-US" sz="2600" dirty="0">
                <a:solidFill>
                  <a:srgbClr val="043370"/>
                </a:solidFill>
                <a:latin typeface="Segoe UI Semibold" pitchFamily="34" charset="0"/>
                <a:ea typeface="Segoe UI Semibold" pitchFamily="34" charset="-122"/>
                <a:cs typeface="Segoe UI Semibold" pitchFamily="34" charset="-120"/>
              </a:rPr>
              <a:t>One funnel from prospect to primary</a:t>
            </a:r>
            <a:endParaRPr lang="en-US" sz="2600" dirty="0"/>
          </a:p>
        </p:txBody>
      </p:sp>
      <p:sp>
        <p:nvSpPr>
          <p:cNvPr id="4" name="Stage 1"/>
          <p:cNvSpPr/>
          <p:nvPr/>
        </p:nvSpPr>
        <p:spPr>
          <a:xfrm>
            <a:off x="457200" y="1280160"/>
            <a:ext cx="4937760" cy="384048"/>
          </a:xfrm>
          <a:prstGeom prst="roundRect">
            <a:avLst>
              <a:gd name="adj" fmla="val 14286"/>
            </a:avLst>
          </a:prstGeom>
          <a:solidFill>
            <a:srgbClr val="043370"/>
          </a:solidFill>
          <a:ln w="12700">
            <a:solidFill>
              <a:srgbClr val="043370"/>
            </a:solidFill>
            <a:prstDash val="solid"/>
          </a:ln>
        </p:spPr>
      </p:sp>
      <p:sp>
        <p:nvSpPr>
          <p:cNvPr id="5" name="Text 3"/>
          <p:cNvSpPr txBox="1"/>
          <p:nvPr/>
        </p:nvSpPr>
        <p:spPr>
          <a:xfrm>
            <a:off x="457200" y="1280160"/>
            <a:ext cx="49377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Prospect</a:t>
            </a:r>
            <a:endParaRPr lang="en-US" sz="1200" dirty="0"/>
          </a:p>
        </p:txBody>
      </p:sp>
      <p:sp>
        <p:nvSpPr>
          <p:cNvPr id="6" name="Leader 1"/>
          <p:cNvSpPr/>
          <p:nvPr/>
        </p:nvSpPr>
        <p:spPr>
          <a:xfrm>
            <a:off x="5486400" y="1472184"/>
            <a:ext cx="320040" cy="0"/>
          </a:xfrm>
          <a:prstGeom prst="line">
            <a:avLst/>
          </a:prstGeom>
          <a:noFill/>
          <a:ln w="12700">
            <a:solidFill>
              <a:srgbClr val="D6DFEB"/>
            </a:solidFill>
            <a:prstDash val="solid"/>
          </a:ln>
        </p:spPr>
      </p:sp>
      <p:sp>
        <p:nvSpPr>
          <p:cNvPr id="7" name="Text 5"/>
          <p:cNvSpPr txBox="1"/>
          <p:nvPr/>
        </p:nvSpPr>
        <p:spPr>
          <a:xfrm>
            <a:off x="5897880" y="1280160"/>
            <a:ext cx="2834640" cy="384048"/>
          </a:xfrm>
          <a:prstGeom prst="rect">
            <a:avLst/>
          </a:prstGeom>
          <a:noFill/>
          <a:ln/>
        </p:spPr>
        <p:txBody>
          <a:bodyPr wrap="square" lIns="0" tIns="0" rIns="0" bIns="0" rtlCol="0" anchor="ctr"/>
          <a:lstStyle/>
          <a:p>
            <a:pPr indent="0" marL="0">
              <a:buNone/>
            </a:pPr>
            <a:r>
              <a:rPr lang="en-US" sz="1100" dirty="0">
                <a:solidFill>
                  <a:srgbClr val="14213D"/>
                </a:solidFill>
                <a:latin typeface="Segoe UI" pitchFamily="34" charset="0"/>
                <a:ea typeface="Segoe UI" pitchFamily="34" charset="-122"/>
                <a:cs typeface="Segoe UI" pitchFamily="34" charset="-120"/>
              </a:rPr>
              <a:t>Lead · Source: Website</a:t>
            </a:r>
            <a:endParaRPr lang="en-US" sz="1100" dirty="0"/>
          </a:p>
        </p:txBody>
      </p:sp>
      <p:sp>
        <p:nvSpPr>
          <p:cNvPr id="8" name="Stage 2"/>
          <p:cNvSpPr/>
          <p:nvPr/>
        </p:nvSpPr>
        <p:spPr>
          <a:xfrm>
            <a:off x="701040" y="1737360"/>
            <a:ext cx="4450080" cy="384048"/>
          </a:xfrm>
          <a:prstGeom prst="roundRect">
            <a:avLst>
              <a:gd name="adj" fmla="val 14286"/>
            </a:avLst>
          </a:prstGeom>
          <a:solidFill>
            <a:srgbClr val="0A3D7D"/>
          </a:solidFill>
          <a:ln w="12700">
            <a:solidFill>
              <a:srgbClr val="0A3D7D"/>
            </a:solidFill>
            <a:prstDash val="solid"/>
          </a:ln>
        </p:spPr>
      </p:sp>
      <p:sp>
        <p:nvSpPr>
          <p:cNvPr id="9" name="Text 7"/>
          <p:cNvSpPr txBox="1"/>
          <p:nvPr/>
        </p:nvSpPr>
        <p:spPr>
          <a:xfrm>
            <a:off x="701040" y="1737360"/>
            <a:ext cx="44500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Member</a:t>
            </a:r>
            <a:endParaRPr lang="en-US" sz="1200" dirty="0"/>
          </a:p>
        </p:txBody>
      </p:sp>
      <p:sp>
        <p:nvSpPr>
          <p:cNvPr id="10" name="Leader 2"/>
          <p:cNvSpPr/>
          <p:nvPr/>
        </p:nvSpPr>
        <p:spPr>
          <a:xfrm>
            <a:off x="5486400" y="1929384"/>
            <a:ext cx="320040" cy="0"/>
          </a:xfrm>
          <a:prstGeom prst="line">
            <a:avLst/>
          </a:prstGeom>
          <a:noFill/>
          <a:ln w="12700">
            <a:solidFill>
              <a:srgbClr val="D6DFEB"/>
            </a:solidFill>
            <a:prstDash val="solid"/>
          </a:ln>
        </p:spPr>
      </p:sp>
      <p:sp>
        <p:nvSpPr>
          <p:cNvPr id="11" name="Text 9"/>
          <p:cNvSpPr txBox="1"/>
          <p:nvPr/>
        </p:nvSpPr>
        <p:spPr>
          <a:xfrm>
            <a:off x="5897880" y="1737360"/>
            <a:ext cx="2834640" cy="384048"/>
          </a:xfrm>
          <a:prstGeom prst="rect">
            <a:avLst/>
          </a:prstGeom>
          <a:noFill/>
          <a:ln/>
        </p:spPr>
        <p:txBody>
          <a:bodyPr wrap="square" lIns="0" tIns="0" rIns="0" bIns="0" rtlCol="0" anchor="ctr"/>
          <a:lstStyle/>
          <a:p>
            <a:pPr indent="0" marL="0">
              <a:buNone/>
            </a:pPr>
            <a:r>
              <a:rPr lang="en-US" sz="1100" dirty="0">
                <a:solidFill>
                  <a:srgbClr val="14213D"/>
                </a:solidFill>
                <a:latin typeface="Segoe UI" pitchFamily="34" charset="0"/>
                <a:ea typeface="Segoe UI" pitchFamily="34" charset="-122"/>
                <a:cs typeface="Segoe UI" pitchFamily="34" charset="-120"/>
              </a:rPr>
              <a:t>Lead converted to Person Account</a:t>
            </a:r>
            <a:endParaRPr lang="en-US" sz="1100" dirty="0"/>
          </a:p>
        </p:txBody>
      </p:sp>
      <p:sp>
        <p:nvSpPr>
          <p:cNvPr id="12" name="Stage 3"/>
          <p:cNvSpPr/>
          <p:nvPr/>
        </p:nvSpPr>
        <p:spPr>
          <a:xfrm>
            <a:off x="944880" y="2194560"/>
            <a:ext cx="3962400" cy="384048"/>
          </a:xfrm>
          <a:prstGeom prst="roundRect">
            <a:avLst>
              <a:gd name="adj" fmla="val 14286"/>
            </a:avLst>
          </a:prstGeom>
          <a:solidFill>
            <a:srgbClr val="12488A"/>
          </a:solidFill>
          <a:ln w="12700">
            <a:solidFill>
              <a:srgbClr val="12488A"/>
            </a:solidFill>
            <a:prstDash val="solid"/>
          </a:ln>
        </p:spPr>
      </p:sp>
      <p:sp>
        <p:nvSpPr>
          <p:cNvPr id="13" name="Text 11"/>
          <p:cNvSpPr txBox="1"/>
          <p:nvPr/>
        </p:nvSpPr>
        <p:spPr>
          <a:xfrm>
            <a:off x="944880" y="2194560"/>
            <a:ext cx="39624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Applied</a:t>
            </a:r>
            <a:endParaRPr lang="en-US" sz="1200" dirty="0"/>
          </a:p>
        </p:txBody>
      </p:sp>
      <p:sp>
        <p:nvSpPr>
          <p:cNvPr id="14" name="Leader 3"/>
          <p:cNvSpPr/>
          <p:nvPr/>
        </p:nvSpPr>
        <p:spPr>
          <a:xfrm>
            <a:off x="5486400" y="2386584"/>
            <a:ext cx="320040" cy="0"/>
          </a:xfrm>
          <a:prstGeom prst="line">
            <a:avLst/>
          </a:prstGeom>
          <a:noFill/>
          <a:ln w="12700">
            <a:solidFill>
              <a:srgbClr val="D6DFEB"/>
            </a:solidFill>
            <a:prstDash val="solid"/>
          </a:ln>
        </p:spPr>
      </p:sp>
      <p:sp>
        <p:nvSpPr>
          <p:cNvPr id="15" name="Text 13"/>
          <p:cNvSpPr txBox="1"/>
          <p:nvPr/>
        </p:nvSpPr>
        <p:spPr>
          <a:xfrm>
            <a:off x="5897880" y="2194560"/>
            <a:ext cx="2834640" cy="384048"/>
          </a:xfrm>
          <a:prstGeom prst="rect">
            <a:avLst/>
          </a:prstGeom>
          <a:noFill/>
          <a:ln/>
        </p:spPr>
        <p:txBody>
          <a:bodyPr wrap="square" lIns="0" tIns="0" rIns="0" bIns="0" rtlCol="0" anchor="ctr"/>
          <a:lstStyle/>
          <a:p>
            <a:pPr indent="0" marL="0">
              <a:buNone/>
            </a:pPr>
            <a:r>
              <a:rPr lang="en-US" sz="1100" dirty="0">
                <a:solidFill>
                  <a:srgbClr val="14213D"/>
                </a:solidFill>
                <a:latin typeface="Segoe UI" pitchFamily="34" charset="0"/>
                <a:ea typeface="Segoe UI" pitchFamily="34" charset="-122"/>
                <a:cs typeface="Segoe UI" pitchFamily="34" charset="-120"/>
              </a:rPr>
              <a:t>Application Form · Submitted</a:t>
            </a:r>
            <a:endParaRPr lang="en-US" sz="1100" dirty="0"/>
          </a:p>
        </p:txBody>
      </p:sp>
      <p:sp>
        <p:nvSpPr>
          <p:cNvPr id="16" name="Stage 4"/>
          <p:cNvSpPr/>
          <p:nvPr/>
        </p:nvSpPr>
        <p:spPr>
          <a:xfrm>
            <a:off x="1188720" y="2651760"/>
            <a:ext cx="3474720" cy="384048"/>
          </a:xfrm>
          <a:prstGeom prst="roundRect">
            <a:avLst>
              <a:gd name="adj" fmla="val 14286"/>
            </a:avLst>
          </a:prstGeom>
          <a:solidFill>
            <a:srgbClr val="1B5497"/>
          </a:solidFill>
          <a:ln w="12700">
            <a:solidFill>
              <a:srgbClr val="1B5497"/>
            </a:solidFill>
            <a:prstDash val="solid"/>
          </a:ln>
        </p:spPr>
      </p:sp>
      <p:sp>
        <p:nvSpPr>
          <p:cNvPr id="17" name="Text 15"/>
          <p:cNvSpPr txBox="1"/>
          <p:nvPr/>
        </p:nvSpPr>
        <p:spPr>
          <a:xfrm>
            <a:off x="1188720" y="2651760"/>
            <a:ext cx="34747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Verified</a:t>
            </a:r>
            <a:endParaRPr lang="en-US" sz="1200" dirty="0"/>
          </a:p>
        </p:txBody>
      </p:sp>
      <p:sp>
        <p:nvSpPr>
          <p:cNvPr id="18" name="Leader 4"/>
          <p:cNvSpPr/>
          <p:nvPr/>
        </p:nvSpPr>
        <p:spPr>
          <a:xfrm>
            <a:off x="5486400" y="2843784"/>
            <a:ext cx="320040" cy="0"/>
          </a:xfrm>
          <a:prstGeom prst="line">
            <a:avLst/>
          </a:prstGeom>
          <a:noFill/>
          <a:ln w="12700">
            <a:solidFill>
              <a:srgbClr val="D6DFEB"/>
            </a:solidFill>
            <a:prstDash val="solid"/>
          </a:ln>
        </p:spPr>
      </p:sp>
      <p:sp>
        <p:nvSpPr>
          <p:cNvPr id="19" name="Text 17"/>
          <p:cNvSpPr txBox="1"/>
          <p:nvPr/>
        </p:nvSpPr>
        <p:spPr>
          <a:xfrm>
            <a:off x="5897880" y="2651760"/>
            <a:ext cx="2834640" cy="384048"/>
          </a:xfrm>
          <a:prstGeom prst="rect">
            <a:avLst/>
          </a:prstGeom>
          <a:noFill/>
          <a:ln/>
        </p:spPr>
        <p:txBody>
          <a:bodyPr wrap="square" lIns="0" tIns="0" rIns="0" bIns="0" rtlCol="0" anchor="ctr"/>
          <a:lstStyle/>
          <a:p>
            <a:pPr indent="0" marL="0">
              <a:buNone/>
            </a:pPr>
            <a:r>
              <a:rPr lang="en-US" sz="1100" dirty="0">
                <a:solidFill>
                  <a:srgbClr val="14213D"/>
                </a:solidFill>
                <a:latin typeface="Segoe UI" pitchFamily="34" charset="0"/>
                <a:ea typeface="Segoe UI" pitchFamily="34" charset="-122"/>
                <a:cs typeface="Segoe UI" pitchFamily="34" charset="-120"/>
              </a:rPr>
              <a:t>Party Profile · KYC Verified</a:t>
            </a:r>
            <a:endParaRPr lang="en-US" sz="1100" dirty="0"/>
          </a:p>
        </p:txBody>
      </p:sp>
      <p:sp>
        <p:nvSpPr>
          <p:cNvPr id="20" name="Stage 5"/>
          <p:cNvSpPr/>
          <p:nvPr/>
        </p:nvSpPr>
        <p:spPr>
          <a:xfrm>
            <a:off x="1432560" y="3108960"/>
            <a:ext cx="2987040" cy="384048"/>
          </a:xfrm>
          <a:prstGeom prst="roundRect">
            <a:avLst>
              <a:gd name="adj" fmla="val 14286"/>
            </a:avLst>
          </a:prstGeom>
          <a:solidFill>
            <a:srgbClr val="2560A4"/>
          </a:solidFill>
          <a:ln w="12700">
            <a:solidFill>
              <a:srgbClr val="2560A4"/>
            </a:solidFill>
            <a:prstDash val="solid"/>
          </a:ln>
        </p:spPr>
      </p:sp>
      <p:sp>
        <p:nvSpPr>
          <p:cNvPr id="21" name="Text 19"/>
          <p:cNvSpPr txBox="1"/>
          <p:nvPr/>
        </p:nvSpPr>
        <p:spPr>
          <a:xfrm>
            <a:off x="1432560" y="3108960"/>
            <a:ext cx="29870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Opened and funded</a:t>
            </a:r>
            <a:endParaRPr lang="en-US" sz="1200" dirty="0"/>
          </a:p>
        </p:txBody>
      </p:sp>
      <p:sp>
        <p:nvSpPr>
          <p:cNvPr id="22" name="Leader 5"/>
          <p:cNvSpPr/>
          <p:nvPr/>
        </p:nvSpPr>
        <p:spPr>
          <a:xfrm>
            <a:off x="5486400" y="3300984"/>
            <a:ext cx="320040" cy="0"/>
          </a:xfrm>
          <a:prstGeom prst="line">
            <a:avLst/>
          </a:prstGeom>
          <a:noFill/>
          <a:ln w="12700">
            <a:solidFill>
              <a:srgbClr val="D6DFEB"/>
            </a:solidFill>
            <a:prstDash val="solid"/>
          </a:ln>
        </p:spPr>
      </p:sp>
      <p:sp>
        <p:nvSpPr>
          <p:cNvPr id="23" name="Text 21"/>
          <p:cNvSpPr txBox="1"/>
          <p:nvPr/>
        </p:nvSpPr>
        <p:spPr>
          <a:xfrm>
            <a:off x="5897880" y="3108960"/>
            <a:ext cx="2834640" cy="384048"/>
          </a:xfrm>
          <a:prstGeom prst="rect">
            <a:avLst/>
          </a:prstGeom>
          <a:noFill/>
          <a:ln/>
        </p:spPr>
        <p:txBody>
          <a:bodyPr wrap="square" lIns="0" tIns="0" rIns="0" bIns="0" rtlCol="0" anchor="ctr"/>
          <a:lstStyle/>
          <a:p>
            <a:pPr indent="0" marL="0">
              <a:buNone/>
            </a:pPr>
            <a:r>
              <a:rPr lang="en-US" sz="1100" dirty="0">
                <a:solidFill>
                  <a:srgbClr val="14213D"/>
                </a:solidFill>
                <a:latin typeface="Segoe UI" pitchFamily="34" charset="0"/>
                <a:ea typeface="Segoe UI" pitchFamily="34" charset="-122"/>
                <a:cs typeface="Segoe UI" pitchFamily="34" charset="-120"/>
              </a:rPr>
              <a:t>Financial Account · opening transaction</a:t>
            </a:r>
            <a:endParaRPr lang="en-US" sz="1100" dirty="0"/>
          </a:p>
        </p:txBody>
      </p:sp>
      <p:sp>
        <p:nvSpPr>
          <p:cNvPr id="24" name="Stage 6"/>
          <p:cNvSpPr/>
          <p:nvPr/>
        </p:nvSpPr>
        <p:spPr>
          <a:xfrm>
            <a:off x="1676400" y="3566160"/>
            <a:ext cx="2499360" cy="384048"/>
          </a:xfrm>
          <a:prstGeom prst="roundRect">
            <a:avLst>
              <a:gd name="adj" fmla="val 14286"/>
            </a:avLst>
          </a:prstGeom>
          <a:solidFill>
            <a:srgbClr val="3A72B3"/>
          </a:solidFill>
          <a:ln w="12700">
            <a:solidFill>
              <a:srgbClr val="3A72B3"/>
            </a:solidFill>
            <a:prstDash val="solid"/>
          </a:ln>
        </p:spPr>
      </p:sp>
      <p:sp>
        <p:nvSpPr>
          <p:cNvPr id="25" name="Text 23"/>
          <p:cNvSpPr txBox="1"/>
          <p:nvPr/>
        </p:nvSpPr>
        <p:spPr>
          <a:xfrm>
            <a:off x="1676400" y="3566160"/>
            <a:ext cx="24993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Card active</a:t>
            </a:r>
            <a:endParaRPr lang="en-US" sz="1200" dirty="0"/>
          </a:p>
        </p:txBody>
      </p:sp>
      <p:sp>
        <p:nvSpPr>
          <p:cNvPr id="26" name="Leader 6"/>
          <p:cNvSpPr/>
          <p:nvPr/>
        </p:nvSpPr>
        <p:spPr>
          <a:xfrm>
            <a:off x="5486400" y="3758184"/>
            <a:ext cx="320040" cy="0"/>
          </a:xfrm>
          <a:prstGeom prst="line">
            <a:avLst/>
          </a:prstGeom>
          <a:noFill/>
          <a:ln w="12700">
            <a:solidFill>
              <a:srgbClr val="D6DFEB"/>
            </a:solidFill>
            <a:prstDash val="solid"/>
          </a:ln>
        </p:spPr>
      </p:sp>
      <p:sp>
        <p:nvSpPr>
          <p:cNvPr id="27" name="Text 25"/>
          <p:cNvSpPr txBox="1"/>
          <p:nvPr/>
        </p:nvSpPr>
        <p:spPr>
          <a:xfrm>
            <a:off x="5897880" y="3566160"/>
            <a:ext cx="2834640" cy="384048"/>
          </a:xfrm>
          <a:prstGeom prst="rect">
            <a:avLst/>
          </a:prstGeom>
          <a:noFill/>
          <a:ln/>
        </p:spPr>
        <p:txBody>
          <a:bodyPr wrap="square" lIns="0" tIns="0" rIns="0" bIns="0" rtlCol="0" anchor="ctr"/>
          <a:lstStyle/>
          <a:p>
            <a:pPr indent="0" marL="0">
              <a:buNone/>
            </a:pPr>
            <a:r>
              <a:rPr lang="en-US" sz="1100" dirty="0">
                <a:solidFill>
                  <a:srgbClr val="14213D"/>
                </a:solidFill>
                <a:latin typeface="Segoe UI" pitchFamily="34" charset="0"/>
                <a:ea typeface="Segoe UI" pitchFamily="34" charset="-122"/>
                <a:cs typeface="Segoe UI" pitchFamily="34" charset="-120"/>
              </a:rPr>
              <a:t>Debit Card Status · Active</a:t>
            </a:r>
            <a:endParaRPr lang="en-US" sz="1100" dirty="0"/>
          </a:p>
        </p:txBody>
      </p:sp>
      <p:sp>
        <p:nvSpPr>
          <p:cNvPr id="28" name="Stage 7"/>
          <p:cNvSpPr/>
          <p:nvPr/>
        </p:nvSpPr>
        <p:spPr>
          <a:xfrm>
            <a:off x="1920240" y="4023360"/>
            <a:ext cx="2011680" cy="384048"/>
          </a:xfrm>
          <a:prstGeom prst="roundRect">
            <a:avLst>
              <a:gd name="adj" fmla="val 14286"/>
            </a:avLst>
          </a:prstGeom>
          <a:solidFill>
            <a:srgbClr val="ED780F"/>
          </a:solidFill>
          <a:ln w="12700">
            <a:solidFill>
              <a:srgbClr val="ED780F"/>
            </a:solidFill>
            <a:prstDash val="solid"/>
          </a:ln>
        </p:spPr>
      </p:sp>
      <p:sp>
        <p:nvSpPr>
          <p:cNvPr id="29" name="Text 27"/>
          <p:cNvSpPr txBox="1"/>
          <p:nvPr/>
        </p:nvSpPr>
        <p:spPr>
          <a:xfrm>
            <a:off x="1920240" y="4023360"/>
            <a:ext cx="20116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Primary</a:t>
            </a:r>
            <a:endParaRPr lang="en-US" sz="1200" dirty="0"/>
          </a:p>
        </p:txBody>
      </p:sp>
      <p:sp>
        <p:nvSpPr>
          <p:cNvPr id="30" name="Leader 7"/>
          <p:cNvSpPr/>
          <p:nvPr/>
        </p:nvSpPr>
        <p:spPr>
          <a:xfrm>
            <a:off x="5486400" y="4215384"/>
            <a:ext cx="320040" cy="0"/>
          </a:xfrm>
          <a:prstGeom prst="line">
            <a:avLst/>
          </a:prstGeom>
          <a:noFill/>
          <a:ln w="12700">
            <a:solidFill>
              <a:srgbClr val="ED780F"/>
            </a:solidFill>
            <a:prstDash val="solid"/>
          </a:ln>
        </p:spPr>
      </p:sp>
      <p:sp>
        <p:nvSpPr>
          <p:cNvPr id="31" name="Text 29"/>
          <p:cNvSpPr txBox="1"/>
          <p:nvPr/>
        </p:nvSpPr>
        <p:spPr>
          <a:xfrm>
            <a:off x="5897880" y="4023360"/>
            <a:ext cx="2834640" cy="384048"/>
          </a:xfrm>
          <a:prstGeom prst="rect">
            <a:avLst/>
          </a:prstGeom>
          <a:noFill/>
          <a:ln/>
        </p:spPr>
        <p:txBody>
          <a:bodyPr wrap="square" lIns="0" tIns="0" rIns="0" bIns="0" rtlCol="0" anchor="ctr"/>
          <a:lstStyle/>
          <a:p>
            <a:pPr indent="0" marL="0">
              <a:buNone/>
            </a:pPr>
            <a:r>
              <a:rPr lang="en-US" sz="1100" b="1" dirty="0">
                <a:solidFill>
                  <a:srgbClr val="A64F00"/>
                </a:solidFill>
                <a:latin typeface="Segoe UI" pitchFamily="34" charset="0"/>
                <a:ea typeface="Segoe UI" pitchFamily="34" charset="-122"/>
                <a:cs typeface="Segoe UI" pitchFamily="34" charset="-120"/>
              </a:rPr>
              <a:t>Direct Deposit Status · Sent to employer</a:t>
            </a:r>
            <a:endParaRPr lang="en-US" sz="11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320040"/>
            <a:ext cx="8229600"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ACT 5 · MEASURE AND GROW</a:t>
            </a:r>
            <a:endParaRPr lang="en-US" sz="900" dirty="0"/>
          </a:p>
        </p:txBody>
      </p:sp>
      <p:sp>
        <p:nvSpPr>
          <p:cNvPr id="3" name="Text 1"/>
          <p:cNvSpPr txBox="1"/>
          <p:nvPr/>
        </p:nvSpPr>
        <p:spPr>
          <a:xfrm>
            <a:off x="457200" y="566928"/>
            <a:ext cx="8229600" cy="548640"/>
          </a:xfrm>
          <a:prstGeom prst="rect">
            <a:avLst/>
          </a:prstGeom>
          <a:noFill/>
          <a:ln/>
        </p:spPr>
        <p:txBody>
          <a:bodyPr wrap="square" lIns="0" tIns="0" rIns="0" bIns="0" rtlCol="0" anchor="t">
            <a:normAutofit/>
          </a:bodyPr>
          <a:lstStyle/>
          <a:p>
            <a:pPr indent="0" marL="0">
              <a:buNone/>
            </a:pPr>
            <a:r>
              <a:rPr lang="en-US" sz="2600" dirty="0">
                <a:solidFill>
                  <a:srgbClr val="043370"/>
                </a:solidFill>
                <a:latin typeface="Segoe UI Semibold" pitchFamily="34" charset="0"/>
                <a:ea typeface="Segoe UI Semibold" pitchFamily="34" charset="-122"/>
                <a:cs typeface="Segoe UI Semibold" pitchFamily="34" charset="-120"/>
              </a:rPr>
              <a:t>What this means for Navy Federal</a:t>
            </a:r>
            <a:endParaRPr lang="en-US" sz="2600" dirty="0"/>
          </a:p>
        </p:txBody>
      </p:sp>
      <p:sp>
        <p:nvSpPr>
          <p:cNvPr id="4" name="Benefit 1"/>
          <p:cNvSpPr/>
          <p:nvPr/>
        </p:nvSpPr>
        <p:spPr>
          <a:xfrm>
            <a:off x="457200" y="1280160"/>
            <a:ext cx="2606040" cy="1508760"/>
          </a:xfrm>
          <a:prstGeom prst="roundRect">
            <a:avLst>
              <a:gd name="adj" fmla="val 7273"/>
            </a:avLst>
          </a:prstGeom>
          <a:solidFill>
            <a:srgbClr val="043370"/>
          </a:solidFill>
          <a:ln w="9525">
            <a:solidFill>
              <a:srgbClr val="043370"/>
            </a:solidFill>
            <a:prstDash val="solid"/>
          </a:ln>
          <a:effectLst>
            <a:outerShdw sx="100000" sy="100000" kx="0" ky="0" algn="bl" rotWithShape="0" blurRad="101600" dist="25400" dir="5400000">
              <a:srgbClr val="0B2347">
                <a:alpha val="12000"/>
              </a:srgbClr>
            </a:outerShdw>
          </a:effectLst>
        </p:spPr>
      </p:sp>
      <p:sp>
        <p:nvSpPr>
          <p:cNvPr id="5" name="Text 3"/>
          <p:cNvSpPr txBox="1"/>
          <p:nvPr/>
        </p:nvSpPr>
        <p:spPr>
          <a:xfrm>
            <a:off x="658368" y="1417320"/>
            <a:ext cx="731520" cy="411480"/>
          </a:xfrm>
          <a:prstGeom prst="rect">
            <a:avLst/>
          </a:prstGeom>
          <a:noFill/>
          <a:ln/>
        </p:spPr>
        <p:txBody>
          <a:bodyPr wrap="square" lIns="0" tIns="0" rIns="0" bIns="0" rtlCol="0" anchor="t"/>
          <a:lstStyle/>
          <a:p>
            <a:pPr indent="0" marL="0">
              <a:buNone/>
            </a:pPr>
            <a:r>
              <a:rPr lang="en-US" sz="2000" dirty="0">
                <a:solidFill>
                  <a:srgbClr val="ED780F"/>
                </a:solidFill>
                <a:latin typeface="Segoe UI Semibold" pitchFamily="34" charset="0"/>
                <a:ea typeface="Segoe UI Semibold" pitchFamily="34" charset="-122"/>
                <a:cs typeface="Segoe UI Semibold" pitchFamily="34" charset="-120"/>
              </a:rPr>
              <a:t>01</a:t>
            </a:r>
            <a:endParaRPr lang="en-US" sz="2000" dirty="0"/>
          </a:p>
        </p:txBody>
      </p:sp>
      <p:sp>
        <p:nvSpPr>
          <p:cNvPr id="6" name="Text 4"/>
          <p:cNvSpPr txBox="1"/>
          <p:nvPr/>
        </p:nvSpPr>
        <p:spPr>
          <a:xfrm>
            <a:off x="658368" y="1828800"/>
            <a:ext cx="2240280" cy="365760"/>
          </a:xfrm>
          <a:prstGeom prst="rect">
            <a:avLst/>
          </a:prstGeom>
          <a:noFill/>
          <a:ln/>
        </p:spPr>
        <p:txBody>
          <a:bodyPr wrap="square" lIns="0" tIns="0" rIns="0" bIns="0" rtlCol="0" anchor="t"/>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Grow through households</a:t>
            </a:r>
            <a:endParaRPr lang="en-US" sz="1400" dirty="0"/>
          </a:p>
        </p:txBody>
      </p:sp>
      <p:sp>
        <p:nvSpPr>
          <p:cNvPr id="7" name="Text 5"/>
          <p:cNvSpPr txBox="1"/>
          <p:nvPr/>
        </p:nvSpPr>
        <p:spPr>
          <a:xfrm>
            <a:off x="658368" y="2176272"/>
            <a:ext cx="2240280" cy="566928"/>
          </a:xfrm>
          <a:prstGeom prst="rect">
            <a:avLst/>
          </a:prstGeom>
          <a:noFill/>
          <a:ln/>
        </p:spPr>
        <p:txBody>
          <a:bodyPr wrap="square" lIns="0" tIns="0" rIns="0" bIns="0" rtlCol="0" anchor="t"/>
          <a:lstStyle/>
          <a:p>
            <a:pPr indent="0" marL="0">
              <a:buNone/>
            </a:pPr>
            <a:r>
              <a:rPr lang="en-US" sz="1050" dirty="0">
                <a:solidFill>
                  <a:srgbClr val="C9D6EA"/>
                </a:solidFill>
                <a:latin typeface="Segoe UI" pitchFamily="34" charset="0"/>
                <a:ea typeface="Segoe UI" pitchFamily="34" charset="-122"/>
                <a:cs typeface="Segoe UI" pitchFamily="34" charset="-120"/>
              </a:rPr>
              <a:t>Members’ families and households join from the same front door.</a:t>
            </a:r>
            <a:endParaRPr lang="en-US" sz="1050" dirty="0"/>
          </a:p>
        </p:txBody>
      </p:sp>
      <p:sp>
        <p:nvSpPr>
          <p:cNvPr id="8" name="Benefit 2"/>
          <p:cNvSpPr/>
          <p:nvPr/>
        </p:nvSpPr>
        <p:spPr>
          <a:xfrm>
            <a:off x="3246120" y="1280160"/>
            <a:ext cx="2606040" cy="1508760"/>
          </a:xfrm>
          <a:prstGeom prst="roundRect">
            <a:avLst>
              <a:gd name="adj" fmla="val 7273"/>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9" name="Text 7"/>
          <p:cNvSpPr txBox="1"/>
          <p:nvPr/>
        </p:nvSpPr>
        <p:spPr>
          <a:xfrm>
            <a:off x="3447288" y="1417320"/>
            <a:ext cx="731520" cy="411480"/>
          </a:xfrm>
          <a:prstGeom prst="rect">
            <a:avLst/>
          </a:prstGeom>
          <a:noFill/>
          <a:ln/>
        </p:spPr>
        <p:txBody>
          <a:bodyPr wrap="square" lIns="0" tIns="0" rIns="0" bIns="0" rtlCol="0" anchor="t"/>
          <a:lstStyle/>
          <a:p>
            <a:pPr indent="0" marL="0">
              <a:buNone/>
            </a:pPr>
            <a:r>
              <a:rPr lang="en-US" sz="2000" dirty="0">
                <a:solidFill>
                  <a:srgbClr val="ED780F"/>
                </a:solidFill>
                <a:latin typeface="Segoe UI Semibold" pitchFamily="34" charset="0"/>
                <a:ea typeface="Segoe UI Semibold" pitchFamily="34" charset="-122"/>
                <a:cs typeface="Segoe UI Semibold" pitchFamily="34" charset="-120"/>
              </a:rPr>
              <a:t>02</a:t>
            </a:r>
            <a:endParaRPr lang="en-US" sz="2000" dirty="0"/>
          </a:p>
        </p:txBody>
      </p:sp>
      <p:sp>
        <p:nvSpPr>
          <p:cNvPr id="10" name="Text 8"/>
          <p:cNvSpPr txBox="1"/>
          <p:nvPr/>
        </p:nvSpPr>
        <p:spPr>
          <a:xfrm>
            <a:off x="3447288" y="1828800"/>
            <a:ext cx="2240280" cy="365760"/>
          </a:xfrm>
          <a:prstGeom prst="rect">
            <a:avLst/>
          </a:prstGeom>
          <a:noFill/>
          <a:ln/>
        </p:spPr>
        <p:txBody>
          <a:bodyPr wrap="square" lIns="0" tIns="0" rIns="0" bIns="0" rtlCol="0" anchor="t"/>
          <a:lstStyle/>
          <a:p>
            <a:pPr indent="0" marL="0">
              <a:buNone/>
            </a:pPr>
            <a:r>
              <a:rPr lang="en-US" sz="1400" dirty="0">
                <a:solidFill>
                  <a:srgbClr val="043370"/>
                </a:solidFill>
                <a:latin typeface="Segoe UI Semibold" pitchFamily="34" charset="0"/>
                <a:ea typeface="Segoe UI Semibold" pitchFamily="34" charset="-122"/>
                <a:cs typeface="Segoe UI Semibold" pitchFamily="34" charset="-120"/>
              </a:rPr>
              <a:t>One application, not two</a:t>
            </a:r>
            <a:endParaRPr lang="en-US" sz="1400" dirty="0"/>
          </a:p>
        </p:txBody>
      </p:sp>
      <p:sp>
        <p:nvSpPr>
          <p:cNvPr id="11" name="Text 9"/>
          <p:cNvSpPr txBox="1"/>
          <p:nvPr/>
        </p:nvSpPr>
        <p:spPr>
          <a:xfrm>
            <a:off x="3447288" y="2176272"/>
            <a:ext cx="2240280" cy="566928"/>
          </a:xfrm>
          <a:prstGeom prst="rect">
            <a:avLst/>
          </a:prstGeom>
          <a:noFill/>
          <a:ln/>
        </p:spPr>
        <p:txBody>
          <a:bodyPr wrap="square" lIns="0" tIns="0" rIns="0" bIns="0" rtlCol="0" anchor="t"/>
          <a:lstStyle/>
          <a:p>
            <a:pPr indent="0" marL="0">
              <a:buNone/>
            </a:pPr>
            <a:r>
              <a:rPr lang="en-US" sz="1050" dirty="0">
                <a:solidFill>
                  <a:srgbClr val="14213D"/>
                </a:solidFill>
                <a:latin typeface="Segoe UI" pitchFamily="34" charset="0"/>
                <a:ea typeface="Segoe UI" pitchFamily="34" charset="-122"/>
                <a:cs typeface="Segoe UI" pitchFamily="34" charset="-120"/>
              </a:rPr>
              <a:t>Joining and applying happen together, so fewer prospects drop off.</a:t>
            </a:r>
            <a:endParaRPr lang="en-US" sz="1050" dirty="0"/>
          </a:p>
        </p:txBody>
      </p:sp>
      <p:sp>
        <p:nvSpPr>
          <p:cNvPr id="12" name="Benefit 3"/>
          <p:cNvSpPr/>
          <p:nvPr/>
        </p:nvSpPr>
        <p:spPr>
          <a:xfrm>
            <a:off x="6035040" y="1280160"/>
            <a:ext cx="2606040" cy="1508760"/>
          </a:xfrm>
          <a:prstGeom prst="roundRect">
            <a:avLst>
              <a:gd name="adj" fmla="val 7273"/>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13" name="Text 11"/>
          <p:cNvSpPr txBox="1"/>
          <p:nvPr/>
        </p:nvSpPr>
        <p:spPr>
          <a:xfrm>
            <a:off x="6236208" y="1417320"/>
            <a:ext cx="731520" cy="411480"/>
          </a:xfrm>
          <a:prstGeom prst="rect">
            <a:avLst/>
          </a:prstGeom>
          <a:noFill/>
          <a:ln/>
        </p:spPr>
        <p:txBody>
          <a:bodyPr wrap="square" lIns="0" tIns="0" rIns="0" bIns="0" rtlCol="0" anchor="t"/>
          <a:lstStyle/>
          <a:p>
            <a:pPr indent="0" marL="0">
              <a:buNone/>
            </a:pPr>
            <a:r>
              <a:rPr lang="en-US" sz="2000" dirty="0">
                <a:solidFill>
                  <a:srgbClr val="ED780F"/>
                </a:solidFill>
                <a:latin typeface="Segoe UI Semibold" pitchFamily="34" charset="0"/>
                <a:ea typeface="Segoe UI Semibold" pitchFamily="34" charset="-122"/>
                <a:cs typeface="Segoe UI Semibold" pitchFamily="34" charset="-120"/>
              </a:rPr>
              <a:t>03</a:t>
            </a:r>
            <a:endParaRPr lang="en-US" sz="2000" dirty="0"/>
          </a:p>
        </p:txBody>
      </p:sp>
      <p:sp>
        <p:nvSpPr>
          <p:cNvPr id="14" name="Text 12"/>
          <p:cNvSpPr txBox="1"/>
          <p:nvPr/>
        </p:nvSpPr>
        <p:spPr>
          <a:xfrm>
            <a:off x="6236208" y="1828800"/>
            <a:ext cx="2240280" cy="365760"/>
          </a:xfrm>
          <a:prstGeom prst="rect">
            <a:avLst/>
          </a:prstGeom>
          <a:noFill/>
          <a:ln/>
        </p:spPr>
        <p:txBody>
          <a:bodyPr wrap="square" lIns="0" tIns="0" rIns="0" bIns="0" rtlCol="0" anchor="t"/>
          <a:lstStyle/>
          <a:p>
            <a:pPr indent="0" marL="0">
              <a:buNone/>
            </a:pPr>
            <a:r>
              <a:rPr lang="en-US" sz="1400" dirty="0">
                <a:solidFill>
                  <a:srgbClr val="043370"/>
                </a:solidFill>
                <a:latin typeface="Segoe UI Semibold" pitchFamily="34" charset="0"/>
                <a:ea typeface="Segoe UI Semibold" pitchFamily="34" charset="-122"/>
                <a:cs typeface="Segoe UI Semibold" pitchFamily="34" charset="-120"/>
              </a:rPr>
              <a:t>KYC in the conversation</a:t>
            </a:r>
            <a:endParaRPr lang="en-US" sz="1400" dirty="0"/>
          </a:p>
        </p:txBody>
      </p:sp>
      <p:sp>
        <p:nvSpPr>
          <p:cNvPr id="15" name="Text 13"/>
          <p:cNvSpPr txBox="1"/>
          <p:nvPr/>
        </p:nvSpPr>
        <p:spPr>
          <a:xfrm>
            <a:off x="6236208" y="2176272"/>
            <a:ext cx="2240280" cy="566928"/>
          </a:xfrm>
          <a:prstGeom prst="rect">
            <a:avLst/>
          </a:prstGeom>
          <a:noFill/>
          <a:ln/>
        </p:spPr>
        <p:txBody>
          <a:bodyPr wrap="square" lIns="0" tIns="0" rIns="0" bIns="0" rtlCol="0" anchor="t"/>
          <a:lstStyle/>
          <a:p>
            <a:pPr indent="0" marL="0">
              <a:buNone/>
            </a:pPr>
            <a:r>
              <a:rPr lang="en-US" sz="1050" dirty="0">
                <a:solidFill>
                  <a:srgbClr val="14213D"/>
                </a:solidFill>
                <a:latin typeface="Segoe UI" pitchFamily="34" charset="0"/>
                <a:ea typeface="Segoe UI" pitchFamily="34" charset="-122"/>
                <a:cs typeface="Segoe UI" pitchFamily="34" charset="-120"/>
              </a:rPr>
              <a:t>Questions, identity checks and sanctions screening in one banker step.</a:t>
            </a:r>
            <a:endParaRPr lang="en-US" sz="1050" dirty="0"/>
          </a:p>
        </p:txBody>
      </p:sp>
      <p:sp>
        <p:nvSpPr>
          <p:cNvPr id="16" name="Benefit 4"/>
          <p:cNvSpPr/>
          <p:nvPr/>
        </p:nvSpPr>
        <p:spPr>
          <a:xfrm>
            <a:off x="457200" y="2971800"/>
            <a:ext cx="2606040" cy="1508760"/>
          </a:xfrm>
          <a:prstGeom prst="roundRect">
            <a:avLst>
              <a:gd name="adj" fmla="val 7273"/>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17" name="Text 15"/>
          <p:cNvSpPr txBox="1"/>
          <p:nvPr/>
        </p:nvSpPr>
        <p:spPr>
          <a:xfrm>
            <a:off x="658368" y="3108960"/>
            <a:ext cx="731520" cy="411480"/>
          </a:xfrm>
          <a:prstGeom prst="rect">
            <a:avLst/>
          </a:prstGeom>
          <a:noFill/>
          <a:ln/>
        </p:spPr>
        <p:txBody>
          <a:bodyPr wrap="square" lIns="0" tIns="0" rIns="0" bIns="0" rtlCol="0" anchor="t"/>
          <a:lstStyle/>
          <a:p>
            <a:pPr indent="0" marL="0">
              <a:buNone/>
            </a:pPr>
            <a:r>
              <a:rPr lang="en-US" sz="2000" dirty="0">
                <a:solidFill>
                  <a:srgbClr val="ED780F"/>
                </a:solidFill>
                <a:latin typeface="Segoe UI Semibold" pitchFamily="34" charset="0"/>
                <a:ea typeface="Segoe UI Semibold" pitchFamily="34" charset="-122"/>
                <a:cs typeface="Segoe UI Semibold" pitchFamily="34" charset="-120"/>
              </a:rPr>
              <a:t>04</a:t>
            </a:r>
            <a:endParaRPr lang="en-US" sz="2000" dirty="0"/>
          </a:p>
        </p:txBody>
      </p:sp>
      <p:sp>
        <p:nvSpPr>
          <p:cNvPr id="18" name="Text 16"/>
          <p:cNvSpPr txBox="1"/>
          <p:nvPr/>
        </p:nvSpPr>
        <p:spPr>
          <a:xfrm>
            <a:off x="658368" y="3520440"/>
            <a:ext cx="2240280" cy="365760"/>
          </a:xfrm>
          <a:prstGeom prst="rect">
            <a:avLst/>
          </a:prstGeom>
          <a:noFill/>
          <a:ln/>
        </p:spPr>
        <p:txBody>
          <a:bodyPr wrap="square" lIns="0" tIns="0" rIns="0" bIns="0" rtlCol="0" anchor="t"/>
          <a:lstStyle/>
          <a:p>
            <a:pPr indent="0" marL="0">
              <a:buNone/>
            </a:pPr>
            <a:r>
              <a:rPr lang="en-US" sz="1400" dirty="0">
                <a:solidFill>
                  <a:srgbClr val="043370"/>
                </a:solidFill>
                <a:latin typeface="Segoe UI Semibold" pitchFamily="34" charset="0"/>
                <a:ea typeface="Segoe UI Semibold" pitchFamily="34" charset="-122"/>
                <a:cs typeface="Segoe UI Semibold" pitchFamily="34" charset="-120"/>
              </a:rPr>
              <a:t>Funded on day one</a:t>
            </a:r>
            <a:endParaRPr lang="en-US" sz="1400" dirty="0"/>
          </a:p>
        </p:txBody>
      </p:sp>
      <p:sp>
        <p:nvSpPr>
          <p:cNvPr id="19" name="Text 17"/>
          <p:cNvSpPr txBox="1"/>
          <p:nvPr/>
        </p:nvSpPr>
        <p:spPr>
          <a:xfrm>
            <a:off x="658368" y="3867912"/>
            <a:ext cx="2240280" cy="566928"/>
          </a:xfrm>
          <a:prstGeom prst="rect">
            <a:avLst/>
          </a:prstGeom>
          <a:noFill/>
          <a:ln/>
        </p:spPr>
        <p:txBody>
          <a:bodyPr wrap="square" lIns="0" tIns="0" rIns="0" bIns="0" rtlCol="0" anchor="t"/>
          <a:lstStyle/>
          <a:p>
            <a:pPr indent="0" marL="0">
              <a:buNone/>
            </a:pPr>
            <a:r>
              <a:rPr lang="en-US" sz="1050" dirty="0">
                <a:solidFill>
                  <a:srgbClr val="14213D"/>
                </a:solidFill>
                <a:latin typeface="Segoe UI" pitchFamily="34" charset="0"/>
                <a:ea typeface="Segoe UI" pitchFamily="34" charset="-122"/>
                <a:cs typeface="Segoe UI" pitchFamily="34" charset="-120"/>
              </a:rPr>
              <a:t>Accounts open and opening deposits post before the call ends.</a:t>
            </a:r>
            <a:endParaRPr lang="en-US" sz="1050" dirty="0"/>
          </a:p>
        </p:txBody>
      </p:sp>
      <p:sp>
        <p:nvSpPr>
          <p:cNvPr id="20" name="Benefit 5"/>
          <p:cNvSpPr/>
          <p:nvPr/>
        </p:nvSpPr>
        <p:spPr>
          <a:xfrm>
            <a:off x="3246120" y="2971800"/>
            <a:ext cx="2606040" cy="1508760"/>
          </a:xfrm>
          <a:prstGeom prst="roundRect">
            <a:avLst>
              <a:gd name="adj" fmla="val 7273"/>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21" name="Text 19"/>
          <p:cNvSpPr txBox="1"/>
          <p:nvPr/>
        </p:nvSpPr>
        <p:spPr>
          <a:xfrm>
            <a:off x="3447288" y="3108960"/>
            <a:ext cx="731520" cy="411480"/>
          </a:xfrm>
          <a:prstGeom prst="rect">
            <a:avLst/>
          </a:prstGeom>
          <a:noFill/>
          <a:ln/>
        </p:spPr>
        <p:txBody>
          <a:bodyPr wrap="square" lIns="0" tIns="0" rIns="0" bIns="0" rtlCol="0" anchor="t"/>
          <a:lstStyle/>
          <a:p>
            <a:pPr indent="0" marL="0">
              <a:buNone/>
            </a:pPr>
            <a:r>
              <a:rPr lang="en-US" sz="2000" dirty="0">
                <a:solidFill>
                  <a:srgbClr val="ED780F"/>
                </a:solidFill>
                <a:latin typeface="Segoe UI Semibold" pitchFamily="34" charset="0"/>
                <a:ea typeface="Segoe UI Semibold" pitchFamily="34" charset="-122"/>
                <a:cs typeface="Segoe UI Semibold" pitchFamily="34" charset="-120"/>
              </a:rPr>
              <a:t>05</a:t>
            </a:r>
            <a:endParaRPr lang="en-US" sz="2000" dirty="0"/>
          </a:p>
        </p:txBody>
      </p:sp>
      <p:sp>
        <p:nvSpPr>
          <p:cNvPr id="22" name="Text 20"/>
          <p:cNvSpPr txBox="1"/>
          <p:nvPr/>
        </p:nvSpPr>
        <p:spPr>
          <a:xfrm>
            <a:off x="3447288" y="3520440"/>
            <a:ext cx="2240280" cy="365760"/>
          </a:xfrm>
          <a:prstGeom prst="rect">
            <a:avLst/>
          </a:prstGeom>
          <a:noFill/>
          <a:ln/>
        </p:spPr>
        <p:txBody>
          <a:bodyPr wrap="square" lIns="0" tIns="0" rIns="0" bIns="0" rtlCol="0" anchor="t"/>
          <a:lstStyle/>
          <a:p>
            <a:pPr indent="0" marL="0">
              <a:buNone/>
            </a:pPr>
            <a:r>
              <a:rPr lang="en-US" sz="1400" dirty="0">
                <a:solidFill>
                  <a:srgbClr val="043370"/>
                </a:solidFill>
                <a:latin typeface="Segoe UI Semibold" pitchFamily="34" charset="0"/>
                <a:ea typeface="Segoe UI Semibold" pitchFamily="34" charset="-122"/>
                <a:cs typeface="Segoe UI Semibold" pitchFamily="34" charset="-120"/>
              </a:rPr>
              <a:t>Primary, not just open</a:t>
            </a:r>
            <a:endParaRPr lang="en-US" sz="1400" dirty="0"/>
          </a:p>
        </p:txBody>
      </p:sp>
      <p:sp>
        <p:nvSpPr>
          <p:cNvPr id="23" name="Text 21"/>
          <p:cNvSpPr txBox="1"/>
          <p:nvPr/>
        </p:nvSpPr>
        <p:spPr>
          <a:xfrm>
            <a:off x="3447288" y="3867912"/>
            <a:ext cx="2240280" cy="566928"/>
          </a:xfrm>
          <a:prstGeom prst="rect">
            <a:avLst/>
          </a:prstGeom>
          <a:noFill/>
          <a:ln/>
        </p:spPr>
        <p:txBody>
          <a:bodyPr wrap="square" lIns="0" tIns="0" rIns="0" bIns="0" rtlCol="0" anchor="t"/>
          <a:lstStyle/>
          <a:p>
            <a:pPr indent="0" marL="0">
              <a:buNone/>
            </a:pPr>
            <a:r>
              <a:rPr lang="en-US" sz="1050" dirty="0">
                <a:solidFill>
                  <a:srgbClr val="14213D"/>
                </a:solidFill>
                <a:latin typeface="Segoe UI" pitchFamily="34" charset="0"/>
                <a:ea typeface="Segoe UI" pitchFamily="34" charset="-122"/>
                <a:cs typeface="Segoe UI" pitchFamily="34" charset="-120"/>
              </a:rPr>
              <a:t>Card activation and direct deposit happen in the first 30 days.</a:t>
            </a:r>
            <a:endParaRPr lang="en-US" sz="1050" dirty="0"/>
          </a:p>
        </p:txBody>
      </p:sp>
      <p:sp>
        <p:nvSpPr>
          <p:cNvPr id="24" name="Benefit 6"/>
          <p:cNvSpPr/>
          <p:nvPr/>
        </p:nvSpPr>
        <p:spPr>
          <a:xfrm>
            <a:off x="6035040" y="2971800"/>
            <a:ext cx="2606040" cy="1508760"/>
          </a:xfrm>
          <a:prstGeom prst="roundRect">
            <a:avLst>
              <a:gd name="adj" fmla="val 7273"/>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25" name="Text 23"/>
          <p:cNvSpPr txBox="1"/>
          <p:nvPr/>
        </p:nvSpPr>
        <p:spPr>
          <a:xfrm>
            <a:off x="6236208" y="3108960"/>
            <a:ext cx="731520" cy="411480"/>
          </a:xfrm>
          <a:prstGeom prst="rect">
            <a:avLst/>
          </a:prstGeom>
          <a:noFill/>
          <a:ln/>
        </p:spPr>
        <p:txBody>
          <a:bodyPr wrap="square" lIns="0" tIns="0" rIns="0" bIns="0" rtlCol="0" anchor="t"/>
          <a:lstStyle/>
          <a:p>
            <a:pPr indent="0" marL="0">
              <a:buNone/>
            </a:pPr>
            <a:r>
              <a:rPr lang="en-US" sz="2000" dirty="0">
                <a:solidFill>
                  <a:srgbClr val="ED780F"/>
                </a:solidFill>
                <a:latin typeface="Segoe UI Semibold" pitchFamily="34" charset="0"/>
                <a:ea typeface="Segoe UI Semibold" pitchFamily="34" charset="-122"/>
                <a:cs typeface="Segoe UI Semibold" pitchFamily="34" charset="-120"/>
              </a:rPr>
              <a:t>06</a:t>
            </a:r>
            <a:endParaRPr lang="en-US" sz="2000" dirty="0"/>
          </a:p>
        </p:txBody>
      </p:sp>
      <p:sp>
        <p:nvSpPr>
          <p:cNvPr id="26" name="Text 24"/>
          <p:cNvSpPr txBox="1"/>
          <p:nvPr/>
        </p:nvSpPr>
        <p:spPr>
          <a:xfrm>
            <a:off x="6236208" y="3520440"/>
            <a:ext cx="2240280" cy="365760"/>
          </a:xfrm>
          <a:prstGeom prst="rect">
            <a:avLst/>
          </a:prstGeom>
          <a:noFill/>
          <a:ln/>
        </p:spPr>
        <p:txBody>
          <a:bodyPr wrap="square" lIns="0" tIns="0" rIns="0" bIns="0" rtlCol="0" anchor="t"/>
          <a:lstStyle/>
          <a:p>
            <a:pPr indent="0" marL="0">
              <a:buNone/>
            </a:pPr>
            <a:r>
              <a:rPr lang="en-US" sz="1400" dirty="0">
                <a:solidFill>
                  <a:srgbClr val="043370"/>
                </a:solidFill>
                <a:latin typeface="Segoe UI Semibold" pitchFamily="34" charset="0"/>
                <a:ea typeface="Segoe UI Semibold" pitchFamily="34" charset="-122"/>
                <a:cs typeface="Segoe UI Semibold" pitchFamily="34" charset="-120"/>
              </a:rPr>
              <a:t>One record, one funnel</a:t>
            </a:r>
            <a:endParaRPr lang="en-US" sz="1400" dirty="0"/>
          </a:p>
        </p:txBody>
      </p:sp>
      <p:sp>
        <p:nvSpPr>
          <p:cNvPr id="27" name="Text 25"/>
          <p:cNvSpPr txBox="1"/>
          <p:nvPr/>
        </p:nvSpPr>
        <p:spPr>
          <a:xfrm>
            <a:off x="6236208" y="3867912"/>
            <a:ext cx="2240280" cy="566928"/>
          </a:xfrm>
          <a:prstGeom prst="rect">
            <a:avLst/>
          </a:prstGeom>
          <a:noFill/>
          <a:ln/>
        </p:spPr>
        <p:txBody>
          <a:bodyPr wrap="square" lIns="0" tIns="0" rIns="0" bIns="0" rtlCol="0" anchor="t"/>
          <a:lstStyle/>
          <a:p>
            <a:pPr indent="0" marL="0">
              <a:buNone/>
            </a:pPr>
            <a:r>
              <a:rPr lang="en-US" sz="1050" dirty="0">
                <a:solidFill>
                  <a:srgbClr val="14213D"/>
                </a:solidFill>
                <a:latin typeface="Segoe UI" pitchFamily="34" charset="0"/>
                <a:ea typeface="Segoe UI" pitchFamily="34" charset="-122"/>
                <a:cs typeface="Segoe UI" pitchFamily="34" charset="-120"/>
              </a:rPr>
              <a:t>Prospect, member and accounts stay connected and measurable.</a:t>
            </a:r>
            <a:endParaRPr lang="en-US" sz="105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274320"/>
            <a:ext cx="8229600"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APPENDIX · SDO - CONSUMER SITE · HTTPS://STORM-6269DBE2D00053.MY.SITE.COM/CONSUMER</a:t>
            </a:r>
            <a:endParaRPr lang="en-US" sz="900" dirty="0"/>
          </a:p>
        </p:txBody>
      </p:sp>
      <p:sp>
        <p:nvSpPr>
          <p:cNvPr id="3" name="Text 1"/>
          <p:cNvSpPr txBox="1"/>
          <p:nvPr/>
        </p:nvSpPr>
        <p:spPr>
          <a:xfrm>
            <a:off x="457200" y="502920"/>
            <a:ext cx="8229600" cy="411480"/>
          </a:xfrm>
          <a:prstGeom prst="rect">
            <a:avLst/>
          </a:prstGeom>
          <a:noFill/>
          <a:ln/>
        </p:spPr>
        <p:txBody>
          <a:bodyPr wrap="square" lIns="0" tIns="0" rIns="0" bIns="0" rtlCol="0" anchor="t">
            <a:normAutofit/>
          </a:bodyPr>
          <a:lstStyle/>
          <a:p>
            <a:pPr indent="0" marL="0">
              <a:buNone/>
            </a:pPr>
            <a:r>
              <a:rPr lang="en-US" sz="2000" dirty="0">
                <a:solidFill>
                  <a:srgbClr val="043370"/>
                </a:solidFill>
                <a:latin typeface="Segoe UI Semibold" pitchFamily="34" charset="0"/>
                <a:ea typeface="Segoe UI Semibold" pitchFamily="34" charset="-122"/>
                <a:cs typeface="Segoe UI Semibold" pitchFamily="34" charset="-120"/>
              </a:rPr>
              <a:t>Appendix A · Experience Cloud pages and LWCs</a:t>
            </a:r>
            <a:endParaRPr lang="en-US" sz="2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914400"/>
        </p:xfrm>
        <a:graphic>
          <a:graphicData uri="http://schemas.openxmlformats.org/drawingml/2006/table">
            <a:tbl>
              <a:tblPr/>
              <a:tblGrid>
                <a:gridCol w="1737360"/>
                <a:gridCol w="2743200"/>
                <a:gridCol w="3749040"/>
              </a:tblGrid>
              <a:tr h="201168">
                <a:tc>
                  <a:txBody>
                    <a:bodyPr/>
                    <a:lstStyle/>
                    <a:p>
                      <a:pPr indent="0" marL="0">
                        <a:buNone/>
                      </a:pPr>
                      <a:r>
                        <a:rPr lang="en-US" sz="850" b="1" dirty="0">
                          <a:solidFill>
                            <a:srgbClr val="FFFFFF"/>
                          </a:solidFill>
                          <a:latin typeface="Segoe UI" pitchFamily="34" charset="0"/>
                          <a:ea typeface="Segoe UI" pitchFamily="34" charset="-122"/>
                          <a:cs typeface="Segoe UI" pitchFamily="34" charset="-120"/>
                        </a:rPr>
                        <a:t>Experience Cloud page</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043370"/>
                    </a:solidFill>
                  </a:tcPr>
                </a:tc>
                <a:tc>
                  <a:txBody>
                    <a:bodyPr/>
                    <a:lstStyle/>
                    <a:p>
                      <a:pPr indent="0" marL="0">
                        <a:buNone/>
                      </a:pPr>
                      <a:r>
                        <a:rPr lang="en-US" sz="850" b="1" dirty="0">
                          <a:solidFill>
                            <a:srgbClr val="FFFFFF"/>
                          </a:solidFill>
                          <a:latin typeface="Segoe UI" pitchFamily="34" charset="0"/>
                          <a:ea typeface="Segoe UI" pitchFamily="34" charset="-122"/>
                          <a:cs typeface="Segoe UI" pitchFamily="34" charset="-120"/>
                        </a:rPr>
                        <a:t>URL</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043370"/>
                    </a:solidFill>
                  </a:tcPr>
                </a:tc>
                <a:tc>
                  <a:txBody>
                    <a:bodyPr/>
                    <a:lstStyle/>
                    <a:p>
                      <a:pPr indent="0" marL="0">
                        <a:buNone/>
                      </a:pPr>
                      <a:r>
                        <a:rPr lang="en-US" sz="850" b="1" dirty="0">
                          <a:solidFill>
                            <a:srgbClr val="FFFFFF"/>
                          </a:solidFill>
                          <a:latin typeface="Segoe UI" pitchFamily="34" charset="0"/>
                          <a:ea typeface="Segoe UI" pitchFamily="34" charset="-122"/>
                          <a:cs typeface="Segoe UI" pitchFamily="34" charset="-120"/>
                        </a:rPr>
                        <a:t>What it uses</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043370"/>
                    </a:solidFill>
                  </a:tcPr>
                </a:tc>
              </a:tr>
              <a:tr h="201168">
                <a:tc>
                  <a:txBody>
                    <a:bodyPr/>
                    <a:lstStyle/>
                    <a:p>
                      <a:pPr indent="0" marL="0">
                        <a:buNone/>
                      </a:pPr>
                      <a:r>
                        <a:rPr lang="en-US" sz="850" b="1" dirty="0">
                          <a:solidFill>
                            <a:srgbClr val="14213D"/>
                          </a:solidFill>
                          <a:latin typeface="Segoe UI" pitchFamily="34" charset="0"/>
                          <a:ea typeface="Segoe UI" pitchFamily="34" charset="-122"/>
                          <a:cs typeface="Segoe UI" pitchFamily="34" charset="-120"/>
                        </a:rPr>
                        <a:t>Open account</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/consumer/s/open-account</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HTML hero: Join and open your account → /join</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r>
              <a:tr h="201168">
                <a:tc>
                  <a:txBody>
                    <a:bodyPr/>
                    <a:lstStyle/>
                    <a:p>
                      <a:pPr indent="0" marL="0">
                        <a:buNone/>
                      </a:pPr>
                      <a:r>
                        <a:rPr lang="en-US" sz="850" b="1" dirty="0">
                          <a:solidFill>
                            <a:srgbClr val="14213D"/>
                          </a:solidFill>
                          <a:latin typeface="Segoe UI" pitchFamily="34" charset="0"/>
                          <a:ea typeface="Segoe UI" pitchFamily="34" charset="-122"/>
                          <a:cs typeface="Segoe UI" pitchFamily="34" charset="-120"/>
                        </a:rPr>
                        <a:t>Join Navy Federal</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/consumer/s/join</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c:nfcuJoinAndApply</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r>
              <a:tr h="201168">
                <a:tc>
                  <a:txBody>
                    <a:bodyPr/>
                    <a:lstStyle/>
                    <a:p>
                      <a:pPr indent="0" marL="0">
                        <a:buNone/>
                      </a:pPr>
                      <a:r>
                        <a:rPr lang="en-US" sz="850" b="1" dirty="0">
                          <a:solidFill>
                            <a:srgbClr val="14213D"/>
                          </a:solidFill>
                          <a:latin typeface="Segoe UI" pitchFamily="34" charset="0"/>
                          <a:ea typeface="Segoe UI" pitchFamily="34" charset="-122"/>
                          <a:cs typeface="Segoe UI" pitchFamily="34" charset="-120"/>
                        </a:rPr>
                        <a:t>Your First 30 Days</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/consumer/s/welcome?t=&lt;token&gt;</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c:nfcuFirstThirtyDays</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r>
              <a:tr h="201168">
                <a:tc>
                  <a:txBody>
                    <a:bodyPr/>
                    <a:lstStyle/>
                    <a:p>
                      <a:pPr indent="0" marL="0">
                        <a:buNone/>
                      </a:pPr>
                      <a:r>
                        <a:rPr lang="en-US" sz="850" b="1" dirty="0">
                          <a:solidFill>
                            <a:srgbClr val="14213D"/>
                          </a:solidFill>
                          <a:latin typeface="Segoe UI" pitchFamily="34" charset="0"/>
                          <a:ea typeface="Segoe UI" pitchFamily="34" charset="-122"/>
                          <a:cs typeface="Segoe UI" pitchFamily="34" charset="-120"/>
                        </a:rPr>
                        <a:t>Personal Banking</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/consumer/s/personal-banking</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Open account link → /join</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r>
              <a:tr h="201168">
                <a:tc>
                  <a:txBody>
                    <a:bodyPr/>
                    <a:lstStyle/>
                    <a:p>
                      <a:pPr indent="0" marL="0">
                        <a:buNone/>
                      </a:pPr>
                      <a:r>
                        <a:rPr lang="en-US" sz="850" b="1" dirty="0">
                          <a:solidFill>
                            <a:srgbClr val="14213D"/>
                          </a:solidFill>
                          <a:latin typeface="Segoe UI" pitchFamily="34" charset="0"/>
                          <a:ea typeface="Segoe UI" pitchFamily="34" charset="-122"/>
                          <a:cs typeface="Segoe UI" pitchFamily="34" charset="-120"/>
                        </a:rPr>
                        <a:t>Bank Canvas</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/consumer/s/bank-canvas</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Open account link → /join</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r>
            </a:tbl>
          </a:graphicData>
        </a:graphic>
      </p:graphicFrame>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457200" y="2377440"/>
          <a:ext cx="8229600" cy="914400"/>
        </p:xfrm>
        <a:graphic>
          <a:graphicData uri="http://schemas.openxmlformats.org/drawingml/2006/table">
            <a:tbl>
              <a:tblPr/>
              <a:tblGrid>
                <a:gridCol w="2468880"/>
                <a:gridCol w="3017520"/>
                <a:gridCol w="2743200"/>
              </a:tblGrid>
              <a:tr h="201168">
                <a:tc>
                  <a:txBody>
                    <a:bodyPr/>
                    <a:lstStyle/>
                    <a:p>
                      <a:pPr indent="0" marL="0">
                        <a:buNone/>
                      </a:pPr>
                      <a:r>
                        <a:rPr lang="en-US" sz="850" b="1" dirty="0">
                          <a:solidFill>
                            <a:srgbClr val="FFFFFF"/>
                          </a:solidFill>
                          <a:latin typeface="Segoe UI" pitchFamily="34" charset="0"/>
                          <a:ea typeface="Segoe UI" pitchFamily="34" charset="-122"/>
                          <a:cs typeface="Segoe UI" pitchFamily="34" charset="-120"/>
                        </a:rPr>
                        <a:t>Lightning web component</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043370"/>
                    </a:solidFill>
                  </a:tcPr>
                </a:tc>
                <a:tc>
                  <a:txBody>
                    <a:bodyPr/>
                    <a:lstStyle/>
                    <a:p>
                      <a:pPr indent="0" marL="0">
                        <a:buNone/>
                      </a:pPr>
                      <a:r>
                        <a:rPr lang="en-US" sz="850" b="1" dirty="0">
                          <a:solidFill>
                            <a:srgbClr val="FFFFFF"/>
                          </a:solidFill>
                          <a:latin typeface="Segoe UI" pitchFamily="34" charset="0"/>
                          <a:ea typeface="Segoe UI" pitchFamily="34" charset="-122"/>
                          <a:cs typeface="Segoe UI" pitchFamily="34" charset="-120"/>
                        </a:rPr>
                        <a:t>Where it runs</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043370"/>
                    </a:solidFill>
                  </a:tcPr>
                </a:tc>
                <a:tc>
                  <a:txBody>
                    <a:bodyPr/>
                    <a:lstStyle/>
                    <a:p>
                      <a:pPr indent="0" marL="0">
                        <a:buNone/>
                      </a:pPr>
                      <a:r>
                        <a:rPr lang="en-US" sz="850" b="1" dirty="0">
                          <a:solidFill>
                            <a:srgbClr val="FFFFFF"/>
                          </a:solidFill>
                          <a:latin typeface="Segoe UI" pitchFamily="34" charset="0"/>
                          <a:ea typeface="Segoe UI" pitchFamily="34" charset="-122"/>
                          <a:cs typeface="Segoe UI" pitchFamily="34" charset="-120"/>
                        </a:rPr>
                        <a:t>What it does</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043370"/>
                    </a:solidFill>
                  </a:tcPr>
                </a:tc>
              </a:tr>
              <a:tr h="201168">
                <a:tc>
                  <a:txBody>
                    <a:bodyPr/>
                    <a:lstStyle/>
                    <a:p>
                      <a:pPr indent="0" marL="0">
                        <a:buNone/>
                      </a:pPr>
                      <a:r>
                        <a:rPr lang="en-US" sz="850" b="1" dirty="0">
                          <a:solidFill>
                            <a:srgbClr val="14213D"/>
                          </a:solidFill>
                          <a:latin typeface="Segoe UI" pitchFamily="34" charset="0"/>
                          <a:ea typeface="Segoe UI" pitchFamily="34" charset="-122"/>
                          <a:cs typeface="Segoe UI" pitchFamily="34" charset="-120"/>
                        </a:rPr>
                        <a:t>nfcuJoinAndApply</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Experience page /join</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Five-step join and apply form</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r>
              <a:tr h="201168">
                <a:tc>
                  <a:txBody>
                    <a:bodyPr/>
                    <a:lstStyle/>
                    <a:p>
                      <a:pPr indent="0" marL="0">
                        <a:buNone/>
                      </a:pPr>
                      <a:r>
                        <a:rPr lang="en-US" sz="850" b="1" dirty="0">
                          <a:solidFill>
                            <a:srgbClr val="14213D"/>
                          </a:solidFill>
                          <a:latin typeface="Segoe UI" pitchFamily="34" charset="0"/>
                          <a:ea typeface="Segoe UI" pitchFamily="34" charset="-122"/>
                          <a:cs typeface="Segoe UI" pitchFamily="34" charset="-120"/>
                        </a:rPr>
                        <a:t>nfcuFirstThirtyDays</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Experience page /welcome</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First 30 days checklist</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r>
              <a:tr h="201168">
                <a:tc>
                  <a:txBody>
                    <a:bodyPr/>
                    <a:lstStyle/>
                    <a:p>
                      <a:pPr indent="0" marL="0">
                        <a:buNone/>
                      </a:pPr>
                      <a:r>
                        <a:rPr lang="en-US" sz="850" b="1" dirty="0">
                          <a:solidFill>
                            <a:srgbClr val="14213D"/>
                          </a:solidFill>
                          <a:latin typeface="Segoe UI" pitchFamily="34" charset="0"/>
                          <a:ea typeface="Segoe UI" pitchFamily="34" charset="-122"/>
                          <a:cs typeface="Segoe UI" pitchFamily="34" charset="-120"/>
                        </a:rPr>
                        <a:t>nfcuOpenDepositAccounts</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Flow NFCU_Open_Deposit_Accounts · Case quick action</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Products, KYC and identity, open and fund</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r>
              <a:tr h="201168">
                <a:tc>
                  <a:txBody>
                    <a:bodyPr/>
                    <a:lstStyle/>
                    <a:p>
                      <a:pPr indent="0" marL="0">
                        <a:buNone/>
                      </a:pPr>
                      <a:r>
                        <a:rPr lang="en-US" sz="850" b="1" dirty="0">
                          <a:solidFill>
                            <a:srgbClr val="14213D"/>
                          </a:solidFill>
                          <a:latin typeface="Segoe UI" pitchFamily="34" charset="0"/>
                          <a:ea typeface="Segoe UI" pitchFamily="34" charset="-122"/>
                          <a:cs typeface="Segoe UI" pitchFamily="34" charset="-120"/>
                        </a:rPr>
                        <a:t>cardActionBar · cardActionFlowModal</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Case record page (service console)</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Guided card application action bar</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r>
              <a:tr h="201168">
                <a:tc>
                  <a:txBody>
                    <a:bodyPr/>
                    <a:lstStyle/>
                    <a:p>
                      <a:pPr indent="0" marL="0">
                        <a:buNone/>
                      </a:pPr>
                      <a:r>
                        <a:rPr lang="en-US" sz="850" b="1" dirty="0">
                          <a:solidFill>
                            <a:srgbClr val="14213D"/>
                          </a:solidFill>
                          <a:latin typeface="Segoe UI" pitchFamily="34" charset="0"/>
                          <a:ea typeface="Segoe UI" pitchFamily="34" charset="-122"/>
                          <a:cs typeface="Segoe UI" pitchFamily="34" charset="-120"/>
                        </a:rPr>
                        <a:t>cardApplicationWizard</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Flow screen · Case quick action</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Card Application Wizard</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r>
              <a:tr h="201168">
                <a:tc>
                  <a:txBody>
                    <a:bodyPr/>
                    <a:lstStyle/>
                    <a:p>
                      <a:pPr indent="0" marL="0">
                        <a:buNone/>
                      </a:pPr>
                      <a:r>
                        <a:rPr lang="en-US" sz="850" b="1" dirty="0">
                          <a:solidFill>
                            <a:srgbClr val="14213D"/>
                          </a:solidFill>
                          <a:latin typeface="Segoe UI" pitchFamily="34" charset="0"/>
                          <a:ea typeface="Segoe UI" pitchFamily="34" charset="-122"/>
                          <a:cs typeface="Segoe UI" pitchFamily="34" charset="-120"/>
                        </a:rPr>
                        <a:t>ccApplicationReview · ccApplicationWizard</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Flow screens · Case quick actions</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Review and complete the card application</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r>
              <a:tr h="201168">
                <a:tc>
                  <a:txBody>
                    <a:bodyPr/>
                    <a:lstStyle/>
                    <a:p>
                      <a:pPr indent="0" marL="0">
                        <a:buNone/>
                      </a:pPr>
                      <a:r>
                        <a:rPr lang="en-US" sz="850" b="1" dirty="0">
                          <a:solidFill>
                            <a:srgbClr val="14213D"/>
                          </a:solidFill>
                          <a:latin typeface="Segoe UI" pitchFamily="34" charset="0"/>
                          <a:ea typeface="Segoe UI" pitchFamily="34" charset="-122"/>
                          <a:cs typeface="Segoe UI" pitchFamily="34" charset="-120"/>
                        </a:rPr>
                        <a:t>ccIdentityDocuments</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Flow MSR_Identity_Verification</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Verify Identity: ID and proof of eligibility</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r>
              <a:tr h="201168">
                <a:tc>
                  <a:txBody>
                    <a:bodyPr/>
                    <a:lstStyle/>
                    <a:p>
                      <a:pPr indent="0" marL="0">
                        <a:buNone/>
                      </a:pPr>
                      <a:r>
                        <a:rPr lang="en-US" sz="850" b="1" dirty="0">
                          <a:solidFill>
                            <a:srgbClr val="14213D"/>
                          </a:solidFill>
                          <a:latin typeface="Segoe UI" pitchFamily="34" charset="0"/>
                          <a:ea typeface="Segoe UI" pitchFamily="34" charset="-122"/>
                          <a:cs typeface="Segoe UI" pitchFamily="34" charset="-120"/>
                        </a:rPr>
                        <a:t>ccRequirementsEmail</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Flow screens · Case quick action</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Email application requirements</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r>
            </a:tbl>
          </a:graphicData>
        </a:graphic>
      </p:graphicFrame>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274320"/>
            <a:ext cx="8229600"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APPENDIX · STANDARD: CORE SALESFORCE AND FINANCIAL SERVICES CLOUD · CUSTOM: DEMO-SPECIFIC</a:t>
            </a:r>
            <a:endParaRPr lang="en-US" sz="900" dirty="0"/>
          </a:p>
        </p:txBody>
      </p:sp>
      <p:sp>
        <p:nvSpPr>
          <p:cNvPr id="3" name="Text 1"/>
          <p:cNvSpPr txBox="1"/>
          <p:nvPr/>
        </p:nvSpPr>
        <p:spPr>
          <a:xfrm>
            <a:off x="457200" y="502920"/>
            <a:ext cx="8229600" cy="411480"/>
          </a:xfrm>
          <a:prstGeom prst="rect">
            <a:avLst/>
          </a:prstGeom>
          <a:noFill/>
          <a:ln/>
        </p:spPr>
        <p:txBody>
          <a:bodyPr wrap="square" lIns="0" tIns="0" rIns="0" bIns="0" rtlCol="0" anchor="t">
            <a:normAutofit/>
          </a:bodyPr>
          <a:lstStyle/>
          <a:p>
            <a:pPr indent="0" marL="0">
              <a:buNone/>
            </a:pPr>
            <a:r>
              <a:rPr lang="en-US" sz="2000" dirty="0">
                <a:solidFill>
                  <a:srgbClr val="043370"/>
                </a:solidFill>
                <a:latin typeface="Segoe UI Semibold" pitchFamily="34" charset="0"/>
                <a:ea typeface="Segoe UI Semibold" pitchFamily="34" charset="-122"/>
                <a:cs typeface="Segoe UI Semibold" pitchFamily="34" charset="-120"/>
              </a:rPr>
              <a:t>Appendix B · Salesforce objects</a:t>
            </a:r>
            <a:endParaRPr lang="en-US" sz="2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5120640" cy="914400"/>
        </p:xfrm>
        <a:graphic>
          <a:graphicData uri="http://schemas.openxmlformats.org/drawingml/2006/table">
            <a:tbl>
              <a:tblPr/>
              <a:tblGrid>
                <a:gridCol w="2423160"/>
                <a:gridCol w="2697480"/>
              </a:tblGrid>
              <a:tr h="219456">
                <a:tc>
                  <a:txBody>
                    <a:bodyPr/>
                    <a:lstStyle/>
                    <a:p>
                      <a:pPr indent="0" marL="0">
                        <a:buNone/>
                      </a:pPr>
                      <a:r>
                        <a:rPr lang="en-US" sz="850" b="1" dirty="0">
                          <a:solidFill>
                            <a:srgbClr val="FFFFFF"/>
                          </a:solidFill>
                          <a:latin typeface="Segoe UI" pitchFamily="34" charset="0"/>
                          <a:ea typeface="Segoe UI" pitchFamily="34" charset="-122"/>
                          <a:cs typeface="Segoe UI" pitchFamily="34" charset="-120"/>
                        </a:rPr>
                        <a:t>Standard object</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043370"/>
                    </a:solidFill>
                  </a:tcPr>
                </a:tc>
                <a:tc>
                  <a:txBody>
                    <a:bodyPr/>
                    <a:lstStyle/>
                    <a:p>
                      <a:pPr indent="0" marL="0">
                        <a:buNone/>
                      </a:pPr>
                      <a:r>
                        <a:rPr lang="en-US" sz="850" b="1" dirty="0">
                          <a:solidFill>
                            <a:srgbClr val="FFFFFF"/>
                          </a:solidFill>
                          <a:latin typeface="Segoe UI" pitchFamily="34" charset="0"/>
                          <a:ea typeface="Segoe UI" pitchFamily="34" charset="-122"/>
                          <a:cs typeface="Segoe UI" pitchFamily="34" charset="-120"/>
                        </a:rPr>
                        <a:t>Role in the journey</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043370"/>
                    </a:solidFill>
                  </a:tcPr>
                </a:tc>
              </a:tr>
              <a:tr h="219456">
                <a:tc>
                  <a:txBody>
                    <a:bodyPr/>
                    <a:lstStyle/>
                    <a:p>
                      <a:pPr indent="0" marL="0">
                        <a:buNone/>
                      </a:pPr>
                      <a:r>
                        <a:rPr lang="en-US" sz="850" b="1" dirty="0">
                          <a:solidFill>
                            <a:srgbClr val="043370"/>
                          </a:solidFill>
                          <a:latin typeface="Segoe UI" pitchFamily="34" charset="0"/>
                          <a:ea typeface="Segoe UI" pitchFamily="34" charset="-122"/>
                          <a:cs typeface="Segoe UI" pitchFamily="34" charset="-120"/>
                        </a:rPr>
                        <a:t>Lead</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Prospect from the website, converted on submit</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043370"/>
                          </a:solidFill>
                          <a:latin typeface="Segoe UI" pitchFamily="34" charset="0"/>
                          <a:ea typeface="Segoe UI" pitchFamily="34" charset="-122"/>
                          <a:cs typeface="Segoe UI" pitchFamily="34" charset="-120"/>
                        </a:rPr>
                        <a:t>Account (Person Account) · Contact</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The member record</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r>
              <a:tr h="219456">
                <a:tc>
                  <a:txBody>
                    <a:bodyPr/>
                    <a:lstStyle/>
                    <a:p>
                      <a:pPr indent="0" marL="0">
                        <a:buNone/>
                      </a:pPr>
                      <a:r>
                        <a:rPr lang="en-US" sz="850" b="1" dirty="0">
                          <a:solidFill>
                            <a:srgbClr val="043370"/>
                          </a:solidFill>
                          <a:latin typeface="Segoe UI" pitchFamily="34" charset="0"/>
                          <a:ea typeface="Segoe UI" pitchFamily="34" charset="-122"/>
                          <a:cs typeface="Segoe UI" pitchFamily="34" charset="-120"/>
                        </a:rPr>
                        <a:t>Case · CaseComment</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Banker work item; onboarding steps logged as comments</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043370"/>
                          </a:solidFill>
                          <a:latin typeface="Segoe UI" pitchFamily="34" charset="0"/>
                          <a:ea typeface="Segoe UI" pitchFamily="34" charset="-122"/>
                          <a:cs typeface="Segoe UI" pitchFamily="34" charset="-120"/>
                        </a:rPr>
                        <a:t>ContentVersion · ContentDocumentLink</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Photo ID and proof of eligibility on the case</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r>
              <a:tr h="219456">
                <a:tc>
                  <a:txBody>
                    <a:bodyPr/>
                    <a:lstStyle/>
                    <a:p>
                      <a:pPr indent="0" marL="0">
                        <a:buNone/>
                      </a:pPr>
                      <a:r>
                        <a:rPr lang="en-US" sz="850" b="1" dirty="0">
                          <a:solidFill>
                            <a:srgbClr val="043370"/>
                          </a:solidFill>
                          <a:latin typeface="Segoe UI" pitchFamily="34" charset="0"/>
                          <a:ea typeface="Segoe UI" pitchFamily="34" charset="-122"/>
                          <a:cs typeface="Segoe UI" pitchFamily="34" charset="-120"/>
                        </a:rPr>
                        <a:t>Product2</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Membership Savings Account, Everyday Checking</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043370"/>
                          </a:solidFill>
                          <a:latin typeface="Segoe UI" pitchFamily="34" charset="0"/>
                          <a:ea typeface="Segoe UI" pitchFamily="34" charset="-122"/>
                          <a:cs typeface="Segoe UI" pitchFamily="34" charset="-120"/>
                        </a:rPr>
                        <a:t>ApplicationForm · ApplicationFormProduct</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Deposit application and requested products</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r>
              <a:tr h="219456">
                <a:tc>
                  <a:txBody>
                    <a:bodyPr/>
                    <a:lstStyle/>
                    <a:p>
                      <a:pPr indent="0" marL="0">
                        <a:buNone/>
                      </a:pPr>
                      <a:r>
                        <a:rPr lang="en-US" sz="850" b="1" dirty="0">
                          <a:solidFill>
                            <a:srgbClr val="043370"/>
                          </a:solidFill>
                          <a:latin typeface="Segoe UI" pitchFamily="34" charset="0"/>
                          <a:ea typeface="Segoe UI" pitchFamily="34" charset="-122"/>
                          <a:cs typeface="Segoe UI" pitchFamily="34" charset="-120"/>
                        </a:rPr>
                        <a:t>PartyProfile · IdentityDocument</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KYC result and the ID used</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043370"/>
                          </a:solidFill>
                          <a:latin typeface="Segoe UI" pitchFamily="34" charset="0"/>
                          <a:ea typeface="Segoe UI" pitchFamily="34" charset="-122"/>
                          <a:cs typeface="Segoe UI" pitchFamily="34" charset="-120"/>
                        </a:rPr>
                        <a:t>FinancialAccount · FinancialAccountParty</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Opened accounts and their owner</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r>
              <a:tr h="219456">
                <a:tc>
                  <a:txBody>
                    <a:bodyPr/>
                    <a:lstStyle/>
                    <a:p>
                      <a:pPr indent="0" marL="0">
                        <a:buNone/>
                      </a:pPr>
                      <a:r>
                        <a:rPr lang="en-US" sz="850" b="1" dirty="0">
                          <a:solidFill>
                            <a:srgbClr val="043370"/>
                          </a:solidFill>
                          <a:latin typeface="Segoe UI" pitchFamily="34" charset="0"/>
                          <a:ea typeface="Segoe UI" pitchFamily="34" charset="-122"/>
                          <a:cs typeface="Segoe UI" pitchFamily="34" charset="-120"/>
                        </a:rPr>
                        <a:t>FinancialAccountTransaction · FinancialAccountBalance</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Opening deposits and balances</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043370"/>
                          </a:solidFill>
                          <a:latin typeface="Segoe UI" pitchFamily="34" charset="0"/>
                          <a:ea typeface="Segoe UI" pitchFamily="34" charset="-122"/>
                          <a:cs typeface="Segoe UI" pitchFamily="34" charset="-120"/>
                        </a:rPr>
                        <a:t>AppFormProdtFinclAccount</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Links each application line to its account</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EAF0F8"/>
                    </a:solidFill>
                  </a:tcPr>
                </a:tc>
              </a:tr>
              <a:tr h="219456">
                <a:tc>
                  <a:txBody>
                    <a:bodyPr/>
                    <a:lstStyle/>
                    <a:p>
                      <a:pPr indent="0" marL="0">
                        <a:buNone/>
                      </a:pPr>
                      <a:r>
                        <a:rPr lang="en-US" sz="850" b="1" dirty="0">
                          <a:solidFill>
                            <a:srgbClr val="043370"/>
                          </a:solidFill>
                          <a:latin typeface="Segoe UI" pitchFamily="34" charset="0"/>
                          <a:ea typeface="Segoe UI" pitchFamily="34" charset="-122"/>
                          <a:cs typeface="Segoe UI" pitchFamily="34" charset="-120"/>
                        </a:rPr>
                        <a:t>Knowledge__kav (Knowledge)</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Direct deposit and eligibility FAQs for the agents</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r>
            </a:tbl>
          </a:graphicData>
        </a:graphic>
      </p:graphicFrame>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5806440" y="987552"/>
          <a:ext cx="2880360" cy="914400"/>
        </p:xfrm>
        <a:graphic>
          <a:graphicData uri="http://schemas.openxmlformats.org/drawingml/2006/table">
            <a:tbl>
              <a:tblPr/>
              <a:tblGrid>
                <a:gridCol w="1188720"/>
                <a:gridCol w="1691640"/>
              </a:tblGrid>
              <a:tr h="219456">
                <a:tc>
                  <a:txBody>
                    <a:bodyPr/>
                    <a:lstStyle/>
                    <a:p>
                      <a:pPr indent="0" marL="0">
                        <a:buNone/>
                      </a:pPr>
                      <a:r>
                        <a:rPr lang="en-US" sz="850" b="1" dirty="0">
                          <a:solidFill>
                            <a:srgbClr val="FFFFFF"/>
                          </a:solidFill>
                          <a:latin typeface="Segoe UI" pitchFamily="34" charset="0"/>
                          <a:ea typeface="Segoe UI" pitchFamily="34" charset="-122"/>
                          <a:cs typeface="Segoe UI" pitchFamily="34" charset="-120"/>
                        </a:rPr>
                        <a:t>Custom object / field</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A64F00"/>
                    </a:solidFill>
                  </a:tcPr>
                </a:tc>
                <a:tc>
                  <a:txBody>
                    <a:bodyPr/>
                    <a:lstStyle/>
                    <a:p>
                      <a:pPr indent="0" marL="0">
                        <a:buNone/>
                      </a:pPr>
                      <a:r>
                        <a:rPr lang="en-US" sz="850" b="1" dirty="0">
                          <a:solidFill>
                            <a:srgbClr val="FFFFFF"/>
                          </a:solidFill>
                          <a:latin typeface="Segoe UI" pitchFamily="34" charset="0"/>
                          <a:ea typeface="Segoe UI" pitchFamily="34" charset="-122"/>
                          <a:cs typeface="Segoe UI" pitchFamily="34" charset="-120"/>
                        </a:rPr>
                        <a:t>Role in the journey</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A64F00"/>
                    </a:solidFill>
                  </a:tcPr>
                </a:tc>
              </a:tr>
              <a:tr h="219456">
                <a:tc>
                  <a:txBody>
                    <a:bodyPr/>
                    <a:lstStyle/>
                    <a:p>
                      <a:pPr indent="0" marL="0">
                        <a:buNone/>
                      </a:pPr>
                      <a:r>
                        <a:rPr lang="en-US" sz="850" b="1" dirty="0">
                          <a:solidFill>
                            <a:srgbClr val="043370"/>
                          </a:solidFill>
                          <a:latin typeface="Segoe UI" pitchFamily="34" charset="0"/>
                          <a:ea typeface="Segoe UI" pitchFamily="34" charset="-122"/>
                          <a:cs typeface="Segoe UI" pitchFamily="34" charset="-120"/>
                        </a:rPr>
                        <a:t>ApplicantForm__c</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Member onboarding record: KYC, onboarding token, debit card, direct deposit and digital banking status</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r>
              <a:tr h="219456">
                <a:tc>
                  <a:txBody>
                    <a:bodyPr/>
                    <a:lstStyle/>
                    <a:p>
                      <a:pPr indent="0" marL="0">
                        <a:buNone/>
                      </a:pPr>
                      <a:r>
                        <a:rPr lang="en-US" sz="850" b="1" dirty="0">
                          <a:solidFill>
                            <a:srgbClr val="043370"/>
                          </a:solidFill>
                          <a:latin typeface="Segoe UI" pitchFamily="34" charset="0"/>
                          <a:ea typeface="Segoe UI" pitchFamily="34" charset="-122"/>
                          <a:cs typeface="Segoe UI" pitchFamily="34" charset="-120"/>
                        </a:rPr>
                        <a:t>Application__c</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DF0E3"/>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Product application (bank card or consumer onboarding)</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DF0E3"/>
                    </a:solidFill>
                  </a:tcPr>
                </a:tc>
              </a:tr>
              <a:tr h="219456">
                <a:tc>
                  <a:txBody>
                    <a:bodyPr/>
                    <a:lstStyle/>
                    <a:p>
                      <a:pPr indent="0" marL="0">
                        <a:buNone/>
                      </a:pPr>
                      <a:r>
                        <a:rPr lang="en-US" sz="850" b="1" dirty="0">
                          <a:solidFill>
                            <a:srgbClr val="043370"/>
                          </a:solidFill>
                          <a:latin typeface="Segoe UI" pitchFamily="34" charset="0"/>
                          <a:ea typeface="Segoe UI" pitchFamily="34" charset="-122"/>
                          <a:cs typeface="Segoe UI" pitchFamily="34" charset="-120"/>
                        </a:rPr>
                        <a:t>Case.Application__c</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c>
                  <a:txBody>
                    <a:bodyPr/>
                    <a:lstStyle/>
                    <a:p>
                      <a:pPr indent="0" marL="0">
                        <a:buNone/>
                      </a:pPr>
                      <a:r>
                        <a:rPr lang="en-US" sz="850" dirty="0">
                          <a:solidFill>
                            <a:srgbClr val="14213D"/>
                          </a:solidFill>
                          <a:latin typeface="Segoe UI" pitchFamily="34" charset="0"/>
                          <a:ea typeface="Segoe UI" pitchFamily="34" charset="-122"/>
                          <a:cs typeface="Segoe UI" pitchFamily="34" charset="-120"/>
                        </a:rPr>
                        <a:t>Lookup from the case to the application</a:t>
                      </a:r>
                      <a:endParaRPr lang="en-US" sz="850" dirty="0">
                        <a:latin typeface="Segoe UI" charset="0"/>
                        <a:ea typeface="Segoe UI" charset="0"/>
                        <a:cs typeface="Segoe UI" charset="0"/>
                      </a:endParaRPr>
                    </a:p>
                  </a:txBody>
                  <a:tcPr marL="36576" marR="36576" marT="36576" marB="36576">
                    <a:lnL w="6350" cap="flat" cmpd="sng" algn="ctr">
                      <a:solidFill>
                        <a:srgbClr val="D6DFEB"/>
                      </a:solidFill>
                      <a:prstDash val="solid"/>
                      <a:round/>
                      <a:headEnd type="none" w="med" len="med"/>
                      <a:tailEnd type="none" w="med" len="med"/>
                    </a:lnL>
                    <a:lnR w="6350" cap="flat" cmpd="sng" algn="ctr">
                      <a:solidFill>
                        <a:srgbClr val="D6DFEB"/>
                      </a:solidFill>
                      <a:prstDash val="solid"/>
                      <a:round/>
                      <a:headEnd type="none" w="med" len="med"/>
                      <a:tailEnd type="none" w="med" len="med"/>
                    </a:lnR>
                    <a:lnT w="6350" cap="flat" cmpd="sng" algn="ctr">
                      <a:solidFill>
                        <a:srgbClr val="D6DFEB"/>
                      </a:solidFill>
                      <a:prstDash val="solid"/>
                      <a:round/>
                      <a:headEnd type="none" w="med" len="med"/>
                      <a:tailEnd type="none" w="med" len="med"/>
                    </a:lnT>
                    <a:lnB w="6350" cap="flat" cmpd="sng" algn="ctr">
                      <a:solidFill>
                        <a:srgbClr val="D6DF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57200" y="274320"/>
            <a:ext cx="8229600" cy="219456"/>
          </a:xfrm>
          <a:prstGeom prst="rect">
            <a:avLst/>
          </a:prstGeom>
          <a:noFill/>
          <a:ln/>
        </p:spPr>
        <p:txBody>
          <a:bodyPr wrap="square" lIns="0" tIns="0" rIns="0" bIns="0" rtlCol="0" anchor="t"/>
          <a:lstStyle/>
          <a:p>
            <a:pPr indent="0" marL="0">
              <a:buNone/>
            </a:pPr>
            <a:r>
              <a:rPr lang="en-US" sz="900" b="1" spc="250" kern="0" dirty="0">
                <a:solidFill>
                  <a:srgbClr val="A64F00"/>
                </a:solidFill>
                <a:latin typeface="Segoe UI" pitchFamily="34" charset="0"/>
                <a:ea typeface="Segoe UI" pitchFamily="34" charset="-122"/>
                <a:cs typeface="Segoe UI" pitchFamily="34" charset="-120"/>
              </a:rPr>
              <a:t>APPENDIX · EVERYTHING ELSE THE JOURNEY USES</a:t>
            </a:r>
            <a:endParaRPr lang="en-US" sz="900" dirty="0"/>
          </a:p>
        </p:txBody>
      </p:sp>
      <p:sp>
        <p:nvSpPr>
          <p:cNvPr id="3" name="Text 1"/>
          <p:cNvSpPr txBox="1"/>
          <p:nvPr/>
        </p:nvSpPr>
        <p:spPr>
          <a:xfrm>
            <a:off x="457200" y="502920"/>
            <a:ext cx="8229600" cy="411480"/>
          </a:xfrm>
          <a:prstGeom prst="rect">
            <a:avLst/>
          </a:prstGeom>
          <a:noFill/>
          <a:ln/>
        </p:spPr>
        <p:txBody>
          <a:bodyPr wrap="square" lIns="0" tIns="0" rIns="0" bIns="0" rtlCol="0" anchor="t">
            <a:normAutofit/>
          </a:bodyPr>
          <a:lstStyle/>
          <a:p>
            <a:pPr indent="0" marL="0">
              <a:buNone/>
            </a:pPr>
            <a:r>
              <a:rPr lang="en-US" sz="2000" dirty="0">
                <a:solidFill>
                  <a:srgbClr val="043370"/>
                </a:solidFill>
                <a:latin typeface="Segoe UI Semibold" pitchFamily="34" charset="0"/>
                <a:ea typeface="Segoe UI Semibold" pitchFamily="34" charset="-122"/>
                <a:cs typeface="Segoe UI Semibold" pitchFamily="34" charset="-120"/>
              </a:rPr>
              <a:t>Appendix C · Automation, agents and access</a:t>
            </a:r>
            <a:endParaRPr lang="en-US" sz="2000" dirty="0"/>
          </a:p>
        </p:txBody>
      </p:sp>
      <p:sp>
        <p:nvSpPr>
          <p:cNvPr id="4" name="Apex card"/>
          <p:cNvSpPr/>
          <p:nvPr/>
        </p:nvSpPr>
        <p:spPr>
          <a:xfrm>
            <a:off x="457200" y="1005840"/>
            <a:ext cx="4023360" cy="1691640"/>
          </a:xfrm>
          <a:prstGeom prst="roundRect">
            <a:avLst>
              <a:gd name="adj" fmla="val 6486"/>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5" name="Apex accent"/>
          <p:cNvSpPr/>
          <p:nvPr/>
        </p:nvSpPr>
        <p:spPr>
          <a:xfrm>
            <a:off x="457200" y="1005840"/>
            <a:ext cx="4023360" cy="54864"/>
          </a:xfrm>
          <a:prstGeom prst="rect">
            <a:avLst/>
          </a:prstGeom>
          <a:solidFill>
            <a:srgbClr val="ED780F"/>
          </a:solidFill>
          <a:ln w="12700">
            <a:solidFill>
              <a:srgbClr val="ED780F"/>
            </a:solidFill>
            <a:prstDash val="solid"/>
          </a:ln>
        </p:spPr>
      </p:sp>
      <p:sp>
        <p:nvSpPr>
          <p:cNvPr id="6" name="Text 4"/>
          <p:cNvSpPr txBox="1"/>
          <p:nvPr/>
        </p:nvSpPr>
        <p:spPr>
          <a:xfrm>
            <a:off x="640080" y="1143000"/>
            <a:ext cx="3657600" cy="201168"/>
          </a:xfrm>
          <a:prstGeom prst="rect">
            <a:avLst/>
          </a:prstGeom>
          <a:noFill/>
          <a:ln/>
        </p:spPr>
        <p:txBody>
          <a:bodyPr wrap="square" lIns="0" tIns="0" rIns="0" bIns="0" rtlCol="0" anchor="t"/>
          <a:lstStyle/>
          <a:p>
            <a:pPr indent="0" marL="0">
              <a:buNone/>
            </a:pPr>
            <a:r>
              <a:rPr lang="en-US" sz="850" b="1" spc="200" kern="0" dirty="0">
                <a:solidFill>
                  <a:srgbClr val="A64F00"/>
                </a:solidFill>
                <a:latin typeface="Segoe UI" pitchFamily="34" charset="0"/>
                <a:ea typeface="Segoe UI" pitchFamily="34" charset="-122"/>
                <a:cs typeface="Segoe UI" pitchFamily="34" charset="-120"/>
              </a:rPr>
              <a:t>APEX</a:t>
            </a:r>
            <a:endParaRPr lang="en-US" sz="850" dirty="0"/>
          </a:p>
        </p:txBody>
      </p:sp>
      <p:sp>
        <p:nvSpPr>
          <p:cNvPr id="7" name="Text 5"/>
          <p:cNvSpPr txBox="1"/>
          <p:nvPr/>
        </p:nvSpPr>
        <p:spPr>
          <a:xfrm>
            <a:off x="640080" y="1389888"/>
            <a:ext cx="3703320" cy="1261872"/>
          </a:xfrm>
          <a:prstGeom prst="rect">
            <a:avLst/>
          </a:prstGeom>
          <a:noFill/>
          <a:ln/>
        </p:spPr>
        <p:txBody>
          <a:bodyPr wrap="square" lIns="0" tIns="0" rIns="0" bIns="0" rtlCol="0" anchor="t"/>
          <a:lstStyle/>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NfcuJoinApplyController · join and apply</a:t>
            </a:r>
            <a:endParaRPr lang="en-US" sz="950" dirty="0"/>
          </a:p>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NfcuDepositOpeningController · KYC, open and fund</a:t>
            </a:r>
            <a:endParaRPr lang="en-US" sz="950" dirty="0"/>
          </a:p>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NfcuOnboardingController · first 30 days</a:t>
            </a:r>
            <a:endParaRPr lang="en-US" sz="950" dirty="0"/>
          </a:p>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NfcuWelcomeEmail · welcome email</a:t>
            </a:r>
            <a:endParaRPr lang="en-US" sz="950" dirty="0"/>
          </a:p>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NfcuActivateDebitCard · agent action (not attached)</a:t>
            </a:r>
            <a:endParaRPr lang="en-US" sz="950" dirty="0"/>
          </a:p>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CardApplicationFileService · ID and eligibility files</a:t>
            </a:r>
            <a:endParaRPr lang="en-US" sz="950" dirty="0"/>
          </a:p>
        </p:txBody>
      </p:sp>
      <p:sp>
        <p:nvSpPr>
          <p:cNvPr id="8" name="Flows and actions card"/>
          <p:cNvSpPr/>
          <p:nvPr/>
        </p:nvSpPr>
        <p:spPr>
          <a:xfrm>
            <a:off x="4663440" y="1005840"/>
            <a:ext cx="4023360" cy="1691640"/>
          </a:xfrm>
          <a:prstGeom prst="roundRect">
            <a:avLst>
              <a:gd name="adj" fmla="val 6486"/>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9" name="Flows and actions accent"/>
          <p:cNvSpPr/>
          <p:nvPr/>
        </p:nvSpPr>
        <p:spPr>
          <a:xfrm>
            <a:off x="4663440" y="1005840"/>
            <a:ext cx="4023360" cy="54864"/>
          </a:xfrm>
          <a:prstGeom prst="rect">
            <a:avLst/>
          </a:prstGeom>
          <a:solidFill>
            <a:srgbClr val="ED780F"/>
          </a:solidFill>
          <a:ln w="12700">
            <a:solidFill>
              <a:srgbClr val="ED780F"/>
            </a:solidFill>
            <a:prstDash val="solid"/>
          </a:ln>
        </p:spPr>
      </p:sp>
      <p:sp>
        <p:nvSpPr>
          <p:cNvPr id="10" name="Text 8"/>
          <p:cNvSpPr txBox="1"/>
          <p:nvPr/>
        </p:nvSpPr>
        <p:spPr>
          <a:xfrm>
            <a:off x="4846320" y="1143000"/>
            <a:ext cx="3657600" cy="201168"/>
          </a:xfrm>
          <a:prstGeom prst="rect">
            <a:avLst/>
          </a:prstGeom>
          <a:noFill/>
          <a:ln/>
        </p:spPr>
        <p:txBody>
          <a:bodyPr wrap="square" lIns="0" tIns="0" rIns="0" bIns="0" rtlCol="0" anchor="t"/>
          <a:lstStyle/>
          <a:p>
            <a:pPr indent="0" marL="0">
              <a:buNone/>
            </a:pPr>
            <a:r>
              <a:rPr lang="en-US" sz="850" b="1" spc="200" kern="0" dirty="0">
                <a:solidFill>
                  <a:srgbClr val="A64F00"/>
                </a:solidFill>
                <a:latin typeface="Segoe UI" pitchFamily="34" charset="0"/>
                <a:ea typeface="Segoe UI" pitchFamily="34" charset="-122"/>
                <a:cs typeface="Segoe UI" pitchFamily="34" charset="-120"/>
              </a:rPr>
              <a:t>FLOWS AND ACTIONS</a:t>
            </a:r>
            <a:endParaRPr lang="en-US" sz="850" dirty="0"/>
          </a:p>
        </p:txBody>
      </p:sp>
      <p:sp>
        <p:nvSpPr>
          <p:cNvPr id="11" name="Text 9"/>
          <p:cNvSpPr txBox="1"/>
          <p:nvPr/>
        </p:nvSpPr>
        <p:spPr>
          <a:xfrm>
            <a:off x="4846320" y="1389888"/>
            <a:ext cx="3703320" cy="1261872"/>
          </a:xfrm>
          <a:prstGeom prst="rect">
            <a:avLst/>
          </a:prstGeom>
          <a:noFill/>
          <a:ln/>
        </p:spPr>
        <p:txBody>
          <a:bodyPr wrap="square" lIns="0" tIns="0" rIns="0" bIns="0" rtlCol="0" anchor="t"/>
          <a:lstStyle/>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NFCU_Open_Deposit_Accounts flow</a:t>
            </a:r>
            <a:endParaRPr lang="en-US" sz="950" dirty="0"/>
          </a:p>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Case.Open_Deposit_Accounts quick action</a:t>
            </a:r>
            <a:endParaRPr lang="en-US" sz="950" dirty="0"/>
          </a:p>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Card_Application_Actions (Action Launcher)</a:t>
            </a:r>
            <a:endParaRPr lang="en-US" sz="950" dirty="0"/>
          </a:p>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MSR_Identity_Verification and CC_QA_* flows</a:t>
            </a:r>
            <a:endParaRPr lang="en-US" sz="950" dirty="0"/>
          </a:p>
        </p:txBody>
      </p:sp>
      <p:sp>
        <p:nvSpPr>
          <p:cNvPr id="12" name="Agentforce and knowledge card"/>
          <p:cNvSpPr/>
          <p:nvPr/>
        </p:nvSpPr>
        <p:spPr>
          <a:xfrm>
            <a:off x="457200" y="2834640"/>
            <a:ext cx="4023360" cy="1691640"/>
          </a:xfrm>
          <a:prstGeom prst="roundRect">
            <a:avLst>
              <a:gd name="adj" fmla="val 6486"/>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13" name="Agentforce and knowledge accent"/>
          <p:cNvSpPr/>
          <p:nvPr/>
        </p:nvSpPr>
        <p:spPr>
          <a:xfrm>
            <a:off x="457200" y="2834640"/>
            <a:ext cx="4023360" cy="54864"/>
          </a:xfrm>
          <a:prstGeom prst="rect">
            <a:avLst/>
          </a:prstGeom>
          <a:solidFill>
            <a:srgbClr val="ED780F"/>
          </a:solidFill>
          <a:ln w="12700">
            <a:solidFill>
              <a:srgbClr val="ED780F"/>
            </a:solidFill>
            <a:prstDash val="solid"/>
          </a:ln>
        </p:spPr>
      </p:sp>
      <p:sp>
        <p:nvSpPr>
          <p:cNvPr id="14" name="Text 12"/>
          <p:cNvSpPr txBox="1"/>
          <p:nvPr/>
        </p:nvSpPr>
        <p:spPr>
          <a:xfrm>
            <a:off x="640080" y="2971800"/>
            <a:ext cx="3657600" cy="201168"/>
          </a:xfrm>
          <a:prstGeom prst="rect">
            <a:avLst/>
          </a:prstGeom>
          <a:noFill/>
          <a:ln/>
        </p:spPr>
        <p:txBody>
          <a:bodyPr wrap="square" lIns="0" tIns="0" rIns="0" bIns="0" rtlCol="0" anchor="t"/>
          <a:lstStyle/>
          <a:p>
            <a:pPr indent="0" marL="0">
              <a:buNone/>
            </a:pPr>
            <a:r>
              <a:rPr lang="en-US" sz="850" b="1" spc="200" kern="0" dirty="0">
                <a:solidFill>
                  <a:srgbClr val="A64F00"/>
                </a:solidFill>
                <a:latin typeface="Segoe UI" pitchFamily="34" charset="0"/>
                <a:ea typeface="Segoe UI" pitchFamily="34" charset="-122"/>
                <a:cs typeface="Segoe UI" pitchFamily="34" charset="-120"/>
              </a:rPr>
              <a:t>AGENTFORCE AND KNOWLEDGE</a:t>
            </a:r>
            <a:endParaRPr lang="en-US" sz="850" dirty="0"/>
          </a:p>
        </p:txBody>
      </p:sp>
      <p:sp>
        <p:nvSpPr>
          <p:cNvPr id="15" name="Text 13"/>
          <p:cNvSpPr txBox="1"/>
          <p:nvPr/>
        </p:nvSpPr>
        <p:spPr>
          <a:xfrm>
            <a:off x="640080" y="3218688"/>
            <a:ext cx="3703320" cy="1261872"/>
          </a:xfrm>
          <a:prstGeom prst="rect">
            <a:avLst/>
          </a:prstGeom>
          <a:noFill/>
          <a:ln/>
        </p:spPr>
        <p:txBody>
          <a:bodyPr wrap="square" lIns="0" tIns="0" rIns="0" bIns="0" rtlCol="0" anchor="t"/>
          <a:lstStyle/>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Service Rep Assistant topic NFCU_Member_Onboarding</a:t>
            </a:r>
            <a:endParaRPr lang="en-US" sz="950" dirty="0"/>
          </a:p>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NFCU Member Portal Agent (Ask Me Anything)</a:t>
            </a:r>
            <a:endParaRPr lang="en-US" sz="950" dirty="0"/>
          </a:p>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KB: How Do I Switch My Direct Deposit to Navy Federal?</a:t>
            </a:r>
            <a:endParaRPr lang="en-US" sz="950" dirty="0"/>
          </a:p>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KB: Who Is Eligible to Join Navy Federal?</a:t>
            </a:r>
            <a:endParaRPr lang="en-US" sz="950" dirty="0"/>
          </a:p>
        </p:txBody>
      </p:sp>
      <p:sp>
        <p:nvSpPr>
          <p:cNvPr id="16" name="Access and email card"/>
          <p:cNvSpPr/>
          <p:nvPr/>
        </p:nvSpPr>
        <p:spPr>
          <a:xfrm>
            <a:off x="4663440" y="2834640"/>
            <a:ext cx="4023360" cy="1691640"/>
          </a:xfrm>
          <a:prstGeom prst="roundRect">
            <a:avLst>
              <a:gd name="adj" fmla="val 6486"/>
            </a:avLst>
          </a:prstGeom>
          <a:solidFill>
            <a:srgbClr val="FFFFFF"/>
          </a:solidFill>
          <a:ln w="9525">
            <a:solidFill>
              <a:srgbClr val="D6DFEB"/>
            </a:solidFill>
            <a:prstDash val="solid"/>
          </a:ln>
          <a:effectLst>
            <a:outerShdw sx="100000" sy="100000" kx="0" ky="0" algn="bl" rotWithShape="0" blurRad="101600" dist="25400" dir="5400000">
              <a:srgbClr val="0B2347">
                <a:alpha val="12000"/>
              </a:srgbClr>
            </a:outerShdw>
          </a:effectLst>
        </p:spPr>
      </p:sp>
      <p:sp>
        <p:nvSpPr>
          <p:cNvPr id="17" name="Access and email accent"/>
          <p:cNvSpPr/>
          <p:nvPr/>
        </p:nvSpPr>
        <p:spPr>
          <a:xfrm>
            <a:off x="4663440" y="2834640"/>
            <a:ext cx="4023360" cy="54864"/>
          </a:xfrm>
          <a:prstGeom prst="rect">
            <a:avLst/>
          </a:prstGeom>
          <a:solidFill>
            <a:srgbClr val="ED780F"/>
          </a:solidFill>
          <a:ln w="12700">
            <a:solidFill>
              <a:srgbClr val="ED780F"/>
            </a:solidFill>
            <a:prstDash val="solid"/>
          </a:ln>
        </p:spPr>
      </p:sp>
      <p:sp>
        <p:nvSpPr>
          <p:cNvPr id="18" name="Text 16"/>
          <p:cNvSpPr txBox="1"/>
          <p:nvPr/>
        </p:nvSpPr>
        <p:spPr>
          <a:xfrm>
            <a:off x="4846320" y="2971800"/>
            <a:ext cx="3657600" cy="201168"/>
          </a:xfrm>
          <a:prstGeom prst="rect">
            <a:avLst/>
          </a:prstGeom>
          <a:noFill/>
          <a:ln/>
        </p:spPr>
        <p:txBody>
          <a:bodyPr wrap="square" lIns="0" tIns="0" rIns="0" bIns="0" rtlCol="0" anchor="t"/>
          <a:lstStyle/>
          <a:p>
            <a:pPr indent="0" marL="0">
              <a:buNone/>
            </a:pPr>
            <a:r>
              <a:rPr lang="en-US" sz="850" b="1" spc="200" kern="0" dirty="0">
                <a:solidFill>
                  <a:srgbClr val="A64F00"/>
                </a:solidFill>
                <a:latin typeface="Segoe UI" pitchFamily="34" charset="0"/>
                <a:ea typeface="Segoe UI" pitchFamily="34" charset="-122"/>
                <a:cs typeface="Segoe UI" pitchFamily="34" charset="-120"/>
              </a:rPr>
              <a:t>ACCESS AND EMAIL</a:t>
            </a:r>
            <a:endParaRPr lang="en-US" sz="850" dirty="0"/>
          </a:p>
        </p:txBody>
      </p:sp>
      <p:sp>
        <p:nvSpPr>
          <p:cNvPr id="19" name="Text 17"/>
          <p:cNvSpPr txBox="1"/>
          <p:nvPr/>
        </p:nvSpPr>
        <p:spPr>
          <a:xfrm>
            <a:off x="4846320" y="3218688"/>
            <a:ext cx="3703320" cy="1261872"/>
          </a:xfrm>
          <a:prstGeom prst="rect">
            <a:avLst/>
          </a:prstGeom>
          <a:noFill/>
          <a:ln/>
        </p:spPr>
        <p:txBody>
          <a:bodyPr wrap="square" lIns="0" tIns="0" rIns="0" bIns="0" rtlCol="0" anchor="t"/>
          <a:lstStyle/>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NFCU_Join_Apply_Guest (site guest user)</a:t>
            </a:r>
            <a:endParaRPr lang="en-US" sz="950" dirty="0"/>
          </a:p>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SDO_Community_Consumer_Community_Access (members)</a:t>
            </a:r>
            <a:endParaRPr lang="en-US" sz="950" dirty="0"/>
          </a:p>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NFCU_Onboarding_Fields (bankers)</a:t>
            </a:r>
            <a:endParaRPr lang="en-US" sz="950" dirty="0"/>
          </a:p>
          <a:p>
            <a:pPr marL="127000" indent="-127000">
              <a:spcAft>
                <a:spcPts val="200"/>
              </a:spcAft>
              <a:buSzPct val="100000"/>
              <a:buChar char="•"/>
            </a:pPr>
            <a:r>
              <a:rPr lang="en-US" sz="950" dirty="0">
                <a:solidFill>
                  <a:srgbClr val="14213D"/>
                </a:solidFill>
                <a:latin typeface="Segoe UI" pitchFamily="34" charset="0"/>
                <a:ea typeface="Segoe UI" pitchFamily="34" charset="-122"/>
                <a:cs typeface="Segoe UI" pitchFamily="34" charset="-120"/>
              </a:rPr>
              <a:t>Welcome email always to c.service.sfdemo25@gmail.com</a:t>
            </a:r>
            <a:endParaRPr lang="en-US" sz="95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A6577"/>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Navy Federal new member journey</dc:title>
  <dc:subject>PptxGenJS Presentation</dc:subject>
  <dc:creator>Chris McCarthy</dc:creator>
  <cp:lastModifiedBy>Chris McCarthy</cp:lastModifiedBy>
  <cp:revision>1</cp:revision>
  <dcterms:created xsi:type="dcterms:W3CDTF">2026-10-07T18:29:02Z</dcterms:created>
  <dcterms:modified xsi:type="dcterms:W3CDTF">2026-10-07T18:29:02Z</dcterms:modified>
</cp:coreProperties>
</file>