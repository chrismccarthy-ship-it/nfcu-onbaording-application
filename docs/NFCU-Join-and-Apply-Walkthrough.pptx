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965e0a6-1e5e-aeac-4c07-0dec5d322db6}">
          <p14:sldIdLst>
            <p14:sldId id="256"/>
          </p14:sldIdLst>
        </p14:section>
        <p14:section name="The member" id="{d5506ba0-f16d-734a-6ece-b03fa01f40f4}">
          <p14:sldIdLst>
            <p14:sldId id="257"/>
            <p14:sldId id="258"/>
            <p14:sldId id="259"/>
          </p14:sldIdLst>
        </p14:section>
        <p14:section name="The application" id="{6f1de52d-c0d6-0ffa-54e4-b921ff79de47}">
          <p14:sldIdLst>
            <p14:sldId id="260"/>
            <p14:sldId id="261"/>
            <p14:sldId id="262"/>
            <p14:sldId id="263"/>
            <p14:sldId id="264"/>
            <p14:sldId id="265"/>
            <p14:sldId id="266"/>
            <p14:sldId id="267"/>
          </p14:sldIdLst>
        </p14:section>
        <p14:section name="Why it matters" id="{1dbcc14d-a641-75d4-5e5f-d98df6f370e4}">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want to show you a member relationship that started from nothing. Ethan Carter has never banked with Navy Federal. In one online application he joined, opened his first accounts, and handed the contact center everything it needs to finish the job.
I'll start where your team would see him first, his member record, and then go back and show how he got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Ethan's Person Account, the single record Navy Federal keeps for him as a member. Nobody keyed this in. It was created the moment he submitted his application online.
Notice the intelligence brief already knows about him: one open case, his new member application. Your rep doesn't have to go looking for what's happening with this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that record is the moment Ethan stopped being a prospect. When he submitted, Salesforce captured him as a Lead, from the website, and immediately converted that Lead into a Person Account and Contact.
That matters for Navy Federal because your prospect data and your member data are the same data. Marketing can see where new members came from, and service sees a real member from the first minute, with no re-keying and no duplicate records.
In the same transaction the system created his membership onboarding record, his product application, the case for your contact center, and attached his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case. It's routed like any other case, and it arrives complete: who Ethan is, how he's eligible, what he applied for, and his ID and proof of eligibility already attached.
On the right, the rep's guided actions are numbered one to four: review the application, complete it, verify identity, and email anything that's missing. The Service Rep Assistant is set up with a Navy Federal Member Onboarding topic, so its plan follows the same five steps: confirm eligibility, gather what's needed, submit, verify identity, then activate the account.
So the question for your team becomes, how fast can we verify and open this account, not, who is this person and what did they send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go back to the beginning and see what Ethan saw on Navy Federal's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Ethan lands on one page: join Navy Federal and apply in one step. The progress ring and the five steps tell him exactly how long this will take.
We start with eligibility, because that's the first question a credit union has to answer. He sees every way to qualify, and if he picks none of these, we stop and offer help instead of collecting data we can't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Ethan isn't military himself. He qualifies as a household member of Lauren Bailey, an existing member and his fiancée. He names her, picks the relationship, and gets an immediate answer: you're eligible to join.
For Navy Federal, this is how existing members bring their households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basics: name, contact details, date of birth, address and citizenship. His Social Security number is masked as he types and stored encrypted.
He enters this once. The same details become his member record and his product application, so nobody asks him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documents. He uploads a photo of his driver's license and proof that he lives in the same household.
Those files go straight onto the case. When your rep opens Verify Identity, the ID and proof are already there, side by side. No email back and forth, no "can you send that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heart of it. Every member opens a Membership Savings Account with five dollars, and that's included automatically.
In the same flow, Ethan adds the product he actually came for. He picks checking with a $250 opening deposit, transferred from his current bank. If he'd picked a credit card, we'd ask for income and housing right here.
That's the difference between joining and then applying, and joining by applying.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he submits, Ethan sees everything on one screen, can edit any section, and certifies that it's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he's in. Welcome to Navy Federal, Ethan. He gets his reference numbers and a plain explanation of what happens next: identity verification, review, account opening, then digital banking.
Those numbers are the same case and application we opened at the start. One submission, and the member, the application, the onboarding record, the documents and the case all exist and are linked.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mean for Navy Federal? First, one application instead of two, which means fewer people abandon between joining and applying.
Second, prospects become members automatically, so you have one record per person from the first click. Third, work arrives at the contact center ready, with a guided plan, so reps spend their time verifying and opening accounts, not chasing information.
Fourth, identity verification is faster because the evidence is already there. Fifth, every member becomes a path for their household to join. And it's secure by design: sensitive data is masked and encrypted, and everything is checked on the server.
That's a brand-new relationship, prospect to member to product, in one integrated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097280"/>
          </a:xfrm>
          <a:prstGeom prst="rect">
            <a:avLst/>
          </a:prstGeom>
          <a:noFill/>
          <a:ln/>
        </p:spPr>
        <p:txBody>
          <a:bodyPr wrap="square" rtlCol="0"/>
          <a:lstStyle>
            <a:lvl1pPr indent="0" marL="0">
              <a:buNone/>
              <a:defRPr lang="en-US" sz="3800" b="1" dirty="0">
                <a:solidFill>
                  <a:schemeClr val="bg1"/>
                </a:solidFill>
                <a:latin typeface="Cambria" pitchFamily="34" charset="0"/>
                <a:ea typeface="Cambria" pitchFamily="34" charset="-122"/>
                <a:cs typeface="Cambria" pitchFamily="34" charset="-120"/>
              </a:defRPr>
            </a:lvl1pPr>
          </a:lstStyle>
          <a:p>
            <a:pPr indent="0" marL="0">
              <a:buNone/>
            </a:pPr>
            <a:endParaRPr lang="en-US" sz="3800" dirty="0"/>
          </a:p>
        </p:txBody>
      </p:sp>
      <p:sp>
        <p:nvSpPr>
          <p:cNvPr id="3" name="Text 0"/>
          <p:cNvSpPr/>
          <p:nvPr>
            <p:ph idx="101" type="body" hasCustomPrompt="1"/>
          </p:nvPr>
        </p:nvSpPr>
        <p:spPr>
          <a:xfrm>
            <a:off x="548640" y="2697480"/>
            <a:ext cx="8046720" cy="731520"/>
          </a:xfrm>
          <a:prstGeom prst="rect">
            <a:avLst/>
          </a:prstGeom>
          <a:noFill/>
          <a:ln/>
        </p:spPr>
        <p:txBody>
          <a:bodyPr wrap="square" rtlCol="0"/>
          <a:lstStyle>
            <a:lvl1pPr indent="0" marL="0">
              <a:buNone/>
              <a:defRPr lang="en-US" sz="1800" dirty="0">
                <a:solidFill>
                  <a:schemeClr val="accent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HO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617720" y="685800"/>
            <a:ext cx="4069080" cy="1005840"/>
          </a:xfrm>
          <a:prstGeom prst="rect">
            <a:avLst/>
          </a:prstGeom>
          <a:noFill/>
          <a:ln/>
        </p:spPr>
        <p:txBody>
          <a:bodyPr wrap="square" rtlCol="0"/>
          <a:lstStyle>
            <a:lvl1pPr indent="0" marL="0">
              <a:buNone/>
              <a:defRPr lang="en-US" sz="2400" b="1" dirty="0">
                <a:solidFill>
                  <a:schemeClr val="tx2"/>
                </a:solidFill>
                <a:latin typeface="Cambria" pitchFamily="34" charset="0"/>
                <a:ea typeface="Cambria" pitchFamily="34" charset="-122"/>
                <a:cs typeface="Cambria" pitchFamily="34" charset="-120"/>
              </a:defRPr>
            </a:lvl1pPr>
          </a:lstStyle>
          <a:p>
            <a:pPr indent="0" marL="0">
              <a:buNone/>
            </a:pPr>
            <a:endParaRPr lang="en-US" sz="2400" dirty="0"/>
          </a:p>
        </p:txBody>
      </p:sp>
      <p:sp>
        <p:nvSpPr>
          <p:cNvPr id="3"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chemeClr val="accent4"/>
                </a:solidFill>
              </a:rPr>
              <a:t>Navy Federal · Join and apply</a:t>
            </a:r>
            <a:endParaRPr lang="en-US" sz="9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chemeClr val="accent4"/>
                </a:solidFill>
              </a:rPr>
              <a:t>Navy Federal · Join and apply</a:t>
            </a:r>
            <a:endParaRPr lang="en-US" sz="9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097280"/>
          </a:xfrm>
          <a:prstGeom prst="rect">
            <a:avLst/>
          </a:prstGeom>
          <a:noFill/>
          <a:ln/>
        </p:spPr>
        <p:txBody>
          <a:bodyPr wrap="square" lIns="0" tIns="0" rIns="0" bIns="0" rtlCol="0" anchor="b"/>
          <a:lstStyle/>
          <a:p>
            <a:pPr indent="0" marL="0">
              <a:buNone/>
            </a:pPr>
            <a:r>
              <a:rPr lang="en-US" sz="3800" b="1" dirty="0">
                <a:solidFill>
                  <a:schemeClr val="bg1"/>
                </a:solidFill>
                <a:latin typeface="Cambria" pitchFamily="34" charset="0"/>
                <a:ea typeface="Cambria" pitchFamily="34" charset="-122"/>
                <a:cs typeface="Cambria" pitchFamily="34" charset="-120"/>
              </a:rPr>
              <a:t>From prospect to member in one application</a:t>
            </a:r>
            <a:endParaRPr lang="en-US" sz="3800" dirty="0"/>
          </a:p>
        </p:txBody>
      </p:sp>
      <p:sp>
        <p:nvSpPr>
          <p:cNvPr id="3" name="Text 0"/>
          <p:cNvSpPr/>
          <p:nvPr>
            <p:ph idx="101" type="body" hasCustomPrompt="1"/>
          </p:nvPr>
        </p:nvSpPr>
        <p:spPr>
          <a:xfrm>
            <a:off x="548640" y="2697480"/>
            <a:ext cx="8046720" cy="731520"/>
          </a:xfrm>
          <a:prstGeom prst="rect">
            <a:avLst/>
          </a:prstGeom>
          <a:noFill/>
          <a:ln/>
        </p:spPr>
        <p:txBody>
          <a:bodyPr wrap="square" lIns="0" tIns="0" rIns="0" bIns="0" rtlCol="0" anchor="t"/>
          <a:lstStyle/>
          <a:p>
            <a:pPr indent="0" marL="0">
              <a:buNone/>
            </a:pPr>
            <a:r>
              <a:rPr lang="en-US" sz="1800" dirty="0">
                <a:solidFill>
                  <a:schemeClr val="accent2"/>
                </a:solidFill>
              </a:rPr>
              <a:t>Navy Federal · Experience Cloud, Service Cloud and Agentforce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creenshot frame"/>
          <p:cNvSpPr/>
          <p:nvPr/>
        </p:nvSpPr>
        <p:spPr>
          <a:xfrm>
            <a:off x="347472" y="274320"/>
            <a:ext cx="4558981" cy="4379976"/>
          </a:xfrm>
          <a:prstGeom prst="roundRect">
            <a:avLst>
              <a:gd name="adj" fmla="val 2088"/>
            </a:avLst>
          </a:prstGeom>
          <a:solidFill>
            <a:schemeClr val="bg2"/>
          </a:solidFill>
          <a:ln w="12700">
            <a:solidFill>
              <a:schemeClr val="accent5"/>
            </a:solidFill>
            <a:prstDash val="solid"/>
          </a:ln>
        </p:spPr>
      </p:sp>
      <p:pic>
        <p:nvPicPr>
          <p:cNvPr id="3" name="Screenshot 01-person-account.jpg" descr="Person Account for Ethan Carter">    </p:cNvPr>
          <p:cNvPicPr>
            <a:picLocks noChangeAspect="1"/>
          </p:cNvPicPr>
          <p:nvPr/>
        </p:nvPicPr>
        <p:blipFill>
          <a:blip r:embed="rId1"/>
          <a:stretch>
            <a:fillRect/>
          </a:stretch>
        </p:blipFill>
        <p:spPr>
          <a:xfrm>
            <a:off x="457200" y="384048"/>
            <a:ext cx="4339525" cy="4160520"/>
          </a:xfrm>
          <a:prstGeom prst="rect">
            <a:avLst/>
          </a:prstGeom>
        </p:spPr>
      </p:pic>
      <p:sp>
        <p:nvSpPr>
          <p:cNvPr id="4" name="Text 1"/>
          <p:cNvSpPr txBox="1"/>
          <p:nvPr/>
        </p:nvSpPr>
        <p:spPr>
          <a:xfrm>
            <a:off x="4617720" y="320040"/>
            <a:ext cx="4069080" cy="274320"/>
          </a:xfrm>
          <a:prstGeom prst="rect">
            <a:avLst/>
          </a:prstGeom>
          <a:noFill/>
          <a:ln/>
        </p:spPr>
        <p:txBody>
          <a:bodyPr wrap="square" lIns="0" tIns="0" rIns="0" bIns="0" rtlCol="0" anchor="ctr"/>
          <a:lstStyle/>
          <a:p>
            <a:pPr indent="0" marL="0">
              <a:buNone/>
            </a:pPr>
            <a:r>
              <a:rPr lang="en-US" sz="1000" b="1" spc="200" kern="0" dirty="0">
                <a:solidFill>
                  <a:schemeClr val="accent6"/>
                </a:solidFill>
              </a:rPr>
              <a:t>PERSON ACCOUNT FOR ETHAN CARTER</a:t>
            </a:r>
            <a:endParaRPr lang="en-US" sz="1000" dirty="0"/>
          </a:p>
        </p:txBody>
      </p:sp>
      <p:sp>
        <p:nvSpPr>
          <p:cNvPr id="5" name="Text 0"/>
          <p:cNvSpPr/>
          <p:nvPr>
            <p:ph idx="100" type="title" hasCustomPrompt="1"/>
          </p:nvPr>
        </p:nvSpPr>
        <p:spPr>
          <a:xfrm>
            <a:off x="4617720" y="685800"/>
            <a:ext cx="4069080" cy="100584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Ethan is a member record, not a web form</a:t>
            </a:r>
            <a:endParaRPr lang="en-US" sz="2400" dirty="0"/>
          </a:p>
        </p:txBody>
      </p:sp>
      <p:sp>
        <p:nvSpPr>
          <p:cNvPr id="6" name="Point 1"/>
          <p:cNvSpPr/>
          <p:nvPr/>
        </p:nvSpPr>
        <p:spPr>
          <a:xfrm>
            <a:off x="4617720" y="1911096"/>
            <a:ext cx="310896" cy="310896"/>
          </a:xfrm>
          <a:prstGeom prst="ellipse">
            <a:avLst/>
          </a:prstGeom>
          <a:solidFill>
            <a:schemeClr val="accent2"/>
          </a:solidFill>
          <a:ln w="12700">
            <a:solidFill>
              <a:schemeClr val="accent2"/>
            </a:solidFill>
            <a:prstDash val="solid"/>
          </a:ln>
        </p:spPr>
      </p:sp>
      <p:sp>
        <p:nvSpPr>
          <p:cNvPr id="7" name="Text 4"/>
          <p:cNvSpPr txBox="1"/>
          <p:nvPr/>
        </p:nvSpPr>
        <p:spPr>
          <a:xfrm>
            <a:off x="4617720" y="191109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5"/>
          <p:cNvSpPr txBox="1"/>
          <p:nvPr/>
        </p:nvSpPr>
        <p:spPr>
          <a:xfrm>
            <a:off x="5074920" y="1874520"/>
            <a:ext cx="3611880" cy="685800"/>
          </a:xfrm>
          <a:prstGeom prst="rect">
            <a:avLst/>
          </a:prstGeom>
          <a:noFill/>
          <a:ln/>
        </p:spPr>
        <p:txBody>
          <a:bodyPr wrap="square" lIns="0" tIns="0" rIns="0" bIns="0" rtlCol="0" anchor="t"/>
          <a:lstStyle/>
          <a:p>
            <a:pPr indent="0" marL="0">
              <a:buNone/>
            </a:pPr>
            <a:r>
              <a:rPr lang="en-US" sz="1500" dirty="0">
                <a:solidFill>
                  <a:schemeClr val="tx1"/>
                </a:solidFill>
              </a:rPr>
              <a:t>Person Account created from his application</a:t>
            </a:r>
            <a:endParaRPr lang="en-US" sz="1500" dirty="0"/>
          </a:p>
        </p:txBody>
      </p:sp>
      <p:sp>
        <p:nvSpPr>
          <p:cNvPr id="9" name="Point 2"/>
          <p:cNvSpPr/>
          <p:nvPr/>
        </p:nvSpPr>
        <p:spPr>
          <a:xfrm>
            <a:off x="4617720" y="2752344"/>
            <a:ext cx="310896" cy="310896"/>
          </a:xfrm>
          <a:prstGeom prst="ellipse">
            <a:avLst/>
          </a:prstGeom>
          <a:solidFill>
            <a:schemeClr val="accent2"/>
          </a:solidFill>
          <a:ln w="12700">
            <a:solidFill>
              <a:schemeClr val="accent2"/>
            </a:solidFill>
            <a:prstDash val="solid"/>
          </a:ln>
        </p:spPr>
      </p:sp>
      <p:sp>
        <p:nvSpPr>
          <p:cNvPr id="10" name="Text 7"/>
          <p:cNvSpPr txBox="1"/>
          <p:nvPr/>
        </p:nvSpPr>
        <p:spPr>
          <a:xfrm>
            <a:off x="4617720" y="275234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8"/>
          <p:cNvSpPr txBox="1"/>
          <p:nvPr/>
        </p:nvSpPr>
        <p:spPr>
          <a:xfrm>
            <a:off x="5074920" y="2715768"/>
            <a:ext cx="3611880" cy="685800"/>
          </a:xfrm>
          <a:prstGeom prst="rect">
            <a:avLst/>
          </a:prstGeom>
          <a:noFill/>
          <a:ln/>
        </p:spPr>
        <p:txBody>
          <a:bodyPr wrap="square" lIns="0" tIns="0" rIns="0" bIns="0" rtlCol="0" anchor="t"/>
          <a:lstStyle/>
          <a:p>
            <a:pPr indent="0" marL="0">
              <a:buNone/>
            </a:pPr>
            <a:r>
              <a:rPr lang="en-US" sz="1500" dirty="0">
                <a:solidFill>
                  <a:schemeClr val="tx1"/>
                </a:solidFill>
              </a:rPr>
              <a:t>Owned by a Navy Federal rep, not a guest user</a:t>
            </a:r>
            <a:endParaRPr lang="en-US" sz="1500" dirty="0"/>
          </a:p>
        </p:txBody>
      </p:sp>
      <p:sp>
        <p:nvSpPr>
          <p:cNvPr id="12" name="Point 3"/>
          <p:cNvSpPr/>
          <p:nvPr/>
        </p:nvSpPr>
        <p:spPr>
          <a:xfrm>
            <a:off x="4617720" y="3593592"/>
            <a:ext cx="310896" cy="310896"/>
          </a:xfrm>
          <a:prstGeom prst="ellipse">
            <a:avLst/>
          </a:prstGeom>
          <a:solidFill>
            <a:schemeClr val="accent2"/>
          </a:solidFill>
          <a:ln w="12700">
            <a:solidFill>
              <a:schemeClr val="accent2"/>
            </a:solidFill>
            <a:prstDash val="solid"/>
          </a:ln>
        </p:spPr>
      </p:sp>
      <p:sp>
        <p:nvSpPr>
          <p:cNvPr id="13" name="Text 10"/>
          <p:cNvSpPr txBox="1"/>
          <p:nvPr/>
        </p:nvSpPr>
        <p:spPr>
          <a:xfrm>
            <a:off x="4617720" y="359359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11"/>
          <p:cNvSpPr txBox="1"/>
          <p:nvPr/>
        </p:nvSpPr>
        <p:spPr>
          <a:xfrm>
            <a:off x="5074920" y="3557016"/>
            <a:ext cx="3611880" cy="685800"/>
          </a:xfrm>
          <a:prstGeom prst="rect">
            <a:avLst/>
          </a:prstGeom>
          <a:noFill/>
          <a:ln/>
        </p:spPr>
        <p:txBody>
          <a:bodyPr wrap="square" lIns="0" tIns="0" rIns="0" bIns="0" rtlCol="0" anchor="t"/>
          <a:lstStyle/>
          <a:p>
            <a:pPr indent="0" marL="0">
              <a:buNone/>
            </a:pPr>
            <a:r>
              <a:rPr lang="en-US" sz="1500" dirty="0">
                <a:solidFill>
                  <a:schemeClr val="tx1"/>
                </a:solidFill>
              </a:rPr>
              <a:t>Intelligence brief already shows his open case</a:t>
            </a:r>
            <a:endParaRPr lang="en-US" sz="15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Prospect to member, automatically</a:t>
            </a:r>
            <a:endParaRPr lang="en-US" sz="3000" dirty="0"/>
          </a:p>
        </p:txBody>
      </p:sp>
      <p:sp>
        <p:nvSpPr>
          <p:cNvPr id="3" name="PROSPECT card"/>
          <p:cNvSpPr/>
          <p:nvPr/>
        </p:nvSpPr>
        <p:spPr>
          <a:xfrm>
            <a:off x="457200" y="1234440"/>
            <a:ext cx="2560320" cy="1600200"/>
          </a:xfrm>
          <a:prstGeom prst="roundRect">
            <a:avLst>
              <a:gd name="adj" fmla="val 6857"/>
            </a:avLst>
          </a:prstGeom>
          <a:solidFill>
            <a:schemeClr val="bg2"/>
          </a:solidFill>
          <a:ln w="12700">
            <a:solidFill>
              <a:schemeClr val="bg2"/>
            </a:solidFill>
            <a:prstDash val="solid"/>
          </a:ln>
        </p:spPr>
      </p:sp>
      <p:sp>
        <p:nvSpPr>
          <p:cNvPr id="4" name="Text 2"/>
          <p:cNvSpPr txBox="1"/>
          <p:nvPr/>
        </p:nvSpPr>
        <p:spPr>
          <a:xfrm>
            <a:off x="685800" y="1371600"/>
            <a:ext cx="2103120" cy="274320"/>
          </a:xfrm>
          <a:prstGeom prst="rect">
            <a:avLst/>
          </a:prstGeom>
          <a:noFill/>
          <a:ln/>
        </p:spPr>
        <p:txBody>
          <a:bodyPr wrap="square" lIns="0" tIns="0" rIns="0" bIns="0" rtlCol="0" anchor="ctr"/>
          <a:lstStyle/>
          <a:p>
            <a:pPr indent="0" marL="0">
              <a:buNone/>
            </a:pPr>
            <a:r>
              <a:rPr lang="en-US" sz="1000" b="1" spc="200" kern="0" dirty="0">
                <a:solidFill>
                  <a:schemeClr val="tx2"/>
                </a:solidFill>
              </a:rPr>
              <a:t>PROSPECT</a:t>
            </a:r>
            <a:endParaRPr lang="en-US" sz="1000" dirty="0"/>
          </a:p>
        </p:txBody>
      </p:sp>
      <p:sp>
        <p:nvSpPr>
          <p:cNvPr id="5" name="Text 3"/>
          <p:cNvSpPr txBox="1"/>
          <p:nvPr/>
        </p:nvSpPr>
        <p:spPr>
          <a:xfrm>
            <a:off x="685800" y="1645920"/>
            <a:ext cx="2103120" cy="411480"/>
          </a:xfrm>
          <a:prstGeom prst="rect">
            <a:avLst/>
          </a:prstGeom>
          <a:noFill/>
          <a:ln/>
        </p:spPr>
        <p:txBody>
          <a:bodyPr wrap="square" lIns="0" tIns="0" rIns="0" bIns="0" rtlCol="0" anchor="ctr"/>
          <a:lstStyle/>
          <a:p>
            <a:pPr indent="0" marL="0">
              <a:buNone/>
            </a:pPr>
            <a:r>
              <a:rPr lang="en-US" sz="2000" b="1" dirty="0">
                <a:solidFill>
                  <a:schemeClr val="tx2"/>
                </a:solidFill>
              </a:rPr>
              <a:t>Lead</a:t>
            </a:r>
            <a:endParaRPr lang="en-US" sz="2000" dirty="0"/>
          </a:p>
        </p:txBody>
      </p:sp>
      <p:sp>
        <p:nvSpPr>
          <p:cNvPr id="6" name="Text 4"/>
          <p:cNvSpPr txBox="1"/>
          <p:nvPr/>
        </p:nvSpPr>
        <p:spPr>
          <a:xfrm>
            <a:off x="685800" y="2103120"/>
            <a:ext cx="2103120" cy="685800"/>
          </a:xfrm>
          <a:prstGeom prst="rect">
            <a:avLst/>
          </a:prstGeom>
          <a:noFill/>
          <a:ln/>
        </p:spPr>
        <p:txBody>
          <a:bodyPr wrap="square" lIns="0" tIns="0" rIns="0" bIns="0" rtlCol="0" anchor="t"/>
          <a:lstStyle/>
          <a:p>
            <a:pPr indent="0" marL="0">
              <a:buNone/>
            </a:pPr>
            <a:r>
              <a:rPr lang="en-US" sz="1200" dirty="0">
                <a:solidFill>
                  <a:schemeClr val="tx2"/>
                </a:solidFill>
              </a:rPr>
              <a:t>Ethan Carter</a:t>
            </a:r>
            <a:endParaRPr lang="en-US" sz="1200" dirty="0"/>
          </a:p>
          <a:p>
            <a:pPr indent="0" marL="0">
              <a:buNone/>
            </a:pPr>
            <a:r>
              <a:rPr lang="en-US" sz="1200" dirty="0">
                <a:solidFill>
                  <a:schemeClr val="tx2"/>
                </a:solidFill>
              </a:rPr>
              <a:t>Source: Website</a:t>
            </a:r>
            <a:endParaRPr lang="en-US" sz="1200" dirty="0"/>
          </a:p>
          <a:p>
            <a:pPr indent="0" marL="0">
              <a:buNone/>
            </a:pPr>
            <a:r>
              <a:rPr lang="en-US" sz="1200" dirty="0">
                <a:solidFill>
                  <a:schemeClr val="tx2"/>
                </a:solidFill>
              </a:rPr>
              <a:t>Status: New</a:t>
            </a:r>
            <a:endParaRPr lang="en-US" sz="1200" dirty="0"/>
          </a:p>
        </p:txBody>
      </p:sp>
      <p:sp>
        <p:nvSpPr>
          <p:cNvPr id="7" name="Arrow 1"/>
          <p:cNvSpPr/>
          <p:nvPr/>
        </p:nvSpPr>
        <p:spPr>
          <a:xfrm>
            <a:off x="3063240" y="1874520"/>
            <a:ext cx="182880" cy="320040"/>
          </a:xfrm>
          <a:prstGeom prst="rightArrow">
            <a:avLst/>
          </a:prstGeom>
          <a:solidFill>
            <a:schemeClr val="accent4"/>
          </a:solidFill>
          <a:ln w="12700">
            <a:solidFill>
              <a:schemeClr val="accent4"/>
            </a:solidFill>
            <a:prstDash val="solid"/>
          </a:ln>
        </p:spPr>
      </p:sp>
      <p:sp>
        <p:nvSpPr>
          <p:cNvPr id="8" name="CONVERTED card"/>
          <p:cNvSpPr/>
          <p:nvPr/>
        </p:nvSpPr>
        <p:spPr>
          <a:xfrm>
            <a:off x="3291840" y="1234440"/>
            <a:ext cx="2560320" cy="1600200"/>
          </a:xfrm>
          <a:prstGeom prst="roundRect">
            <a:avLst>
              <a:gd name="adj" fmla="val 6857"/>
            </a:avLst>
          </a:prstGeom>
          <a:solidFill>
            <a:schemeClr val="accent2"/>
          </a:solidFill>
          <a:ln w="12700">
            <a:solidFill>
              <a:schemeClr val="accent2"/>
            </a:solidFill>
            <a:prstDash val="solid"/>
          </a:ln>
        </p:spPr>
      </p:sp>
      <p:sp>
        <p:nvSpPr>
          <p:cNvPr id="9" name="Text 7"/>
          <p:cNvSpPr txBox="1"/>
          <p:nvPr/>
        </p:nvSpPr>
        <p:spPr>
          <a:xfrm>
            <a:off x="3520440" y="1371600"/>
            <a:ext cx="2103120" cy="274320"/>
          </a:xfrm>
          <a:prstGeom prst="rect">
            <a:avLst/>
          </a:prstGeom>
          <a:noFill/>
          <a:ln/>
        </p:spPr>
        <p:txBody>
          <a:bodyPr wrap="square" lIns="0" tIns="0" rIns="0" bIns="0" rtlCol="0" anchor="ctr"/>
          <a:lstStyle/>
          <a:p>
            <a:pPr indent="0" marL="0">
              <a:buNone/>
            </a:pPr>
            <a:r>
              <a:rPr lang="en-US" sz="1000" b="1" spc="200" kern="0" dirty="0">
                <a:solidFill>
                  <a:schemeClr val="bg1"/>
                </a:solidFill>
              </a:rPr>
              <a:t>CONVERTED</a:t>
            </a:r>
            <a:endParaRPr lang="en-US" sz="1000" dirty="0"/>
          </a:p>
        </p:txBody>
      </p:sp>
      <p:sp>
        <p:nvSpPr>
          <p:cNvPr id="10" name="Text 8"/>
          <p:cNvSpPr txBox="1"/>
          <p:nvPr/>
        </p:nvSpPr>
        <p:spPr>
          <a:xfrm>
            <a:off x="3520440" y="1645920"/>
            <a:ext cx="2103120" cy="411480"/>
          </a:xfrm>
          <a:prstGeom prst="rect">
            <a:avLst/>
          </a:prstGeom>
          <a:noFill/>
          <a:ln/>
        </p:spPr>
        <p:txBody>
          <a:bodyPr wrap="square" lIns="0" tIns="0" rIns="0" bIns="0" rtlCol="0" anchor="ctr"/>
          <a:lstStyle/>
          <a:p>
            <a:pPr indent="0" marL="0">
              <a:buNone/>
            </a:pPr>
            <a:r>
              <a:rPr lang="en-US" sz="2000" b="1" dirty="0">
                <a:solidFill>
                  <a:schemeClr val="bg1"/>
                </a:solidFill>
              </a:rPr>
              <a:t>10/6/2026</a:t>
            </a:r>
            <a:endParaRPr lang="en-US" sz="2000" dirty="0"/>
          </a:p>
        </p:txBody>
      </p:sp>
      <p:sp>
        <p:nvSpPr>
          <p:cNvPr id="11" name="Text 9"/>
          <p:cNvSpPr txBox="1"/>
          <p:nvPr/>
        </p:nvSpPr>
        <p:spPr>
          <a:xfrm>
            <a:off x="3520440" y="2103120"/>
            <a:ext cx="2103120" cy="685800"/>
          </a:xfrm>
          <a:prstGeom prst="rect">
            <a:avLst/>
          </a:prstGeom>
          <a:noFill/>
          <a:ln/>
        </p:spPr>
        <p:txBody>
          <a:bodyPr wrap="square" lIns="0" tIns="0" rIns="0" bIns="0" rtlCol="0" anchor="t"/>
          <a:lstStyle/>
          <a:p>
            <a:pPr indent="0" marL="0">
              <a:buNone/>
            </a:pPr>
            <a:r>
              <a:rPr lang="en-US" sz="1200" dirty="0">
                <a:solidFill>
                  <a:schemeClr val="bg1"/>
                </a:solidFill>
              </a:rPr>
              <a:t>Same transaction</a:t>
            </a:r>
            <a:endParaRPr lang="en-US" sz="1200" dirty="0"/>
          </a:p>
          <a:p>
            <a:pPr indent="0" marL="0">
              <a:buNone/>
            </a:pPr>
            <a:r>
              <a:rPr lang="en-US" sz="1200" dirty="0">
                <a:solidFill>
                  <a:schemeClr val="bg1"/>
                </a:solidFill>
              </a:rPr>
              <a:t>as the submission</a:t>
            </a:r>
            <a:endParaRPr lang="en-US" sz="1200" dirty="0"/>
          </a:p>
        </p:txBody>
      </p:sp>
      <p:sp>
        <p:nvSpPr>
          <p:cNvPr id="12" name="Arrow 2"/>
          <p:cNvSpPr/>
          <p:nvPr/>
        </p:nvSpPr>
        <p:spPr>
          <a:xfrm>
            <a:off x="5897880" y="1874520"/>
            <a:ext cx="182880" cy="320040"/>
          </a:xfrm>
          <a:prstGeom prst="rightArrow">
            <a:avLst/>
          </a:prstGeom>
          <a:solidFill>
            <a:schemeClr val="accent4"/>
          </a:solidFill>
          <a:ln w="12700">
            <a:solidFill>
              <a:schemeClr val="accent4"/>
            </a:solidFill>
            <a:prstDash val="solid"/>
          </a:ln>
        </p:spPr>
      </p:sp>
      <p:sp>
        <p:nvSpPr>
          <p:cNvPr id="13" name="MEMBER card"/>
          <p:cNvSpPr/>
          <p:nvPr/>
        </p:nvSpPr>
        <p:spPr>
          <a:xfrm>
            <a:off x="6126480" y="1234440"/>
            <a:ext cx="2560320" cy="1600200"/>
          </a:xfrm>
          <a:prstGeom prst="roundRect">
            <a:avLst>
              <a:gd name="adj" fmla="val 6857"/>
            </a:avLst>
          </a:prstGeom>
          <a:solidFill>
            <a:schemeClr val="tx2"/>
          </a:solidFill>
          <a:ln w="12700">
            <a:solidFill>
              <a:schemeClr val="tx2"/>
            </a:solidFill>
            <a:prstDash val="solid"/>
          </a:ln>
        </p:spPr>
      </p:sp>
      <p:sp>
        <p:nvSpPr>
          <p:cNvPr id="14" name="Text 12"/>
          <p:cNvSpPr txBox="1"/>
          <p:nvPr/>
        </p:nvSpPr>
        <p:spPr>
          <a:xfrm>
            <a:off x="6355080" y="1371600"/>
            <a:ext cx="2103120" cy="274320"/>
          </a:xfrm>
          <a:prstGeom prst="rect">
            <a:avLst/>
          </a:prstGeom>
          <a:noFill/>
          <a:ln/>
        </p:spPr>
        <p:txBody>
          <a:bodyPr wrap="square" lIns="0" tIns="0" rIns="0" bIns="0" rtlCol="0" anchor="ctr"/>
          <a:lstStyle/>
          <a:p>
            <a:pPr indent="0" marL="0">
              <a:buNone/>
            </a:pPr>
            <a:r>
              <a:rPr lang="en-US" sz="1000" b="1" spc="200" kern="0" dirty="0">
                <a:solidFill>
                  <a:schemeClr val="bg1"/>
                </a:solidFill>
              </a:rPr>
              <a:t>MEMBER</a:t>
            </a:r>
            <a:endParaRPr lang="en-US" sz="1000" dirty="0"/>
          </a:p>
        </p:txBody>
      </p:sp>
      <p:sp>
        <p:nvSpPr>
          <p:cNvPr id="15" name="Text 13"/>
          <p:cNvSpPr txBox="1"/>
          <p:nvPr/>
        </p:nvSpPr>
        <p:spPr>
          <a:xfrm>
            <a:off x="6355080" y="1645920"/>
            <a:ext cx="2103120" cy="411480"/>
          </a:xfrm>
          <a:prstGeom prst="rect">
            <a:avLst/>
          </a:prstGeom>
          <a:noFill/>
          <a:ln/>
        </p:spPr>
        <p:txBody>
          <a:bodyPr wrap="square" lIns="0" tIns="0" rIns="0" bIns="0" rtlCol="0" anchor="ctr"/>
          <a:lstStyle/>
          <a:p>
            <a:pPr indent="0" marL="0">
              <a:buNone/>
            </a:pPr>
            <a:r>
              <a:rPr lang="en-US" sz="2000" b="1" dirty="0">
                <a:solidFill>
                  <a:schemeClr val="bg1"/>
                </a:solidFill>
              </a:rPr>
              <a:t>Person Account</a:t>
            </a:r>
            <a:endParaRPr lang="en-US" sz="2000" dirty="0"/>
          </a:p>
        </p:txBody>
      </p:sp>
      <p:sp>
        <p:nvSpPr>
          <p:cNvPr id="16" name="Text 14"/>
          <p:cNvSpPr txBox="1"/>
          <p:nvPr/>
        </p:nvSpPr>
        <p:spPr>
          <a:xfrm>
            <a:off x="6355080" y="2103120"/>
            <a:ext cx="2103120" cy="685800"/>
          </a:xfrm>
          <a:prstGeom prst="rect">
            <a:avLst/>
          </a:prstGeom>
          <a:noFill/>
          <a:ln/>
        </p:spPr>
        <p:txBody>
          <a:bodyPr wrap="square" lIns="0" tIns="0" rIns="0" bIns="0" rtlCol="0" anchor="t"/>
          <a:lstStyle/>
          <a:p>
            <a:pPr indent="0" marL="0">
              <a:buNone/>
            </a:pPr>
            <a:r>
              <a:rPr lang="en-US" sz="1200" dirty="0">
                <a:solidFill>
                  <a:schemeClr val="bg1"/>
                </a:solidFill>
              </a:rPr>
              <a:t>Ethan Carter</a:t>
            </a:r>
            <a:endParaRPr lang="en-US" sz="1200" dirty="0"/>
          </a:p>
          <a:p>
            <a:pPr indent="0" marL="0">
              <a:buNone/>
            </a:pPr>
            <a:r>
              <a:rPr lang="en-US" sz="1200" dirty="0">
                <a:solidFill>
                  <a:schemeClr val="bg1"/>
                </a:solidFill>
              </a:rPr>
              <a:t>Account + Contact</a:t>
            </a:r>
            <a:endParaRPr lang="en-US" sz="1200" dirty="0"/>
          </a:p>
          <a:p>
            <a:pPr indent="0" marL="0">
              <a:buNone/>
            </a:pPr>
            <a:r>
              <a:rPr lang="en-US" sz="1200" dirty="0">
                <a:solidFill>
                  <a:schemeClr val="bg1"/>
                </a:solidFill>
              </a:rPr>
              <a:t>Owned by a Navy Federal rep</a:t>
            </a:r>
            <a:endParaRPr lang="en-US" sz="1200" dirty="0"/>
          </a:p>
        </p:txBody>
      </p:sp>
      <p:sp>
        <p:nvSpPr>
          <p:cNvPr id="17" name="Text 15"/>
          <p:cNvSpPr txBox="1"/>
          <p:nvPr/>
        </p:nvSpPr>
        <p:spPr>
          <a:xfrm>
            <a:off x="457200" y="3063240"/>
            <a:ext cx="8229600" cy="274320"/>
          </a:xfrm>
          <a:prstGeom prst="rect">
            <a:avLst/>
          </a:prstGeom>
          <a:noFill/>
          <a:ln/>
        </p:spPr>
        <p:txBody>
          <a:bodyPr wrap="square" lIns="0" tIns="0" rIns="0" bIns="0" rtlCol="0" anchor="ctr"/>
          <a:lstStyle/>
          <a:p>
            <a:pPr indent="0" marL="0">
              <a:buNone/>
            </a:pPr>
            <a:r>
              <a:rPr lang="en-US" sz="1000" b="1" spc="200" kern="0" dirty="0">
                <a:solidFill>
                  <a:schemeClr val="accent6"/>
                </a:solidFill>
              </a:rPr>
              <a:t>CREATED IN THE SAME SUBMISSION</a:t>
            </a:r>
            <a:endParaRPr lang="en-US" sz="1000" dirty="0"/>
          </a:p>
        </p:txBody>
      </p:sp>
      <p:sp>
        <p:nvSpPr>
          <p:cNvPr id="18" name="Case tile"/>
          <p:cNvSpPr/>
          <p:nvPr/>
        </p:nvSpPr>
        <p:spPr>
          <a:xfrm>
            <a:off x="457200" y="3383280"/>
            <a:ext cx="1920240" cy="1051560"/>
          </a:xfrm>
          <a:prstGeom prst="roundRect">
            <a:avLst>
              <a:gd name="adj" fmla="val 8696"/>
            </a:avLst>
          </a:prstGeom>
          <a:solidFill>
            <a:schemeClr val="bg2"/>
          </a:solidFill>
          <a:ln w="12700">
            <a:solidFill>
              <a:schemeClr val="bg2"/>
            </a:solidFill>
            <a:prstDash val="solid"/>
          </a:ln>
        </p:spPr>
      </p:sp>
      <p:sp>
        <p:nvSpPr>
          <p:cNvPr id="19" name="Text 17"/>
          <p:cNvSpPr txBox="1"/>
          <p:nvPr/>
        </p:nvSpPr>
        <p:spPr>
          <a:xfrm>
            <a:off x="640080" y="3493008"/>
            <a:ext cx="1600200" cy="274320"/>
          </a:xfrm>
          <a:prstGeom prst="rect">
            <a:avLst/>
          </a:prstGeom>
          <a:noFill/>
          <a:ln/>
        </p:spPr>
        <p:txBody>
          <a:bodyPr wrap="square" lIns="0" tIns="0" rIns="0" bIns="0" rtlCol="0" anchor="ctr"/>
          <a:lstStyle/>
          <a:p>
            <a:pPr indent="0" marL="0">
              <a:buNone/>
            </a:pPr>
            <a:r>
              <a:rPr lang="en-US" sz="1100" dirty="0">
                <a:solidFill>
                  <a:schemeClr val="accent4"/>
                </a:solidFill>
              </a:rPr>
              <a:t>Case</a:t>
            </a:r>
            <a:endParaRPr lang="en-US" sz="1100" dirty="0"/>
          </a:p>
        </p:txBody>
      </p:sp>
      <p:sp>
        <p:nvSpPr>
          <p:cNvPr id="20" name="Text 18"/>
          <p:cNvSpPr txBox="1"/>
          <p:nvPr/>
        </p:nvSpPr>
        <p:spPr>
          <a:xfrm>
            <a:off x="640080" y="379476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00005787</a:t>
            </a:r>
            <a:endParaRPr lang="en-US" sz="1800" dirty="0"/>
          </a:p>
        </p:txBody>
      </p:sp>
      <p:sp>
        <p:nvSpPr>
          <p:cNvPr id="21" name="Product application tile"/>
          <p:cNvSpPr/>
          <p:nvPr/>
        </p:nvSpPr>
        <p:spPr>
          <a:xfrm>
            <a:off x="2560320" y="3383280"/>
            <a:ext cx="1920240" cy="1051560"/>
          </a:xfrm>
          <a:prstGeom prst="roundRect">
            <a:avLst>
              <a:gd name="adj" fmla="val 8696"/>
            </a:avLst>
          </a:prstGeom>
          <a:solidFill>
            <a:schemeClr val="bg2"/>
          </a:solidFill>
          <a:ln w="12700">
            <a:solidFill>
              <a:schemeClr val="bg2"/>
            </a:solidFill>
            <a:prstDash val="solid"/>
          </a:ln>
        </p:spPr>
      </p:sp>
      <p:sp>
        <p:nvSpPr>
          <p:cNvPr id="22" name="Text 20"/>
          <p:cNvSpPr txBox="1"/>
          <p:nvPr/>
        </p:nvSpPr>
        <p:spPr>
          <a:xfrm>
            <a:off x="2743200" y="3493008"/>
            <a:ext cx="1600200" cy="274320"/>
          </a:xfrm>
          <a:prstGeom prst="rect">
            <a:avLst/>
          </a:prstGeom>
          <a:noFill/>
          <a:ln/>
        </p:spPr>
        <p:txBody>
          <a:bodyPr wrap="square" lIns="0" tIns="0" rIns="0" bIns="0" rtlCol="0" anchor="ctr"/>
          <a:lstStyle/>
          <a:p>
            <a:pPr indent="0" marL="0">
              <a:buNone/>
            </a:pPr>
            <a:r>
              <a:rPr lang="en-US" sz="1100" dirty="0">
                <a:solidFill>
                  <a:schemeClr val="accent4"/>
                </a:solidFill>
              </a:rPr>
              <a:t>Product application</a:t>
            </a:r>
            <a:endParaRPr lang="en-US" sz="1100" dirty="0"/>
          </a:p>
        </p:txBody>
      </p:sp>
      <p:sp>
        <p:nvSpPr>
          <p:cNvPr id="23" name="Text 21"/>
          <p:cNvSpPr txBox="1"/>
          <p:nvPr/>
        </p:nvSpPr>
        <p:spPr>
          <a:xfrm>
            <a:off x="2743200" y="379476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APP-00081</a:t>
            </a:r>
            <a:endParaRPr lang="en-US" sz="1800" dirty="0"/>
          </a:p>
        </p:txBody>
      </p:sp>
      <p:sp>
        <p:nvSpPr>
          <p:cNvPr id="24" name="Member onboarding tile"/>
          <p:cNvSpPr/>
          <p:nvPr/>
        </p:nvSpPr>
        <p:spPr>
          <a:xfrm>
            <a:off x="4663440" y="3383280"/>
            <a:ext cx="1920240" cy="1051560"/>
          </a:xfrm>
          <a:prstGeom prst="roundRect">
            <a:avLst>
              <a:gd name="adj" fmla="val 8696"/>
            </a:avLst>
          </a:prstGeom>
          <a:solidFill>
            <a:schemeClr val="bg2"/>
          </a:solidFill>
          <a:ln w="12700">
            <a:solidFill>
              <a:schemeClr val="bg2"/>
            </a:solidFill>
            <a:prstDash val="solid"/>
          </a:ln>
        </p:spPr>
      </p:sp>
      <p:sp>
        <p:nvSpPr>
          <p:cNvPr id="25" name="Text 23"/>
          <p:cNvSpPr txBox="1"/>
          <p:nvPr/>
        </p:nvSpPr>
        <p:spPr>
          <a:xfrm>
            <a:off x="4846320" y="3493008"/>
            <a:ext cx="1600200" cy="274320"/>
          </a:xfrm>
          <a:prstGeom prst="rect">
            <a:avLst/>
          </a:prstGeom>
          <a:noFill/>
          <a:ln/>
        </p:spPr>
        <p:txBody>
          <a:bodyPr wrap="square" lIns="0" tIns="0" rIns="0" bIns="0" rtlCol="0" anchor="ctr"/>
          <a:lstStyle/>
          <a:p>
            <a:pPr indent="0" marL="0">
              <a:buNone/>
            </a:pPr>
            <a:r>
              <a:rPr lang="en-US" sz="1100" dirty="0">
                <a:solidFill>
                  <a:schemeClr val="accent4"/>
                </a:solidFill>
              </a:rPr>
              <a:t>Member onboarding</a:t>
            </a:r>
            <a:endParaRPr lang="en-US" sz="1100" dirty="0"/>
          </a:p>
        </p:txBody>
      </p:sp>
      <p:sp>
        <p:nvSpPr>
          <p:cNvPr id="26" name="Text 24"/>
          <p:cNvSpPr txBox="1"/>
          <p:nvPr/>
        </p:nvSpPr>
        <p:spPr>
          <a:xfrm>
            <a:off x="4846320" y="379476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AF-00033</a:t>
            </a:r>
            <a:endParaRPr lang="en-US" sz="1800" dirty="0"/>
          </a:p>
        </p:txBody>
      </p:sp>
      <p:sp>
        <p:nvSpPr>
          <p:cNvPr id="27" name="Documents on the case tile"/>
          <p:cNvSpPr/>
          <p:nvPr/>
        </p:nvSpPr>
        <p:spPr>
          <a:xfrm>
            <a:off x="6766560" y="3383280"/>
            <a:ext cx="1920240" cy="1051560"/>
          </a:xfrm>
          <a:prstGeom prst="roundRect">
            <a:avLst>
              <a:gd name="adj" fmla="val 8696"/>
            </a:avLst>
          </a:prstGeom>
          <a:solidFill>
            <a:schemeClr val="bg2"/>
          </a:solidFill>
          <a:ln w="12700">
            <a:solidFill>
              <a:schemeClr val="bg2"/>
            </a:solidFill>
            <a:prstDash val="solid"/>
          </a:ln>
        </p:spPr>
      </p:sp>
      <p:sp>
        <p:nvSpPr>
          <p:cNvPr id="28" name="Text 26"/>
          <p:cNvSpPr txBox="1"/>
          <p:nvPr/>
        </p:nvSpPr>
        <p:spPr>
          <a:xfrm>
            <a:off x="6949440" y="3493008"/>
            <a:ext cx="1600200" cy="274320"/>
          </a:xfrm>
          <a:prstGeom prst="rect">
            <a:avLst/>
          </a:prstGeom>
          <a:noFill/>
          <a:ln/>
        </p:spPr>
        <p:txBody>
          <a:bodyPr wrap="square" lIns="0" tIns="0" rIns="0" bIns="0" rtlCol="0" anchor="ctr"/>
          <a:lstStyle/>
          <a:p>
            <a:pPr indent="0" marL="0">
              <a:buNone/>
            </a:pPr>
            <a:r>
              <a:rPr lang="en-US" sz="1100" dirty="0">
                <a:solidFill>
                  <a:schemeClr val="accent4"/>
                </a:solidFill>
              </a:rPr>
              <a:t>Documents on the case</a:t>
            </a:r>
            <a:endParaRPr lang="en-US" sz="1100" dirty="0"/>
          </a:p>
        </p:txBody>
      </p:sp>
      <p:sp>
        <p:nvSpPr>
          <p:cNvPr id="29" name="Text 27"/>
          <p:cNvSpPr txBox="1"/>
          <p:nvPr/>
        </p:nvSpPr>
        <p:spPr>
          <a:xfrm>
            <a:off x="6949440" y="379476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ID + proof</a:t>
            </a:r>
            <a:endParaRPr lang="en-US" sz="18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creenshot frame"/>
          <p:cNvSpPr/>
          <p:nvPr/>
        </p:nvSpPr>
        <p:spPr>
          <a:xfrm>
            <a:off x="347472" y="274320"/>
            <a:ext cx="4558981" cy="4379976"/>
          </a:xfrm>
          <a:prstGeom prst="roundRect">
            <a:avLst>
              <a:gd name="adj" fmla="val 2088"/>
            </a:avLst>
          </a:prstGeom>
          <a:solidFill>
            <a:schemeClr val="bg2"/>
          </a:solidFill>
          <a:ln w="12700">
            <a:solidFill>
              <a:schemeClr val="accent5"/>
            </a:solidFill>
            <a:prstDash val="solid"/>
          </a:ln>
        </p:spPr>
      </p:sp>
      <p:pic>
        <p:nvPicPr>
          <p:cNvPr id="3" name="Screenshot 02-case.jpg" descr="New member application case in the service console">    </p:cNvPr>
          <p:cNvPicPr>
            <a:picLocks noChangeAspect="1"/>
          </p:cNvPicPr>
          <p:nvPr/>
        </p:nvPicPr>
        <p:blipFill>
          <a:blip r:embed="rId1"/>
          <a:stretch>
            <a:fillRect/>
          </a:stretch>
        </p:blipFill>
        <p:spPr>
          <a:xfrm>
            <a:off x="457200" y="384048"/>
            <a:ext cx="4339525" cy="4160520"/>
          </a:xfrm>
          <a:prstGeom prst="rect">
            <a:avLst/>
          </a:prstGeom>
        </p:spPr>
      </p:pic>
      <p:sp>
        <p:nvSpPr>
          <p:cNvPr id="4" name="Text 1"/>
          <p:cNvSpPr txBox="1"/>
          <p:nvPr/>
        </p:nvSpPr>
        <p:spPr>
          <a:xfrm>
            <a:off x="4617720" y="320040"/>
            <a:ext cx="4069080" cy="274320"/>
          </a:xfrm>
          <a:prstGeom prst="rect">
            <a:avLst/>
          </a:prstGeom>
          <a:noFill/>
          <a:ln/>
        </p:spPr>
        <p:txBody>
          <a:bodyPr wrap="square" lIns="0" tIns="0" rIns="0" bIns="0" rtlCol="0" anchor="ctr"/>
          <a:lstStyle/>
          <a:p>
            <a:pPr indent="0" marL="0">
              <a:buNone/>
            </a:pPr>
            <a:r>
              <a:rPr lang="en-US" sz="1000" b="1" spc="200" kern="0" dirty="0">
                <a:solidFill>
                  <a:schemeClr val="accent6"/>
                </a:solidFill>
              </a:rPr>
              <a:t>NEW MEMBER APPLICATION CASE IN THE SERVICE CONSOLE</a:t>
            </a:r>
            <a:endParaRPr lang="en-US" sz="1000" dirty="0"/>
          </a:p>
        </p:txBody>
      </p:sp>
      <p:sp>
        <p:nvSpPr>
          <p:cNvPr id="5" name="Text 0"/>
          <p:cNvSpPr/>
          <p:nvPr>
            <p:ph idx="100" type="title" hasCustomPrompt="1"/>
          </p:nvPr>
        </p:nvSpPr>
        <p:spPr>
          <a:xfrm>
            <a:off x="4617720" y="685800"/>
            <a:ext cx="4069080" cy="100584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The work arrives ready for a member service rep</a:t>
            </a:r>
            <a:endParaRPr lang="en-US" sz="2400" dirty="0"/>
          </a:p>
        </p:txBody>
      </p:sp>
      <p:sp>
        <p:nvSpPr>
          <p:cNvPr id="6" name="Point 1"/>
          <p:cNvSpPr/>
          <p:nvPr/>
        </p:nvSpPr>
        <p:spPr>
          <a:xfrm>
            <a:off x="4617720" y="1911096"/>
            <a:ext cx="310896" cy="310896"/>
          </a:xfrm>
          <a:prstGeom prst="ellipse">
            <a:avLst/>
          </a:prstGeom>
          <a:solidFill>
            <a:schemeClr val="accent2"/>
          </a:solidFill>
          <a:ln w="12700">
            <a:solidFill>
              <a:schemeClr val="accent2"/>
            </a:solidFill>
            <a:prstDash val="solid"/>
          </a:ln>
        </p:spPr>
      </p:sp>
      <p:sp>
        <p:nvSpPr>
          <p:cNvPr id="7" name="Text 4"/>
          <p:cNvSpPr txBox="1"/>
          <p:nvPr/>
        </p:nvSpPr>
        <p:spPr>
          <a:xfrm>
            <a:off x="4617720" y="191109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5"/>
          <p:cNvSpPr txBox="1"/>
          <p:nvPr/>
        </p:nvSpPr>
        <p:spPr>
          <a:xfrm>
            <a:off x="5074920" y="1874520"/>
            <a:ext cx="3611880" cy="685800"/>
          </a:xfrm>
          <a:prstGeom prst="rect">
            <a:avLst/>
          </a:prstGeom>
          <a:noFill/>
          <a:ln/>
        </p:spPr>
        <p:txBody>
          <a:bodyPr wrap="square" lIns="0" tIns="0" rIns="0" bIns="0" rtlCol="0" anchor="t"/>
          <a:lstStyle/>
          <a:p>
            <a:pPr indent="0" marL="0">
              <a:buNone/>
            </a:pPr>
            <a:r>
              <a:rPr lang="en-US" sz="1500" dirty="0">
                <a:solidFill>
                  <a:schemeClr val="tx1"/>
                </a:solidFill>
              </a:rPr>
              <a:t>Routed by your case assignment rules</a:t>
            </a:r>
            <a:endParaRPr lang="en-US" sz="1500" dirty="0"/>
          </a:p>
        </p:txBody>
      </p:sp>
      <p:sp>
        <p:nvSpPr>
          <p:cNvPr id="9" name="Point 2"/>
          <p:cNvSpPr/>
          <p:nvPr/>
        </p:nvSpPr>
        <p:spPr>
          <a:xfrm>
            <a:off x="4617720" y="2752344"/>
            <a:ext cx="310896" cy="310896"/>
          </a:xfrm>
          <a:prstGeom prst="ellipse">
            <a:avLst/>
          </a:prstGeom>
          <a:solidFill>
            <a:schemeClr val="accent2"/>
          </a:solidFill>
          <a:ln w="12700">
            <a:solidFill>
              <a:schemeClr val="accent2"/>
            </a:solidFill>
            <a:prstDash val="solid"/>
          </a:ln>
        </p:spPr>
      </p:sp>
      <p:sp>
        <p:nvSpPr>
          <p:cNvPr id="10" name="Text 7"/>
          <p:cNvSpPr txBox="1"/>
          <p:nvPr/>
        </p:nvSpPr>
        <p:spPr>
          <a:xfrm>
            <a:off x="4617720" y="275234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8"/>
          <p:cNvSpPr txBox="1"/>
          <p:nvPr/>
        </p:nvSpPr>
        <p:spPr>
          <a:xfrm>
            <a:off x="5074920" y="2715768"/>
            <a:ext cx="3611880" cy="685800"/>
          </a:xfrm>
          <a:prstGeom prst="rect">
            <a:avLst/>
          </a:prstGeom>
          <a:noFill/>
          <a:ln/>
        </p:spPr>
        <p:txBody>
          <a:bodyPr wrap="square" lIns="0" tIns="0" rIns="0" bIns="0" rtlCol="0" anchor="t"/>
          <a:lstStyle/>
          <a:p>
            <a:pPr indent="0" marL="0">
              <a:buNone/>
            </a:pPr>
            <a:r>
              <a:rPr lang="en-US" sz="1500" dirty="0">
                <a:solidFill>
                  <a:schemeClr val="tx1"/>
                </a:solidFill>
              </a:rPr>
              <a:t>Card Application actions 1 to 4 on the right</a:t>
            </a:r>
            <a:endParaRPr lang="en-US" sz="1500" dirty="0"/>
          </a:p>
        </p:txBody>
      </p:sp>
      <p:sp>
        <p:nvSpPr>
          <p:cNvPr id="12" name="Point 3"/>
          <p:cNvSpPr/>
          <p:nvPr/>
        </p:nvSpPr>
        <p:spPr>
          <a:xfrm>
            <a:off x="4617720" y="3593592"/>
            <a:ext cx="310896" cy="310896"/>
          </a:xfrm>
          <a:prstGeom prst="ellipse">
            <a:avLst/>
          </a:prstGeom>
          <a:solidFill>
            <a:schemeClr val="accent2"/>
          </a:solidFill>
          <a:ln w="12700">
            <a:solidFill>
              <a:schemeClr val="accent2"/>
            </a:solidFill>
            <a:prstDash val="solid"/>
          </a:ln>
        </p:spPr>
      </p:sp>
      <p:sp>
        <p:nvSpPr>
          <p:cNvPr id="13" name="Text 10"/>
          <p:cNvSpPr txBox="1"/>
          <p:nvPr/>
        </p:nvSpPr>
        <p:spPr>
          <a:xfrm>
            <a:off x="4617720" y="359359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11"/>
          <p:cNvSpPr txBox="1"/>
          <p:nvPr/>
        </p:nvSpPr>
        <p:spPr>
          <a:xfrm>
            <a:off x="5074920" y="3557016"/>
            <a:ext cx="3611880" cy="685800"/>
          </a:xfrm>
          <a:prstGeom prst="rect">
            <a:avLst/>
          </a:prstGeom>
          <a:noFill/>
          <a:ln/>
        </p:spPr>
        <p:txBody>
          <a:bodyPr wrap="square" lIns="0" tIns="0" rIns="0" bIns="0" rtlCol="0" anchor="t"/>
          <a:lstStyle/>
          <a:p>
            <a:pPr indent="0" marL="0">
              <a:buNone/>
            </a:pPr>
            <a:r>
              <a:rPr lang="en-US" sz="1500" dirty="0">
                <a:solidFill>
                  <a:schemeClr val="tx1"/>
                </a:solidFill>
              </a:rPr>
              <a:t>Service Rep Assistant guided by the Member Onboarding topic</a:t>
            </a:r>
            <a:endParaRPr lang="en-US" sz="15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097280"/>
          </a:xfrm>
          <a:prstGeom prst="rect">
            <a:avLst/>
          </a:prstGeom>
          <a:noFill/>
          <a:ln/>
        </p:spPr>
        <p:txBody>
          <a:bodyPr wrap="square" lIns="0" tIns="0" rIns="0" bIns="0" rtlCol="0" anchor="b"/>
          <a:lstStyle/>
          <a:p>
            <a:pPr indent="0" marL="0">
              <a:buNone/>
            </a:pPr>
            <a:r>
              <a:rPr lang="en-US" sz="3800" b="1" dirty="0">
                <a:solidFill>
                  <a:schemeClr val="bg1"/>
                </a:solidFill>
                <a:latin typeface="Cambria" pitchFamily="34" charset="0"/>
                <a:ea typeface="Cambria" pitchFamily="34" charset="-122"/>
                <a:cs typeface="Cambria" pitchFamily="34" charset="-120"/>
              </a:rPr>
              <a:t>How Ethan got here</a:t>
            </a:r>
            <a:endParaRPr lang="en-US" sz="3800" dirty="0"/>
          </a:p>
        </p:txBody>
      </p:sp>
      <p:sp>
        <p:nvSpPr>
          <p:cNvPr id="3" name="Text 0"/>
          <p:cNvSpPr/>
          <p:nvPr>
            <p:ph idx="101" type="body" hasCustomPrompt="1"/>
          </p:nvPr>
        </p:nvSpPr>
        <p:spPr>
          <a:xfrm>
            <a:off x="548640" y="2697480"/>
            <a:ext cx="8046720" cy="731520"/>
          </a:xfrm>
          <a:prstGeom prst="rect">
            <a:avLst/>
          </a:prstGeom>
          <a:noFill/>
          <a:ln/>
        </p:spPr>
        <p:txBody>
          <a:bodyPr wrap="square" lIns="0" tIns="0" rIns="0" bIns="0" rtlCol="0" anchor="t"/>
          <a:lstStyle/>
          <a:p>
            <a:pPr indent="0" marL="0">
              <a:buNone/>
            </a:pPr>
            <a:r>
              <a:rPr lang="en-US" sz="1800" dirty="0">
                <a:solidFill>
                  <a:schemeClr val="accent2"/>
                </a:solidFill>
              </a:rPr>
              <a:t>The Experience Cloud application, start to finish</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creenshot frame"/>
          <p:cNvSpPr/>
          <p:nvPr/>
        </p:nvSpPr>
        <p:spPr>
          <a:xfrm>
            <a:off x="347472" y="274320"/>
            <a:ext cx="4558981" cy="4379976"/>
          </a:xfrm>
          <a:prstGeom prst="roundRect">
            <a:avLst>
              <a:gd name="adj" fmla="val 2088"/>
            </a:avLst>
          </a:prstGeom>
          <a:solidFill>
            <a:schemeClr val="bg2"/>
          </a:solidFill>
          <a:ln w="12700">
            <a:solidFill>
              <a:schemeClr val="accent5"/>
            </a:solidFill>
            <a:prstDash val="solid"/>
          </a:ln>
        </p:spPr>
      </p:sp>
      <p:pic>
        <p:nvPicPr>
          <p:cNvPr id="3" name="Screenshot 03-step1-start.jpg" descr="Step 1 of 5: Eligibility">    </p:cNvPr>
          <p:cNvPicPr>
            <a:picLocks noChangeAspect="1"/>
          </p:cNvPicPr>
          <p:nvPr/>
        </p:nvPicPr>
        <p:blipFill>
          <a:blip r:embed="rId1"/>
          <a:stretch>
            <a:fillRect/>
          </a:stretch>
        </p:blipFill>
        <p:spPr>
          <a:xfrm>
            <a:off x="457200" y="384048"/>
            <a:ext cx="4339525" cy="4160520"/>
          </a:xfrm>
          <a:prstGeom prst="rect">
            <a:avLst/>
          </a:prstGeom>
        </p:spPr>
      </p:pic>
      <p:sp>
        <p:nvSpPr>
          <p:cNvPr id="4" name="Text 1"/>
          <p:cNvSpPr txBox="1"/>
          <p:nvPr/>
        </p:nvSpPr>
        <p:spPr>
          <a:xfrm>
            <a:off x="4617720" y="320040"/>
            <a:ext cx="4069080" cy="274320"/>
          </a:xfrm>
          <a:prstGeom prst="rect">
            <a:avLst/>
          </a:prstGeom>
          <a:noFill/>
          <a:ln/>
        </p:spPr>
        <p:txBody>
          <a:bodyPr wrap="square" lIns="0" tIns="0" rIns="0" bIns="0" rtlCol="0" anchor="ctr"/>
          <a:lstStyle/>
          <a:p>
            <a:pPr indent="0" marL="0">
              <a:buNone/>
            </a:pPr>
            <a:r>
              <a:rPr lang="en-US" sz="1000" b="1" spc="200" kern="0" dirty="0">
                <a:solidFill>
                  <a:schemeClr val="accent6"/>
                </a:solidFill>
              </a:rPr>
              <a:t>STEP 1 OF 5: ELIGIBILITY</a:t>
            </a:r>
            <a:endParaRPr lang="en-US" sz="1000" dirty="0"/>
          </a:p>
        </p:txBody>
      </p:sp>
      <p:sp>
        <p:nvSpPr>
          <p:cNvPr id="5" name="Text 0"/>
          <p:cNvSpPr/>
          <p:nvPr>
            <p:ph idx="100" type="title" hasCustomPrompt="1"/>
          </p:nvPr>
        </p:nvSpPr>
        <p:spPr>
          <a:xfrm>
            <a:off x="4617720" y="685800"/>
            <a:ext cx="4069080" cy="100584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One application to join and apply</a:t>
            </a:r>
            <a:endParaRPr lang="en-US" sz="2400" dirty="0"/>
          </a:p>
        </p:txBody>
      </p:sp>
      <p:sp>
        <p:nvSpPr>
          <p:cNvPr id="6" name="Point 1"/>
          <p:cNvSpPr/>
          <p:nvPr/>
        </p:nvSpPr>
        <p:spPr>
          <a:xfrm>
            <a:off x="4617720" y="1911096"/>
            <a:ext cx="310896" cy="310896"/>
          </a:xfrm>
          <a:prstGeom prst="ellipse">
            <a:avLst/>
          </a:prstGeom>
          <a:solidFill>
            <a:schemeClr val="accent2"/>
          </a:solidFill>
          <a:ln w="12700">
            <a:solidFill>
              <a:schemeClr val="accent2"/>
            </a:solidFill>
            <a:prstDash val="solid"/>
          </a:ln>
        </p:spPr>
      </p:sp>
      <p:sp>
        <p:nvSpPr>
          <p:cNvPr id="7" name="Text 4"/>
          <p:cNvSpPr txBox="1"/>
          <p:nvPr/>
        </p:nvSpPr>
        <p:spPr>
          <a:xfrm>
            <a:off x="4617720" y="191109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5"/>
          <p:cNvSpPr txBox="1"/>
          <p:nvPr/>
        </p:nvSpPr>
        <p:spPr>
          <a:xfrm>
            <a:off x="5074920" y="1874520"/>
            <a:ext cx="3611880" cy="685800"/>
          </a:xfrm>
          <a:prstGeom prst="rect">
            <a:avLst/>
          </a:prstGeom>
          <a:noFill/>
          <a:ln/>
        </p:spPr>
        <p:txBody>
          <a:bodyPr wrap="square" lIns="0" tIns="0" rIns="0" bIns="0" rtlCol="0" anchor="t"/>
          <a:lstStyle/>
          <a:p>
            <a:pPr indent="0" marL="0">
              <a:buNone/>
            </a:pPr>
            <a:r>
              <a:rPr lang="en-US" sz="1500" dirty="0">
                <a:solidFill>
                  <a:schemeClr val="tx1"/>
                </a:solidFill>
              </a:rPr>
              <a:t>Five steps with progress the member can see</a:t>
            </a:r>
            <a:endParaRPr lang="en-US" sz="1500" dirty="0"/>
          </a:p>
        </p:txBody>
      </p:sp>
      <p:sp>
        <p:nvSpPr>
          <p:cNvPr id="9" name="Point 2"/>
          <p:cNvSpPr/>
          <p:nvPr/>
        </p:nvSpPr>
        <p:spPr>
          <a:xfrm>
            <a:off x="4617720" y="2752344"/>
            <a:ext cx="310896" cy="310896"/>
          </a:xfrm>
          <a:prstGeom prst="ellipse">
            <a:avLst/>
          </a:prstGeom>
          <a:solidFill>
            <a:schemeClr val="accent2"/>
          </a:solidFill>
          <a:ln w="12700">
            <a:solidFill>
              <a:schemeClr val="accent2"/>
            </a:solidFill>
            <a:prstDash val="solid"/>
          </a:ln>
        </p:spPr>
      </p:sp>
      <p:sp>
        <p:nvSpPr>
          <p:cNvPr id="10" name="Text 7"/>
          <p:cNvSpPr txBox="1"/>
          <p:nvPr/>
        </p:nvSpPr>
        <p:spPr>
          <a:xfrm>
            <a:off x="4617720" y="275234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8"/>
          <p:cNvSpPr txBox="1"/>
          <p:nvPr/>
        </p:nvSpPr>
        <p:spPr>
          <a:xfrm>
            <a:off x="5074920" y="2715768"/>
            <a:ext cx="3611880" cy="685800"/>
          </a:xfrm>
          <a:prstGeom prst="rect">
            <a:avLst/>
          </a:prstGeom>
          <a:noFill/>
          <a:ln/>
        </p:spPr>
        <p:txBody>
          <a:bodyPr wrap="square" lIns="0" tIns="0" rIns="0" bIns="0" rtlCol="0" anchor="t"/>
          <a:lstStyle/>
          <a:p>
            <a:pPr indent="0" marL="0">
              <a:buNone/>
            </a:pPr>
            <a:r>
              <a:rPr lang="en-US" sz="1500" dirty="0">
                <a:solidFill>
                  <a:schemeClr val="tx1"/>
                </a:solidFill>
              </a:rPr>
              <a:t>Eligibility comes first, before any personal data</a:t>
            </a:r>
            <a:endParaRPr lang="en-US" sz="1500" dirty="0"/>
          </a:p>
        </p:txBody>
      </p:sp>
      <p:sp>
        <p:nvSpPr>
          <p:cNvPr id="12" name="Point 3"/>
          <p:cNvSpPr/>
          <p:nvPr/>
        </p:nvSpPr>
        <p:spPr>
          <a:xfrm>
            <a:off x="4617720" y="3593592"/>
            <a:ext cx="310896" cy="310896"/>
          </a:xfrm>
          <a:prstGeom prst="ellipse">
            <a:avLst/>
          </a:prstGeom>
          <a:solidFill>
            <a:schemeClr val="accent2"/>
          </a:solidFill>
          <a:ln w="12700">
            <a:solidFill>
              <a:schemeClr val="accent2"/>
            </a:solidFill>
            <a:prstDash val="solid"/>
          </a:ln>
        </p:spPr>
      </p:sp>
      <p:sp>
        <p:nvSpPr>
          <p:cNvPr id="13" name="Text 10"/>
          <p:cNvSpPr txBox="1"/>
          <p:nvPr/>
        </p:nvSpPr>
        <p:spPr>
          <a:xfrm>
            <a:off x="4617720" y="359359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11"/>
          <p:cNvSpPr txBox="1"/>
          <p:nvPr/>
        </p:nvSpPr>
        <p:spPr>
          <a:xfrm>
            <a:off x="5074920" y="3557016"/>
            <a:ext cx="3611880" cy="685800"/>
          </a:xfrm>
          <a:prstGeom prst="rect">
            <a:avLst/>
          </a:prstGeom>
          <a:noFill/>
          <a:ln/>
        </p:spPr>
        <p:txBody>
          <a:bodyPr wrap="square" lIns="0" tIns="0" rIns="0" bIns="0" rtlCol="0" anchor="t"/>
          <a:lstStyle/>
          <a:p>
            <a:pPr indent="0" marL="0">
              <a:buNone/>
            </a:pPr>
            <a:r>
              <a:rPr lang="en-US" sz="1500" dirty="0">
                <a:solidFill>
                  <a:schemeClr val="tx1"/>
                </a:solidFill>
              </a:rPr>
              <a:t>“None of these” stops the application politely</a:t>
            </a:r>
            <a:endParaRPr lang="en-US" sz="15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creenshot frame"/>
          <p:cNvSpPr/>
          <p:nvPr/>
        </p:nvSpPr>
        <p:spPr>
          <a:xfrm>
            <a:off x="347472" y="274320"/>
            <a:ext cx="4558981" cy="4379976"/>
          </a:xfrm>
          <a:prstGeom prst="roundRect">
            <a:avLst>
              <a:gd name="adj" fmla="val 2088"/>
            </a:avLst>
          </a:prstGeom>
          <a:solidFill>
            <a:schemeClr val="bg2"/>
          </a:solidFill>
          <a:ln w="12700">
            <a:solidFill>
              <a:schemeClr val="accent5"/>
            </a:solidFill>
            <a:prstDash val="solid"/>
          </a:ln>
        </p:spPr>
      </p:sp>
      <p:pic>
        <p:nvPicPr>
          <p:cNvPr id="3" name="Screenshot 04-step1-eligible.jpg" descr="Family or household member of Lauren Bailey">    </p:cNvPr>
          <p:cNvPicPr>
            <a:picLocks noChangeAspect="1"/>
          </p:cNvPicPr>
          <p:nvPr/>
        </p:nvPicPr>
        <p:blipFill>
          <a:blip r:embed="rId1"/>
          <a:stretch>
            <a:fillRect/>
          </a:stretch>
        </p:blipFill>
        <p:spPr>
          <a:xfrm>
            <a:off x="457200" y="384048"/>
            <a:ext cx="4339525" cy="4160520"/>
          </a:xfrm>
          <a:prstGeom prst="rect">
            <a:avLst/>
          </a:prstGeom>
        </p:spPr>
      </p:pic>
      <p:sp>
        <p:nvSpPr>
          <p:cNvPr id="4" name="Text 1"/>
          <p:cNvSpPr txBox="1"/>
          <p:nvPr/>
        </p:nvSpPr>
        <p:spPr>
          <a:xfrm>
            <a:off x="4617720" y="320040"/>
            <a:ext cx="4069080" cy="274320"/>
          </a:xfrm>
          <a:prstGeom prst="rect">
            <a:avLst/>
          </a:prstGeom>
          <a:noFill/>
          <a:ln/>
        </p:spPr>
        <p:txBody>
          <a:bodyPr wrap="square" lIns="0" tIns="0" rIns="0" bIns="0" rtlCol="0" anchor="ctr"/>
          <a:lstStyle/>
          <a:p>
            <a:pPr indent="0" marL="0">
              <a:buNone/>
            </a:pPr>
            <a:r>
              <a:rPr lang="en-US" sz="1000" b="1" spc="200" kern="0" dirty="0">
                <a:solidFill>
                  <a:schemeClr val="accent6"/>
                </a:solidFill>
              </a:rPr>
              <a:t>FAMILY OR HOUSEHOLD MEMBER OF LAUREN BAILEY</a:t>
            </a:r>
            <a:endParaRPr lang="en-US" sz="1000" dirty="0"/>
          </a:p>
        </p:txBody>
      </p:sp>
      <p:sp>
        <p:nvSpPr>
          <p:cNvPr id="5" name="Text 0"/>
          <p:cNvSpPr/>
          <p:nvPr>
            <p:ph idx="100" type="title" hasCustomPrompt="1"/>
          </p:nvPr>
        </p:nvSpPr>
        <p:spPr>
          <a:xfrm>
            <a:off x="4617720" y="685800"/>
            <a:ext cx="4069080" cy="100584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Household eligibility grows membership</a:t>
            </a:r>
            <a:endParaRPr lang="en-US" sz="2400" dirty="0"/>
          </a:p>
        </p:txBody>
      </p:sp>
      <p:sp>
        <p:nvSpPr>
          <p:cNvPr id="6" name="Point 1"/>
          <p:cNvSpPr/>
          <p:nvPr/>
        </p:nvSpPr>
        <p:spPr>
          <a:xfrm>
            <a:off x="4617720" y="1911096"/>
            <a:ext cx="310896" cy="310896"/>
          </a:xfrm>
          <a:prstGeom prst="ellipse">
            <a:avLst/>
          </a:prstGeom>
          <a:solidFill>
            <a:schemeClr val="accent2"/>
          </a:solidFill>
          <a:ln w="12700">
            <a:solidFill>
              <a:schemeClr val="accent2"/>
            </a:solidFill>
            <a:prstDash val="solid"/>
          </a:ln>
        </p:spPr>
      </p:sp>
      <p:sp>
        <p:nvSpPr>
          <p:cNvPr id="7" name="Text 4"/>
          <p:cNvSpPr txBox="1"/>
          <p:nvPr/>
        </p:nvSpPr>
        <p:spPr>
          <a:xfrm>
            <a:off x="4617720" y="191109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5"/>
          <p:cNvSpPr txBox="1"/>
          <p:nvPr/>
        </p:nvSpPr>
        <p:spPr>
          <a:xfrm>
            <a:off x="5074920" y="1874520"/>
            <a:ext cx="3611880" cy="685800"/>
          </a:xfrm>
          <a:prstGeom prst="rect">
            <a:avLst/>
          </a:prstGeom>
          <a:noFill/>
          <a:ln/>
        </p:spPr>
        <p:txBody>
          <a:bodyPr wrap="square" lIns="0" tIns="0" rIns="0" bIns="0" rtlCol="0" anchor="t"/>
          <a:lstStyle/>
          <a:p>
            <a:pPr indent="0" marL="0">
              <a:buNone/>
            </a:pPr>
            <a:r>
              <a:rPr lang="en-US" sz="1500" dirty="0">
                <a:solidFill>
                  <a:schemeClr val="tx1"/>
                </a:solidFill>
              </a:rPr>
              <a:t>Ethan qualifies through Lauren Bailey</a:t>
            </a:r>
            <a:endParaRPr lang="en-US" sz="1500" dirty="0"/>
          </a:p>
        </p:txBody>
      </p:sp>
      <p:sp>
        <p:nvSpPr>
          <p:cNvPr id="9" name="Point 2"/>
          <p:cNvSpPr/>
          <p:nvPr/>
        </p:nvSpPr>
        <p:spPr>
          <a:xfrm>
            <a:off x="4617720" y="2752344"/>
            <a:ext cx="310896" cy="310896"/>
          </a:xfrm>
          <a:prstGeom prst="ellipse">
            <a:avLst/>
          </a:prstGeom>
          <a:solidFill>
            <a:schemeClr val="accent2"/>
          </a:solidFill>
          <a:ln w="12700">
            <a:solidFill>
              <a:schemeClr val="accent2"/>
            </a:solidFill>
            <a:prstDash val="solid"/>
          </a:ln>
        </p:spPr>
      </p:sp>
      <p:sp>
        <p:nvSpPr>
          <p:cNvPr id="10" name="Text 7"/>
          <p:cNvSpPr txBox="1"/>
          <p:nvPr/>
        </p:nvSpPr>
        <p:spPr>
          <a:xfrm>
            <a:off x="4617720" y="275234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8"/>
          <p:cNvSpPr txBox="1"/>
          <p:nvPr/>
        </p:nvSpPr>
        <p:spPr>
          <a:xfrm>
            <a:off x="5074920" y="2715768"/>
            <a:ext cx="3611880" cy="685800"/>
          </a:xfrm>
          <a:prstGeom prst="rect">
            <a:avLst/>
          </a:prstGeom>
          <a:noFill/>
          <a:ln/>
        </p:spPr>
        <p:txBody>
          <a:bodyPr wrap="square" lIns="0" tIns="0" rIns="0" bIns="0" rtlCol="0" anchor="t"/>
          <a:lstStyle/>
          <a:p>
            <a:pPr indent="0" marL="0">
              <a:buNone/>
            </a:pPr>
            <a:r>
              <a:rPr lang="en-US" sz="1500" dirty="0">
                <a:solidFill>
                  <a:schemeClr val="tx1"/>
                </a:solidFill>
              </a:rPr>
              <a:t>Confirmed on the spot: “You’re eligible to join”</a:t>
            </a:r>
            <a:endParaRPr lang="en-US" sz="1500" dirty="0"/>
          </a:p>
        </p:txBody>
      </p:sp>
      <p:sp>
        <p:nvSpPr>
          <p:cNvPr id="12" name="Point 3"/>
          <p:cNvSpPr/>
          <p:nvPr/>
        </p:nvSpPr>
        <p:spPr>
          <a:xfrm>
            <a:off x="4617720" y="3593592"/>
            <a:ext cx="310896" cy="310896"/>
          </a:xfrm>
          <a:prstGeom prst="ellipse">
            <a:avLst/>
          </a:prstGeom>
          <a:solidFill>
            <a:schemeClr val="accent2"/>
          </a:solidFill>
          <a:ln w="12700">
            <a:solidFill>
              <a:schemeClr val="accent2"/>
            </a:solidFill>
            <a:prstDash val="solid"/>
          </a:ln>
        </p:spPr>
      </p:sp>
      <p:sp>
        <p:nvSpPr>
          <p:cNvPr id="13" name="Text 10"/>
          <p:cNvSpPr txBox="1"/>
          <p:nvPr/>
        </p:nvSpPr>
        <p:spPr>
          <a:xfrm>
            <a:off x="4617720" y="359359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11"/>
          <p:cNvSpPr txBox="1"/>
          <p:nvPr/>
        </p:nvSpPr>
        <p:spPr>
          <a:xfrm>
            <a:off x="5074920" y="3557016"/>
            <a:ext cx="3611880" cy="685800"/>
          </a:xfrm>
          <a:prstGeom prst="rect">
            <a:avLst/>
          </a:prstGeom>
          <a:noFill/>
          <a:ln/>
        </p:spPr>
        <p:txBody>
          <a:bodyPr wrap="square" lIns="0" tIns="0" rIns="0" bIns="0" rtlCol="0" anchor="t"/>
          <a:lstStyle/>
          <a:p>
            <a:pPr indent="0" marL="0">
              <a:buNone/>
            </a:pPr>
            <a:r>
              <a:rPr lang="en-US" sz="1500" dirty="0">
                <a:solidFill>
                  <a:schemeClr val="tx1"/>
                </a:solidFill>
              </a:rPr>
              <a:t>Existing members become the path to new ones</a:t>
            </a:r>
            <a:endParaRPr lang="en-US" sz="15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creenshot frame"/>
          <p:cNvSpPr/>
          <p:nvPr/>
        </p:nvSpPr>
        <p:spPr>
          <a:xfrm>
            <a:off x="347472" y="274320"/>
            <a:ext cx="4558981" cy="4379976"/>
          </a:xfrm>
          <a:prstGeom prst="roundRect">
            <a:avLst>
              <a:gd name="adj" fmla="val 2088"/>
            </a:avLst>
          </a:prstGeom>
          <a:solidFill>
            <a:schemeClr val="bg2"/>
          </a:solidFill>
          <a:ln w="12700">
            <a:solidFill>
              <a:schemeClr val="accent5"/>
            </a:solidFill>
            <a:prstDash val="solid"/>
          </a:ln>
        </p:spPr>
      </p:sp>
      <p:pic>
        <p:nvPicPr>
          <p:cNvPr id="3" name="Screenshot 05-step2-about.jpg" descr="Step 2 of 5: About you">    </p:cNvPr>
          <p:cNvPicPr>
            <a:picLocks noChangeAspect="1"/>
          </p:cNvPicPr>
          <p:nvPr/>
        </p:nvPicPr>
        <p:blipFill>
          <a:blip r:embed="rId1"/>
          <a:stretch>
            <a:fillRect/>
          </a:stretch>
        </p:blipFill>
        <p:spPr>
          <a:xfrm>
            <a:off x="457200" y="384048"/>
            <a:ext cx="4339525" cy="4160520"/>
          </a:xfrm>
          <a:prstGeom prst="rect">
            <a:avLst/>
          </a:prstGeom>
        </p:spPr>
      </p:pic>
      <p:sp>
        <p:nvSpPr>
          <p:cNvPr id="4" name="Text 1"/>
          <p:cNvSpPr txBox="1"/>
          <p:nvPr/>
        </p:nvSpPr>
        <p:spPr>
          <a:xfrm>
            <a:off x="4617720" y="320040"/>
            <a:ext cx="4069080" cy="274320"/>
          </a:xfrm>
          <a:prstGeom prst="rect">
            <a:avLst/>
          </a:prstGeom>
          <a:noFill/>
          <a:ln/>
        </p:spPr>
        <p:txBody>
          <a:bodyPr wrap="square" lIns="0" tIns="0" rIns="0" bIns="0" rtlCol="0" anchor="ctr"/>
          <a:lstStyle/>
          <a:p>
            <a:pPr indent="0" marL="0">
              <a:buNone/>
            </a:pPr>
            <a:r>
              <a:rPr lang="en-US" sz="1000" b="1" spc="200" kern="0" dirty="0">
                <a:solidFill>
                  <a:schemeClr val="accent6"/>
                </a:solidFill>
              </a:rPr>
              <a:t>STEP 2 OF 5: ABOUT YOU</a:t>
            </a:r>
            <a:endParaRPr lang="en-US" sz="1000" dirty="0"/>
          </a:p>
        </p:txBody>
      </p:sp>
      <p:sp>
        <p:nvSpPr>
          <p:cNvPr id="5" name="Text 0"/>
          <p:cNvSpPr/>
          <p:nvPr>
            <p:ph idx="100" type="title" hasCustomPrompt="1"/>
          </p:nvPr>
        </p:nvSpPr>
        <p:spPr>
          <a:xfrm>
            <a:off x="4617720" y="685800"/>
            <a:ext cx="4069080" cy="100584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About you, captured once</a:t>
            </a:r>
            <a:endParaRPr lang="en-US" sz="2400" dirty="0"/>
          </a:p>
        </p:txBody>
      </p:sp>
      <p:sp>
        <p:nvSpPr>
          <p:cNvPr id="6" name="Point 1"/>
          <p:cNvSpPr/>
          <p:nvPr/>
        </p:nvSpPr>
        <p:spPr>
          <a:xfrm>
            <a:off x="4617720" y="1911096"/>
            <a:ext cx="310896" cy="310896"/>
          </a:xfrm>
          <a:prstGeom prst="ellipse">
            <a:avLst/>
          </a:prstGeom>
          <a:solidFill>
            <a:schemeClr val="accent2"/>
          </a:solidFill>
          <a:ln w="12700">
            <a:solidFill>
              <a:schemeClr val="accent2"/>
            </a:solidFill>
            <a:prstDash val="solid"/>
          </a:ln>
        </p:spPr>
      </p:sp>
      <p:sp>
        <p:nvSpPr>
          <p:cNvPr id="7" name="Text 4"/>
          <p:cNvSpPr txBox="1"/>
          <p:nvPr/>
        </p:nvSpPr>
        <p:spPr>
          <a:xfrm>
            <a:off x="4617720" y="191109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5"/>
          <p:cNvSpPr txBox="1"/>
          <p:nvPr/>
        </p:nvSpPr>
        <p:spPr>
          <a:xfrm>
            <a:off x="5074920" y="1874520"/>
            <a:ext cx="3611880" cy="685800"/>
          </a:xfrm>
          <a:prstGeom prst="rect">
            <a:avLst/>
          </a:prstGeom>
          <a:noFill/>
          <a:ln/>
        </p:spPr>
        <p:txBody>
          <a:bodyPr wrap="square" lIns="0" tIns="0" rIns="0" bIns="0" rtlCol="0" anchor="t"/>
          <a:lstStyle/>
          <a:p>
            <a:pPr indent="0" marL="0">
              <a:buNone/>
            </a:pPr>
            <a:r>
              <a:rPr lang="en-US" sz="1500" dirty="0">
                <a:solidFill>
                  <a:schemeClr val="tx1"/>
                </a:solidFill>
              </a:rPr>
              <a:t>Name, contact, date of birth, address, citizenship</a:t>
            </a:r>
            <a:endParaRPr lang="en-US" sz="1500" dirty="0"/>
          </a:p>
        </p:txBody>
      </p:sp>
      <p:sp>
        <p:nvSpPr>
          <p:cNvPr id="9" name="Point 2"/>
          <p:cNvSpPr/>
          <p:nvPr/>
        </p:nvSpPr>
        <p:spPr>
          <a:xfrm>
            <a:off x="4617720" y="2752344"/>
            <a:ext cx="310896" cy="310896"/>
          </a:xfrm>
          <a:prstGeom prst="ellipse">
            <a:avLst/>
          </a:prstGeom>
          <a:solidFill>
            <a:schemeClr val="accent2"/>
          </a:solidFill>
          <a:ln w="12700">
            <a:solidFill>
              <a:schemeClr val="accent2"/>
            </a:solidFill>
            <a:prstDash val="solid"/>
          </a:ln>
        </p:spPr>
      </p:sp>
      <p:sp>
        <p:nvSpPr>
          <p:cNvPr id="10" name="Text 7"/>
          <p:cNvSpPr txBox="1"/>
          <p:nvPr/>
        </p:nvSpPr>
        <p:spPr>
          <a:xfrm>
            <a:off x="4617720" y="275234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8"/>
          <p:cNvSpPr txBox="1"/>
          <p:nvPr/>
        </p:nvSpPr>
        <p:spPr>
          <a:xfrm>
            <a:off x="5074920" y="2715768"/>
            <a:ext cx="3611880" cy="685800"/>
          </a:xfrm>
          <a:prstGeom prst="rect">
            <a:avLst/>
          </a:prstGeom>
          <a:noFill/>
          <a:ln/>
        </p:spPr>
        <p:txBody>
          <a:bodyPr wrap="square" lIns="0" tIns="0" rIns="0" bIns="0" rtlCol="0" anchor="t"/>
          <a:lstStyle/>
          <a:p>
            <a:pPr indent="0" marL="0">
              <a:buNone/>
            </a:pPr>
            <a:r>
              <a:rPr lang="en-US" sz="1500" dirty="0">
                <a:solidFill>
                  <a:schemeClr val="tx1"/>
                </a:solidFill>
              </a:rPr>
              <a:t>SSN masked on screen and stored encrypted</a:t>
            </a:r>
            <a:endParaRPr lang="en-US" sz="1500" dirty="0"/>
          </a:p>
        </p:txBody>
      </p:sp>
      <p:sp>
        <p:nvSpPr>
          <p:cNvPr id="12" name="Point 3"/>
          <p:cNvSpPr/>
          <p:nvPr/>
        </p:nvSpPr>
        <p:spPr>
          <a:xfrm>
            <a:off x="4617720" y="3593592"/>
            <a:ext cx="310896" cy="310896"/>
          </a:xfrm>
          <a:prstGeom prst="ellipse">
            <a:avLst/>
          </a:prstGeom>
          <a:solidFill>
            <a:schemeClr val="accent2"/>
          </a:solidFill>
          <a:ln w="12700">
            <a:solidFill>
              <a:schemeClr val="accent2"/>
            </a:solidFill>
            <a:prstDash val="solid"/>
          </a:ln>
        </p:spPr>
      </p:sp>
      <p:sp>
        <p:nvSpPr>
          <p:cNvPr id="13" name="Text 10"/>
          <p:cNvSpPr txBox="1"/>
          <p:nvPr/>
        </p:nvSpPr>
        <p:spPr>
          <a:xfrm>
            <a:off x="4617720" y="359359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11"/>
          <p:cNvSpPr txBox="1"/>
          <p:nvPr/>
        </p:nvSpPr>
        <p:spPr>
          <a:xfrm>
            <a:off x="5074920" y="3557016"/>
            <a:ext cx="3611880" cy="685800"/>
          </a:xfrm>
          <a:prstGeom prst="rect">
            <a:avLst/>
          </a:prstGeom>
          <a:noFill/>
          <a:ln/>
        </p:spPr>
        <p:txBody>
          <a:bodyPr wrap="square" lIns="0" tIns="0" rIns="0" bIns="0" rtlCol="0" anchor="t"/>
          <a:lstStyle/>
          <a:p>
            <a:pPr indent="0" marL="0">
              <a:buNone/>
            </a:pPr>
            <a:r>
              <a:rPr lang="en-US" sz="1500" dirty="0">
                <a:solidFill>
                  <a:schemeClr val="tx1"/>
                </a:solidFill>
              </a:rPr>
              <a:t>Becomes the member record and the application</a:t>
            </a:r>
            <a:endParaRPr lang="en-US" sz="15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creenshot frame"/>
          <p:cNvSpPr/>
          <p:nvPr/>
        </p:nvSpPr>
        <p:spPr>
          <a:xfrm>
            <a:off x="347472" y="274320"/>
            <a:ext cx="4558981" cy="4379976"/>
          </a:xfrm>
          <a:prstGeom prst="roundRect">
            <a:avLst>
              <a:gd name="adj" fmla="val 2088"/>
            </a:avLst>
          </a:prstGeom>
          <a:solidFill>
            <a:schemeClr val="bg2"/>
          </a:solidFill>
          <a:ln w="12700">
            <a:solidFill>
              <a:schemeClr val="accent5"/>
            </a:solidFill>
            <a:prstDash val="solid"/>
          </a:ln>
        </p:spPr>
      </p:sp>
      <p:pic>
        <p:nvPicPr>
          <p:cNvPr id="3" name="Screenshot 06-step3-documents.jpg" descr="Step 3 of 5: Documents">    </p:cNvPr>
          <p:cNvPicPr>
            <a:picLocks noChangeAspect="1"/>
          </p:cNvPicPr>
          <p:nvPr/>
        </p:nvPicPr>
        <p:blipFill>
          <a:blip r:embed="rId1"/>
          <a:stretch>
            <a:fillRect/>
          </a:stretch>
        </p:blipFill>
        <p:spPr>
          <a:xfrm>
            <a:off x="457200" y="384048"/>
            <a:ext cx="4339525" cy="4160520"/>
          </a:xfrm>
          <a:prstGeom prst="rect">
            <a:avLst/>
          </a:prstGeom>
        </p:spPr>
      </p:pic>
      <p:sp>
        <p:nvSpPr>
          <p:cNvPr id="4" name="Text 1"/>
          <p:cNvSpPr txBox="1"/>
          <p:nvPr/>
        </p:nvSpPr>
        <p:spPr>
          <a:xfrm>
            <a:off x="4617720" y="320040"/>
            <a:ext cx="4069080" cy="274320"/>
          </a:xfrm>
          <a:prstGeom prst="rect">
            <a:avLst/>
          </a:prstGeom>
          <a:noFill/>
          <a:ln/>
        </p:spPr>
        <p:txBody>
          <a:bodyPr wrap="square" lIns="0" tIns="0" rIns="0" bIns="0" rtlCol="0" anchor="ctr"/>
          <a:lstStyle/>
          <a:p>
            <a:pPr indent="0" marL="0">
              <a:buNone/>
            </a:pPr>
            <a:r>
              <a:rPr lang="en-US" sz="1000" b="1" spc="200" kern="0" dirty="0">
                <a:solidFill>
                  <a:schemeClr val="accent6"/>
                </a:solidFill>
              </a:rPr>
              <a:t>STEP 3 OF 5: DOCUMENTS</a:t>
            </a:r>
            <a:endParaRPr lang="en-US" sz="1000" dirty="0"/>
          </a:p>
        </p:txBody>
      </p:sp>
      <p:sp>
        <p:nvSpPr>
          <p:cNvPr id="5" name="Text 0"/>
          <p:cNvSpPr/>
          <p:nvPr>
            <p:ph idx="100" type="title" hasCustomPrompt="1"/>
          </p:nvPr>
        </p:nvSpPr>
        <p:spPr>
          <a:xfrm>
            <a:off x="4617720" y="685800"/>
            <a:ext cx="4069080" cy="100584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Documents up front, not by email later</a:t>
            </a:r>
            <a:endParaRPr lang="en-US" sz="2400" dirty="0"/>
          </a:p>
        </p:txBody>
      </p:sp>
      <p:sp>
        <p:nvSpPr>
          <p:cNvPr id="6" name="Point 1"/>
          <p:cNvSpPr/>
          <p:nvPr/>
        </p:nvSpPr>
        <p:spPr>
          <a:xfrm>
            <a:off x="4617720" y="1911096"/>
            <a:ext cx="310896" cy="310896"/>
          </a:xfrm>
          <a:prstGeom prst="ellipse">
            <a:avLst/>
          </a:prstGeom>
          <a:solidFill>
            <a:schemeClr val="accent2"/>
          </a:solidFill>
          <a:ln w="12700">
            <a:solidFill>
              <a:schemeClr val="accent2"/>
            </a:solidFill>
            <a:prstDash val="solid"/>
          </a:ln>
        </p:spPr>
      </p:sp>
      <p:sp>
        <p:nvSpPr>
          <p:cNvPr id="7" name="Text 4"/>
          <p:cNvSpPr txBox="1"/>
          <p:nvPr/>
        </p:nvSpPr>
        <p:spPr>
          <a:xfrm>
            <a:off x="4617720" y="191109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5"/>
          <p:cNvSpPr txBox="1"/>
          <p:nvPr/>
        </p:nvSpPr>
        <p:spPr>
          <a:xfrm>
            <a:off x="5074920" y="1874520"/>
            <a:ext cx="3611880" cy="685800"/>
          </a:xfrm>
          <a:prstGeom prst="rect">
            <a:avLst/>
          </a:prstGeom>
          <a:noFill/>
          <a:ln/>
        </p:spPr>
        <p:txBody>
          <a:bodyPr wrap="square" lIns="0" tIns="0" rIns="0" bIns="0" rtlCol="0" anchor="t"/>
          <a:lstStyle/>
          <a:p>
            <a:pPr indent="0" marL="0">
              <a:buNone/>
            </a:pPr>
            <a:r>
              <a:rPr lang="en-US" sz="1500" dirty="0">
                <a:solidFill>
                  <a:schemeClr val="tx1"/>
                </a:solidFill>
              </a:rPr>
              <a:t>Photo ID required, proof of eligibility recommended</a:t>
            </a:r>
            <a:endParaRPr lang="en-US" sz="1500" dirty="0"/>
          </a:p>
        </p:txBody>
      </p:sp>
      <p:sp>
        <p:nvSpPr>
          <p:cNvPr id="9" name="Point 2"/>
          <p:cNvSpPr/>
          <p:nvPr/>
        </p:nvSpPr>
        <p:spPr>
          <a:xfrm>
            <a:off x="4617720" y="2752344"/>
            <a:ext cx="310896" cy="310896"/>
          </a:xfrm>
          <a:prstGeom prst="ellipse">
            <a:avLst/>
          </a:prstGeom>
          <a:solidFill>
            <a:schemeClr val="accent2"/>
          </a:solidFill>
          <a:ln w="12700">
            <a:solidFill>
              <a:schemeClr val="accent2"/>
            </a:solidFill>
            <a:prstDash val="solid"/>
          </a:ln>
        </p:spPr>
      </p:sp>
      <p:sp>
        <p:nvSpPr>
          <p:cNvPr id="10" name="Text 7"/>
          <p:cNvSpPr txBox="1"/>
          <p:nvPr/>
        </p:nvSpPr>
        <p:spPr>
          <a:xfrm>
            <a:off x="4617720" y="275234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8"/>
          <p:cNvSpPr txBox="1"/>
          <p:nvPr/>
        </p:nvSpPr>
        <p:spPr>
          <a:xfrm>
            <a:off x="5074920" y="2715768"/>
            <a:ext cx="3611880" cy="685800"/>
          </a:xfrm>
          <a:prstGeom prst="rect">
            <a:avLst/>
          </a:prstGeom>
          <a:noFill/>
          <a:ln/>
        </p:spPr>
        <p:txBody>
          <a:bodyPr wrap="square" lIns="0" tIns="0" rIns="0" bIns="0" rtlCol="0" anchor="t"/>
          <a:lstStyle/>
          <a:p>
            <a:pPr indent="0" marL="0">
              <a:buNone/>
            </a:pPr>
            <a:r>
              <a:rPr lang="en-US" sz="1500" dirty="0">
                <a:solidFill>
                  <a:schemeClr val="tx1"/>
                </a:solidFill>
              </a:rPr>
              <a:t>Attached to the case automatically</a:t>
            </a:r>
            <a:endParaRPr lang="en-US" sz="1500" dirty="0"/>
          </a:p>
        </p:txBody>
      </p:sp>
      <p:sp>
        <p:nvSpPr>
          <p:cNvPr id="12" name="Point 3"/>
          <p:cNvSpPr/>
          <p:nvPr/>
        </p:nvSpPr>
        <p:spPr>
          <a:xfrm>
            <a:off x="4617720" y="3593592"/>
            <a:ext cx="310896" cy="310896"/>
          </a:xfrm>
          <a:prstGeom prst="ellipse">
            <a:avLst/>
          </a:prstGeom>
          <a:solidFill>
            <a:schemeClr val="accent2"/>
          </a:solidFill>
          <a:ln w="12700">
            <a:solidFill>
              <a:schemeClr val="accent2"/>
            </a:solidFill>
            <a:prstDash val="solid"/>
          </a:ln>
        </p:spPr>
      </p:sp>
      <p:sp>
        <p:nvSpPr>
          <p:cNvPr id="13" name="Text 10"/>
          <p:cNvSpPr txBox="1"/>
          <p:nvPr/>
        </p:nvSpPr>
        <p:spPr>
          <a:xfrm>
            <a:off x="4617720" y="359359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11"/>
          <p:cNvSpPr txBox="1"/>
          <p:nvPr/>
        </p:nvSpPr>
        <p:spPr>
          <a:xfrm>
            <a:off x="5074920" y="3557016"/>
            <a:ext cx="3611880" cy="685800"/>
          </a:xfrm>
          <a:prstGeom prst="rect">
            <a:avLst/>
          </a:prstGeom>
          <a:noFill/>
          <a:ln/>
        </p:spPr>
        <p:txBody>
          <a:bodyPr wrap="square" lIns="0" tIns="0" rIns="0" bIns="0" rtlCol="0" anchor="t"/>
          <a:lstStyle/>
          <a:p>
            <a:pPr indent="0" marL="0">
              <a:buNone/>
            </a:pPr>
            <a:r>
              <a:rPr lang="en-US" sz="1500" dirty="0">
                <a:solidFill>
                  <a:schemeClr val="tx1"/>
                </a:solidFill>
              </a:rPr>
              <a:t>Verify Identity finds them without searching</a:t>
            </a:r>
            <a:endParaRPr lang="en-US" sz="15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creenshot frame"/>
          <p:cNvSpPr/>
          <p:nvPr/>
        </p:nvSpPr>
        <p:spPr>
          <a:xfrm>
            <a:off x="347472" y="274320"/>
            <a:ext cx="4558981" cy="4379976"/>
          </a:xfrm>
          <a:prstGeom prst="roundRect">
            <a:avLst>
              <a:gd name="adj" fmla="val 2088"/>
            </a:avLst>
          </a:prstGeom>
          <a:solidFill>
            <a:schemeClr val="bg2"/>
          </a:solidFill>
          <a:ln w="12700">
            <a:solidFill>
              <a:schemeClr val="accent5"/>
            </a:solidFill>
            <a:prstDash val="solid"/>
          </a:ln>
        </p:spPr>
      </p:sp>
      <p:pic>
        <p:nvPicPr>
          <p:cNvPr id="3" name="Screenshot 07-step4-product.jpg" descr="Step 4 of 5: Membership and product">    </p:cNvPr>
          <p:cNvPicPr>
            <a:picLocks noChangeAspect="1"/>
          </p:cNvPicPr>
          <p:nvPr/>
        </p:nvPicPr>
        <p:blipFill>
          <a:blip r:embed="rId1"/>
          <a:stretch>
            <a:fillRect/>
          </a:stretch>
        </p:blipFill>
        <p:spPr>
          <a:xfrm>
            <a:off x="457200" y="384048"/>
            <a:ext cx="4339525" cy="4160520"/>
          </a:xfrm>
          <a:prstGeom prst="rect">
            <a:avLst/>
          </a:prstGeom>
        </p:spPr>
      </p:pic>
      <p:sp>
        <p:nvSpPr>
          <p:cNvPr id="4" name="Text 1"/>
          <p:cNvSpPr txBox="1"/>
          <p:nvPr/>
        </p:nvSpPr>
        <p:spPr>
          <a:xfrm>
            <a:off x="4617720" y="320040"/>
            <a:ext cx="4069080" cy="274320"/>
          </a:xfrm>
          <a:prstGeom prst="rect">
            <a:avLst/>
          </a:prstGeom>
          <a:noFill/>
          <a:ln/>
        </p:spPr>
        <p:txBody>
          <a:bodyPr wrap="square" lIns="0" tIns="0" rIns="0" bIns="0" rtlCol="0" anchor="ctr"/>
          <a:lstStyle/>
          <a:p>
            <a:pPr indent="0" marL="0">
              <a:buNone/>
            </a:pPr>
            <a:r>
              <a:rPr lang="en-US" sz="1000" b="1" spc="200" kern="0" dirty="0">
                <a:solidFill>
                  <a:schemeClr val="accent6"/>
                </a:solidFill>
              </a:rPr>
              <a:t>STEP 4 OF 5: MEMBERSHIP AND PRODUCT</a:t>
            </a:r>
            <a:endParaRPr lang="en-US" sz="1000" dirty="0"/>
          </a:p>
        </p:txBody>
      </p:sp>
      <p:sp>
        <p:nvSpPr>
          <p:cNvPr id="5" name="Text 0"/>
          <p:cNvSpPr/>
          <p:nvPr>
            <p:ph idx="100" type="title" hasCustomPrompt="1"/>
          </p:nvPr>
        </p:nvSpPr>
        <p:spPr>
          <a:xfrm>
            <a:off x="4617720" y="685800"/>
            <a:ext cx="4069080" cy="100584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Membership and a product, together</a:t>
            </a:r>
            <a:endParaRPr lang="en-US" sz="2400" dirty="0"/>
          </a:p>
        </p:txBody>
      </p:sp>
      <p:sp>
        <p:nvSpPr>
          <p:cNvPr id="6" name="Point 1"/>
          <p:cNvSpPr/>
          <p:nvPr/>
        </p:nvSpPr>
        <p:spPr>
          <a:xfrm>
            <a:off x="4617720" y="1911096"/>
            <a:ext cx="310896" cy="310896"/>
          </a:xfrm>
          <a:prstGeom prst="ellipse">
            <a:avLst/>
          </a:prstGeom>
          <a:solidFill>
            <a:schemeClr val="accent2"/>
          </a:solidFill>
          <a:ln w="12700">
            <a:solidFill>
              <a:schemeClr val="accent2"/>
            </a:solidFill>
            <a:prstDash val="solid"/>
          </a:ln>
        </p:spPr>
      </p:sp>
      <p:sp>
        <p:nvSpPr>
          <p:cNvPr id="7" name="Text 4"/>
          <p:cNvSpPr txBox="1"/>
          <p:nvPr/>
        </p:nvSpPr>
        <p:spPr>
          <a:xfrm>
            <a:off x="4617720" y="191109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5"/>
          <p:cNvSpPr txBox="1"/>
          <p:nvPr/>
        </p:nvSpPr>
        <p:spPr>
          <a:xfrm>
            <a:off x="5074920" y="1874520"/>
            <a:ext cx="3611880" cy="685800"/>
          </a:xfrm>
          <a:prstGeom prst="rect">
            <a:avLst/>
          </a:prstGeom>
          <a:noFill/>
          <a:ln/>
        </p:spPr>
        <p:txBody>
          <a:bodyPr wrap="square" lIns="0" tIns="0" rIns="0" bIns="0" rtlCol="0" anchor="t"/>
          <a:lstStyle/>
          <a:p>
            <a:pPr indent="0" marL="0">
              <a:buNone/>
            </a:pPr>
            <a:r>
              <a:rPr lang="en-US" sz="1500" dirty="0">
                <a:solidFill>
                  <a:schemeClr val="tx1"/>
                </a:solidFill>
              </a:rPr>
              <a:t>Membership Savings Account always included</a:t>
            </a:r>
            <a:endParaRPr lang="en-US" sz="1500" dirty="0"/>
          </a:p>
        </p:txBody>
      </p:sp>
      <p:sp>
        <p:nvSpPr>
          <p:cNvPr id="9" name="Point 2"/>
          <p:cNvSpPr/>
          <p:nvPr/>
        </p:nvSpPr>
        <p:spPr>
          <a:xfrm>
            <a:off x="4617720" y="2752344"/>
            <a:ext cx="310896" cy="310896"/>
          </a:xfrm>
          <a:prstGeom prst="ellipse">
            <a:avLst/>
          </a:prstGeom>
          <a:solidFill>
            <a:schemeClr val="accent2"/>
          </a:solidFill>
          <a:ln w="12700">
            <a:solidFill>
              <a:schemeClr val="accent2"/>
            </a:solidFill>
            <a:prstDash val="solid"/>
          </a:ln>
        </p:spPr>
      </p:sp>
      <p:sp>
        <p:nvSpPr>
          <p:cNvPr id="10" name="Text 7"/>
          <p:cNvSpPr txBox="1"/>
          <p:nvPr/>
        </p:nvSpPr>
        <p:spPr>
          <a:xfrm>
            <a:off x="4617720" y="275234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8"/>
          <p:cNvSpPr txBox="1"/>
          <p:nvPr/>
        </p:nvSpPr>
        <p:spPr>
          <a:xfrm>
            <a:off x="5074920" y="2715768"/>
            <a:ext cx="3611880" cy="685800"/>
          </a:xfrm>
          <a:prstGeom prst="rect">
            <a:avLst/>
          </a:prstGeom>
          <a:noFill/>
          <a:ln/>
        </p:spPr>
        <p:txBody>
          <a:bodyPr wrap="square" lIns="0" tIns="0" rIns="0" bIns="0" rtlCol="0" anchor="t"/>
          <a:lstStyle/>
          <a:p>
            <a:pPr indent="0" marL="0">
              <a:buNone/>
            </a:pPr>
            <a:r>
              <a:rPr lang="en-US" sz="1500" dirty="0">
                <a:solidFill>
                  <a:schemeClr val="tx1"/>
                </a:solidFill>
              </a:rPr>
              <a:t>Add a card or checking in the same flow</a:t>
            </a:r>
            <a:endParaRPr lang="en-US" sz="1500" dirty="0"/>
          </a:p>
        </p:txBody>
      </p:sp>
      <p:sp>
        <p:nvSpPr>
          <p:cNvPr id="12" name="Point 3"/>
          <p:cNvSpPr/>
          <p:nvPr/>
        </p:nvSpPr>
        <p:spPr>
          <a:xfrm>
            <a:off x="4617720" y="3593592"/>
            <a:ext cx="310896" cy="310896"/>
          </a:xfrm>
          <a:prstGeom prst="ellipse">
            <a:avLst/>
          </a:prstGeom>
          <a:solidFill>
            <a:schemeClr val="accent2"/>
          </a:solidFill>
          <a:ln w="12700">
            <a:solidFill>
              <a:schemeClr val="accent2"/>
            </a:solidFill>
            <a:prstDash val="solid"/>
          </a:ln>
        </p:spPr>
      </p:sp>
      <p:sp>
        <p:nvSpPr>
          <p:cNvPr id="13" name="Text 10"/>
          <p:cNvSpPr txBox="1"/>
          <p:nvPr/>
        </p:nvSpPr>
        <p:spPr>
          <a:xfrm>
            <a:off x="4617720" y="359359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11"/>
          <p:cNvSpPr txBox="1"/>
          <p:nvPr/>
        </p:nvSpPr>
        <p:spPr>
          <a:xfrm>
            <a:off x="5074920" y="3557016"/>
            <a:ext cx="3611880" cy="685800"/>
          </a:xfrm>
          <a:prstGeom prst="rect">
            <a:avLst/>
          </a:prstGeom>
          <a:noFill/>
          <a:ln/>
        </p:spPr>
        <p:txBody>
          <a:bodyPr wrap="square" lIns="0" tIns="0" rIns="0" bIns="0" rtlCol="0" anchor="t"/>
          <a:lstStyle/>
          <a:p>
            <a:pPr indent="0" marL="0">
              <a:buNone/>
            </a:pPr>
            <a:r>
              <a:rPr lang="en-US" sz="1500" dirty="0">
                <a:solidFill>
                  <a:schemeClr val="tx1"/>
                </a:solidFill>
              </a:rPr>
              <a:t>Funding method captured for account opening</a:t>
            </a:r>
            <a:endParaRPr lang="en-US" sz="15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creenshot frame"/>
          <p:cNvSpPr/>
          <p:nvPr/>
        </p:nvSpPr>
        <p:spPr>
          <a:xfrm>
            <a:off x="347472" y="274320"/>
            <a:ext cx="4558981" cy="4379976"/>
          </a:xfrm>
          <a:prstGeom prst="roundRect">
            <a:avLst>
              <a:gd name="adj" fmla="val 2088"/>
            </a:avLst>
          </a:prstGeom>
          <a:solidFill>
            <a:schemeClr val="bg2"/>
          </a:solidFill>
          <a:ln w="12700">
            <a:solidFill>
              <a:schemeClr val="accent5"/>
            </a:solidFill>
            <a:prstDash val="solid"/>
          </a:ln>
        </p:spPr>
      </p:sp>
      <p:pic>
        <p:nvPicPr>
          <p:cNvPr id="3" name="Screenshot 08-step5-review.jpg" descr="Step 5 of 5: Review and submit">    </p:cNvPr>
          <p:cNvPicPr>
            <a:picLocks noChangeAspect="1"/>
          </p:cNvPicPr>
          <p:nvPr/>
        </p:nvPicPr>
        <p:blipFill>
          <a:blip r:embed="rId1"/>
          <a:stretch>
            <a:fillRect/>
          </a:stretch>
        </p:blipFill>
        <p:spPr>
          <a:xfrm>
            <a:off x="457200" y="384048"/>
            <a:ext cx="4339525" cy="4160520"/>
          </a:xfrm>
          <a:prstGeom prst="rect">
            <a:avLst/>
          </a:prstGeom>
        </p:spPr>
      </p:pic>
      <p:sp>
        <p:nvSpPr>
          <p:cNvPr id="4" name="Text 1"/>
          <p:cNvSpPr txBox="1"/>
          <p:nvPr/>
        </p:nvSpPr>
        <p:spPr>
          <a:xfrm>
            <a:off x="4617720" y="320040"/>
            <a:ext cx="4069080" cy="274320"/>
          </a:xfrm>
          <a:prstGeom prst="rect">
            <a:avLst/>
          </a:prstGeom>
          <a:noFill/>
          <a:ln/>
        </p:spPr>
        <p:txBody>
          <a:bodyPr wrap="square" lIns="0" tIns="0" rIns="0" bIns="0" rtlCol="0" anchor="ctr"/>
          <a:lstStyle/>
          <a:p>
            <a:pPr indent="0" marL="0">
              <a:buNone/>
            </a:pPr>
            <a:r>
              <a:rPr lang="en-US" sz="1000" b="1" spc="200" kern="0" dirty="0">
                <a:solidFill>
                  <a:schemeClr val="accent6"/>
                </a:solidFill>
              </a:rPr>
              <a:t>STEP 5 OF 5: REVIEW AND SUBMIT</a:t>
            </a:r>
            <a:endParaRPr lang="en-US" sz="1000" dirty="0"/>
          </a:p>
        </p:txBody>
      </p:sp>
      <p:sp>
        <p:nvSpPr>
          <p:cNvPr id="5" name="Text 0"/>
          <p:cNvSpPr/>
          <p:nvPr>
            <p:ph idx="100" type="title" hasCustomPrompt="1"/>
          </p:nvPr>
        </p:nvSpPr>
        <p:spPr>
          <a:xfrm>
            <a:off x="4617720" y="685800"/>
            <a:ext cx="4069080" cy="100584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Review, certify, submit</a:t>
            </a:r>
            <a:endParaRPr lang="en-US" sz="2400" dirty="0"/>
          </a:p>
        </p:txBody>
      </p:sp>
      <p:sp>
        <p:nvSpPr>
          <p:cNvPr id="6" name="Point 1"/>
          <p:cNvSpPr/>
          <p:nvPr/>
        </p:nvSpPr>
        <p:spPr>
          <a:xfrm>
            <a:off x="4617720" y="1911096"/>
            <a:ext cx="310896" cy="310896"/>
          </a:xfrm>
          <a:prstGeom prst="ellipse">
            <a:avLst/>
          </a:prstGeom>
          <a:solidFill>
            <a:schemeClr val="accent2"/>
          </a:solidFill>
          <a:ln w="12700">
            <a:solidFill>
              <a:schemeClr val="accent2"/>
            </a:solidFill>
            <a:prstDash val="solid"/>
          </a:ln>
        </p:spPr>
      </p:sp>
      <p:sp>
        <p:nvSpPr>
          <p:cNvPr id="7" name="Text 4"/>
          <p:cNvSpPr txBox="1"/>
          <p:nvPr/>
        </p:nvSpPr>
        <p:spPr>
          <a:xfrm>
            <a:off x="4617720" y="191109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5"/>
          <p:cNvSpPr txBox="1"/>
          <p:nvPr/>
        </p:nvSpPr>
        <p:spPr>
          <a:xfrm>
            <a:off x="5074920" y="1874520"/>
            <a:ext cx="3611880" cy="685800"/>
          </a:xfrm>
          <a:prstGeom prst="rect">
            <a:avLst/>
          </a:prstGeom>
          <a:noFill/>
          <a:ln/>
        </p:spPr>
        <p:txBody>
          <a:bodyPr wrap="square" lIns="0" tIns="0" rIns="0" bIns="0" rtlCol="0" anchor="t"/>
          <a:lstStyle/>
          <a:p>
            <a:pPr indent="0" marL="0">
              <a:buNone/>
            </a:pPr>
            <a:r>
              <a:rPr lang="en-US" sz="1500" dirty="0">
                <a:solidFill>
                  <a:schemeClr val="tx1"/>
                </a:solidFill>
              </a:rPr>
              <a:t>Everything on one screen with Edit links</a:t>
            </a:r>
            <a:endParaRPr lang="en-US" sz="1500" dirty="0"/>
          </a:p>
        </p:txBody>
      </p:sp>
      <p:sp>
        <p:nvSpPr>
          <p:cNvPr id="9" name="Point 2"/>
          <p:cNvSpPr/>
          <p:nvPr/>
        </p:nvSpPr>
        <p:spPr>
          <a:xfrm>
            <a:off x="4617720" y="2752344"/>
            <a:ext cx="310896" cy="310896"/>
          </a:xfrm>
          <a:prstGeom prst="ellipse">
            <a:avLst/>
          </a:prstGeom>
          <a:solidFill>
            <a:schemeClr val="accent2"/>
          </a:solidFill>
          <a:ln w="12700">
            <a:solidFill>
              <a:schemeClr val="accent2"/>
            </a:solidFill>
            <a:prstDash val="solid"/>
          </a:ln>
        </p:spPr>
      </p:sp>
      <p:sp>
        <p:nvSpPr>
          <p:cNvPr id="10" name="Text 7"/>
          <p:cNvSpPr txBox="1"/>
          <p:nvPr/>
        </p:nvSpPr>
        <p:spPr>
          <a:xfrm>
            <a:off x="4617720" y="275234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8"/>
          <p:cNvSpPr txBox="1"/>
          <p:nvPr/>
        </p:nvSpPr>
        <p:spPr>
          <a:xfrm>
            <a:off x="5074920" y="2715768"/>
            <a:ext cx="3611880" cy="685800"/>
          </a:xfrm>
          <a:prstGeom prst="rect">
            <a:avLst/>
          </a:prstGeom>
          <a:noFill/>
          <a:ln/>
        </p:spPr>
        <p:txBody>
          <a:bodyPr wrap="square" lIns="0" tIns="0" rIns="0" bIns="0" rtlCol="0" anchor="t"/>
          <a:lstStyle/>
          <a:p>
            <a:pPr indent="0" marL="0">
              <a:buNone/>
            </a:pPr>
            <a:r>
              <a:rPr lang="en-US" sz="1500" dirty="0">
                <a:solidFill>
                  <a:schemeClr val="tx1"/>
                </a:solidFill>
              </a:rPr>
              <a:t>SSN shows only the last four digits</a:t>
            </a:r>
            <a:endParaRPr lang="en-US" sz="1500" dirty="0"/>
          </a:p>
        </p:txBody>
      </p:sp>
      <p:sp>
        <p:nvSpPr>
          <p:cNvPr id="12" name="Point 3"/>
          <p:cNvSpPr/>
          <p:nvPr/>
        </p:nvSpPr>
        <p:spPr>
          <a:xfrm>
            <a:off x="4617720" y="3593592"/>
            <a:ext cx="310896" cy="310896"/>
          </a:xfrm>
          <a:prstGeom prst="ellipse">
            <a:avLst/>
          </a:prstGeom>
          <a:solidFill>
            <a:schemeClr val="accent2"/>
          </a:solidFill>
          <a:ln w="12700">
            <a:solidFill>
              <a:schemeClr val="accent2"/>
            </a:solidFill>
            <a:prstDash val="solid"/>
          </a:ln>
        </p:spPr>
      </p:sp>
      <p:sp>
        <p:nvSpPr>
          <p:cNvPr id="13" name="Text 10"/>
          <p:cNvSpPr txBox="1"/>
          <p:nvPr/>
        </p:nvSpPr>
        <p:spPr>
          <a:xfrm>
            <a:off x="4617720" y="359359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11"/>
          <p:cNvSpPr txBox="1"/>
          <p:nvPr/>
        </p:nvSpPr>
        <p:spPr>
          <a:xfrm>
            <a:off x="5074920" y="3557016"/>
            <a:ext cx="3611880" cy="685800"/>
          </a:xfrm>
          <a:prstGeom prst="rect">
            <a:avLst/>
          </a:prstGeom>
          <a:noFill/>
          <a:ln/>
        </p:spPr>
        <p:txBody>
          <a:bodyPr wrap="square" lIns="0" tIns="0" rIns="0" bIns="0" rtlCol="0" anchor="t"/>
          <a:lstStyle/>
          <a:p>
            <a:pPr indent="0" marL="0">
              <a:buNone/>
            </a:pPr>
            <a:r>
              <a:rPr lang="en-US" sz="1500" dirty="0">
                <a:solidFill>
                  <a:schemeClr val="tx1"/>
                </a:solidFill>
              </a:rPr>
              <a:t>Certification before submit</a:t>
            </a:r>
            <a:endParaRPr lang="en-US" sz="15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creenshot frame"/>
          <p:cNvSpPr/>
          <p:nvPr/>
        </p:nvSpPr>
        <p:spPr>
          <a:xfrm>
            <a:off x="347472" y="274320"/>
            <a:ext cx="4558981" cy="4379976"/>
          </a:xfrm>
          <a:prstGeom prst="roundRect">
            <a:avLst>
              <a:gd name="adj" fmla="val 2088"/>
            </a:avLst>
          </a:prstGeom>
          <a:solidFill>
            <a:schemeClr val="bg2"/>
          </a:solidFill>
          <a:ln w="12700">
            <a:solidFill>
              <a:schemeClr val="accent5"/>
            </a:solidFill>
            <a:prstDash val="solid"/>
          </a:ln>
        </p:spPr>
      </p:sp>
      <p:pic>
        <p:nvPicPr>
          <p:cNvPr id="3" name="Screenshot 09-success.jpg" descr="Case 00005787 · APP-00081 · AF-00033">    </p:cNvPr>
          <p:cNvPicPr>
            <a:picLocks noChangeAspect="1"/>
          </p:cNvPicPr>
          <p:nvPr/>
        </p:nvPicPr>
        <p:blipFill>
          <a:blip r:embed="rId1"/>
          <a:stretch>
            <a:fillRect/>
          </a:stretch>
        </p:blipFill>
        <p:spPr>
          <a:xfrm>
            <a:off x="457200" y="384048"/>
            <a:ext cx="4339525" cy="4160520"/>
          </a:xfrm>
          <a:prstGeom prst="rect">
            <a:avLst/>
          </a:prstGeom>
        </p:spPr>
      </p:pic>
      <p:sp>
        <p:nvSpPr>
          <p:cNvPr id="4" name="Text 1"/>
          <p:cNvSpPr txBox="1"/>
          <p:nvPr/>
        </p:nvSpPr>
        <p:spPr>
          <a:xfrm>
            <a:off x="4617720" y="320040"/>
            <a:ext cx="4069080" cy="274320"/>
          </a:xfrm>
          <a:prstGeom prst="rect">
            <a:avLst/>
          </a:prstGeom>
          <a:noFill/>
          <a:ln/>
        </p:spPr>
        <p:txBody>
          <a:bodyPr wrap="square" lIns="0" tIns="0" rIns="0" bIns="0" rtlCol="0" anchor="ctr"/>
          <a:lstStyle/>
          <a:p>
            <a:pPr indent="0" marL="0">
              <a:buNone/>
            </a:pPr>
            <a:r>
              <a:rPr lang="en-US" sz="1000" b="1" spc="200" kern="0" dirty="0">
                <a:solidFill>
                  <a:schemeClr val="accent6"/>
                </a:solidFill>
              </a:rPr>
              <a:t>CASE 00005787 · APP-00081 · AF-00033</a:t>
            </a:r>
            <a:endParaRPr lang="en-US" sz="1000" dirty="0"/>
          </a:p>
        </p:txBody>
      </p:sp>
      <p:sp>
        <p:nvSpPr>
          <p:cNvPr id="5" name="Text 0"/>
          <p:cNvSpPr/>
          <p:nvPr>
            <p:ph idx="100" type="title" hasCustomPrompt="1"/>
          </p:nvPr>
        </p:nvSpPr>
        <p:spPr>
          <a:xfrm>
            <a:off x="4617720" y="685800"/>
            <a:ext cx="4069080" cy="100584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Welcome to Navy Federal</a:t>
            </a:r>
            <a:endParaRPr lang="en-US" sz="2400" dirty="0"/>
          </a:p>
        </p:txBody>
      </p:sp>
      <p:sp>
        <p:nvSpPr>
          <p:cNvPr id="6" name="Point 1"/>
          <p:cNvSpPr/>
          <p:nvPr/>
        </p:nvSpPr>
        <p:spPr>
          <a:xfrm>
            <a:off x="4617720" y="1911096"/>
            <a:ext cx="310896" cy="310896"/>
          </a:xfrm>
          <a:prstGeom prst="ellipse">
            <a:avLst/>
          </a:prstGeom>
          <a:solidFill>
            <a:schemeClr val="accent2"/>
          </a:solidFill>
          <a:ln w="12700">
            <a:solidFill>
              <a:schemeClr val="accent2"/>
            </a:solidFill>
            <a:prstDash val="solid"/>
          </a:ln>
        </p:spPr>
      </p:sp>
      <p:sp>
        <p:nvSpPr>
          <p:cNvPr id="7" name="Text 4"/>
          <p:cNvSpPr txBox="1"/>
          <p:nvPr/>
        </p:nvSpPr>
        <p:spPr>
          <a:xfrm>
            <a:off x="4617720" y="191109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5"/>
          <p:cNvSpPr txBox="1"/>
          <p:nvPr/>
        </p:nvSpPr>
        <p:spPr>
          <a:xfrm>
            <a:off x="5074920" y="1874520"/>
            <a:ext cx="3611880" cy="685800"/>
          </a:xfrm>
          <a:prstGeom prst="rect">
            <a:avLst/>
          </a:prstGeom>
          <a:noFill/>
          <a:ln/>
        </p:spPr>
        <p:txBody>
          <a:bodyPr wrap="square" lIns="0" tIns="0" rIns="0" bIns="0" rtlCol="0" anchor="t"/>
          <a:lstStyle/>
          <a:p>
            <a:pPr indent="0" marL="0">
              <a:buNone/>
            </a:pPr>
            <a:r>
              <a:rPr lang="en-US" sz="1500" dirty="0">
                <a:solidFill>
                  <a:schemeClr val="tx1"/>
                </a:solidFill>
              </a:rPr>
              <a:t>Reference numbers for the member</a:t>
            </a:r>
            <a:endParaRPr lang="en-US" sz="1500" dirty="0"/>
          </a:p>
        </p:txBody>
      </p:sp>
      <p:sp>
        <p:nvSpPr>
          <p:cNvPr id="9" name="Point 2"/>
          <p:cNvSpPr/>
          <p:nvPr/>
        </p:nvSpPr>
        <p:spPr>
          <a:xfrm>
            <a:off x="4617720" y="2752344"/>
            <a:ext cx="310896" cy="310896"/>
          </a:xfrm>
          <a:prstGeom prst="ellipse">
            <a:avLst/>
          </a:prstGeom>
          <a:solidFill>
            <a:schemeClr val="accent2"/>
          </a:solidFill>
          <a:ln w="12700">
            <a:solidFill>
              <a:schemeClr val="accent2"/>
            </a:solidFill>
            <a:prstDash val="solid"/>
          </a:ln>
        </p:spPr>
      </p:sp>
      <p:sp>
        <p:nvSpPr>
          <p:cNvPr id="10" name="Text 7"/>
          <p:cNvSpPr txBox="1"/>
          <p:nvPr/>
        </p:nvSpPr>
        <p:spPr>
          <a:xfrm>
            <a:off x="4617720" y="275234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8"/>
          <p:cNvSpPr txBox="1"/>
          <p:nvPr/>
        </p:nvSpPr>
        <p:spPr>
          <a:xfrm>
            <a:off x="5074920" y="2715768"/>
            <a:ext cx="3611880" cy="685800"/>
          </a:xfrm>
          <a:prstGeom prst="rect">
            <a:avLst/>
          </a:prstGeom>
          <a:noFill/>
          <a:ln/>
        </p:spPr>
        <p:txBody>
          <a:bodyPr wrap="square" lIns="0" tIns="0" rIns="0" bIns="0" rtlCol="0" anchor="t"/>
          <a:lstStyle/>
          <a:p>
            <a:pPr indent="0" marL="0">
              <a:buNone/>
            </a:pPr>
            <a:r>
              <a:rPr lang="en-US" sz="1500" dirty="0">
                <a:solidFill>
                  <a:schemeClr val="tx1"/>
                </a:solidFill>
              </a:rPr>
              <a:t>What happens next, in plain language</a:t>
            </a:r>
            <a:endParaRPr lang="en-US" sz="1500" dirty="0"/>
          </a:p>
        </p:txBody>
      </p:sp>
      <p:sp>
        <p:nvSpPr>
          <p:cNvPr id="12" name="Point 3"/>
          <p:cNvSpPr/>
          <p:nvPr/>
        </p:nvSpPr>
        <p:spPr>
          <a:xfrm>
            <a:off x="4617720" y="3593592"/>
            <a:ext cx="310896" cy="310896"/>
          </a:xfrm>
          <a:prstGeom prst="ellipse">
            <a:avLst/>
          </a:prstGeom>
          <a:solidFill>
            <a:schemeClr val="accent2"/>
          </a:solidFill>
          <a:ln w="12700">
            <a:solidFill>
              <a:schemeClr val="accent2"/>
            </a:solidFill>
            <a:prstDash val="solid"/>
          </a:ln>
        </p:spPr>
      </p:sp>
      <p:sp>
        <p:nvSpPr>
          <p:cNvPr id="13" name="Text 10"/>
          <p:cNvSpPr txBox="1"/>
          <p:nvPr/>
        </p:nvSpPr>
        <p:spPr>
          <a:xfrm>
            <a:off x="4617720" y="359359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11"/>
          <p:cNvSpPr txBox="1"/>
          <p:nvPr/>
        </p:nvSpPr>
        <p:spPr>
          <a:xfrm>
            <a:off x="5074920" y="3557016"/>
            <a:ext cx="3611880" cy="685800"/>
          </a:xfrm>
          <a:prstGeom prst="rect">
            <a:avLst/>
          </a:prstGeom>
          <a:noFill/>
          <a:ln/>
        </p:spPr>
        <p:txBody>
          <a:bodyPr wrap="square" lIns="0" tIns="0" rIns="0" bIns="0" rtlCol="0" anchor="t"/>
          <a:lstStyle/>
          <a:p>
            <a:pPr indent="0" marL="0">
              <a:buNone/>
            </a:pPr>
            <a:r>
              <a:rPr lang="en-US" sz="1500" dirty="0">
                <a:solidFill>
                  <a:schemeClr val="tx1"/>
                </a:solidFill>
              </a:rPr>
              <a:t>Same records your rep opened earlier</a:t>
            </a:r>
            <a:endParaRPr lang="en-US" sz="15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What this means for Navy Federal</a:t>
            </a:r>
            <a:endParaRPr lang="en-US" sz="3000" dirty="0"/>
          </a:p>
        </p:txBody>
      </p:sp>
      <p:sp>
        <p:nvSpPr>
          <p:cNvPr id="3" name="Benefit 1"/>
          <p:cNvSpPr/>
          <p:nvPr/>
        </p:nvSpPr>
        <p:spPr>
          <a:xfrm>
            <a:off x="457200" y="1188720"/>
            <a:ext cx="2606040" cy="1554480"/>
          </a:xfrm>
          <a:prstGeom prst="roundRect">
            <a:avLst>
              <a:gd name="adj" fmla="val 7059"/>
            </a:avLst>
          </a:prstGeom>
          <a:solidFill>
            <a:schemeClr val="bg2"/>
          </a:solidFill>
          <a:ln w="12700">
            <a:solidFill>
              <a:schemeClr val="bg2"/>
            </a:solidFill>
            <a:prstDash val="solid"/>
          </a:ln>
        </p:spPr>
      </p:sp>
      <p:sp>
        <p:nvSpPr>
          <p:cNvPr id="4" name="Benefit 1 marker"/>
          <p:cNvSpPr/>
          <p:nvPr/>
        </p:nvSpPr>
        <p:spPr>
          <a:xfrm>
            <a:off x="640080" y="1371600"/>
            <a:ext cx="329184" cy="329184"/>
          </a:xfrm>
          <a:prstGeom prst="ellipse">
            <a:avLst/>
          </a:prstGeom>
          <a:solidFill>
            <a:schemeClr val="accent2"/>
          </a:solidFill>
          <a:ln w="12700">
            <a:solidFill>
              <a:schemeClr val="accent2"/>
            </a:solidFill>
            <a:prstDash val="solid"/>
          </a:ln>
        </p:spPr>
      </p:sp>
      <p:sp>
        <p:nvSpPr>
          <p:cNvPr id="5" name="Text 3"/>
          <p:cNvSpPr txBox="1"/>
          <p:nvPr/>
        </p:nvSpPr>
        <p:spPr>
          <a:xfrm>
            <a:off x="640080" y="137160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 4"/>
          <p:cNvSpPr txBox="1"/>
          <p:nvPr/>
        </p:nvSpPr>
        <p:spPr>
          <a:xfrm>
            <a:off x="1078992" y="1335024"/>
            <a:ext cx="1874520" cy="411480"/>
          </a:xfrm>
          <a:prstGeom prst="rect">
            <a:avLst/>
          </a:prstGeom>
          <a:noFill/>
          <a:ln/>
        </p:spPr>
        <p:txBody>
          <a:bodyPr wrap="square" lIns="0" tIns="0" rIns="0" bIns="0" rtlCol="0" anchor="ctr"/>
          <a:lstStyle/>
          <a:p>
            <a:pPr indent="0" marL="0">
              <a:buNone/>
            </a:pPr>
            <a:r>
              <a:rPr lang="en-US" sz="1500" b="1" dirty="0">
                <a:solidFill>
                  <a:schemeClr val="tx2"/>
                </a:solidFill>
              </a:rPr>
              <a:t>One application, not two</a:t>
            </a:r>
            <a:endParaRPr lang="en-US" sz="1500" dirty="0"/>
          </a:p>
        </p:txBody>
      </p:sp>
      <p:sp>
        <p:nvSpPr>
          <p:cNvPr id="7" name="Text 5"/>
          <p:cNvSpPr txBox="1"/>
          <p:nvPr/>
        </p:nvSpPr>
        <p:spPr>
          <a:xfrm>
            <a:off x="640080" y="1847088"/>
            <a:ext cx="2286000" cy="822960"/>
          </a:xfrm>
          <a:prstGeom prst="rect">
            <a:avLst/>
          </a:prstGeom>
          <a:noFill/>
          <a:ln/>
        </p:spPr>
        <p:txBody>
          <a:bodyPr wrap="square" lIns="0" tIns="0" rIns="0" bIns="0" rtlCol="0" anchor="t"/>
          <a:lstStyle/>
          <a:p>
            <a:pPr indent="0" marL="0">
              <a:buNone/>
            </a:pPr>
            <a:r>
              <a:rPr lang="en-US" sz="1200" dirty="0">
                <a:solidFill>
                  <a:schemeClr val="tx1"/>
                </a:solidFill>
              </a:rPr>
              <a:t>Joining and applying happen together, so fewer prospects drop off between steps.</a:t>
            </a:r>
            <a:endParaRPr lang="en-US" sz="1200" dirty="0"/>
          </a:p>
        </p:txBody>
      </p:sp>
      <p:sp>
        <p:nvSpPr>
          <p:cNvPr id="8" name="Benefit 2"/>
          <p:cNvSpPr/>
          <p:nvPr/>
        </p:nvSpPr>
        <p:spPr>
          <a:xfrm>
            <a:off x="3246120" y="1188720"/>
            <a:ext cx="2606040" cy="1554480"/>
          </a:xfrm>
          <a:prstGeom prst="roundRect">
            <a:avLst>
              <a:gd name="adj" fmla="val 7059"/>
            </a:avLst>
          </a:prstGeom>
          <a:solidFill>
            <a:schemeClr val="bg2"/>
          </a:solidFill>
          <a:ln w="12700">
            <a:solidFill>
              <a:schemeClr val="bg2"/>
            </a:solidFill>
            <a:prstDash val="solid"/>
          </a:ln>
        </p:spPr>
      </p:sp>
      <p:sp>
        <p:nvSpPr>
          <p:cNvPr id="9" name="Benefit 2 marker"/>
          <p:cNvSpPr/>
          <p:nvPr/>
        </p:nvSpPr>
        <p:spPr>
          <a:xfrm>
            <a:off x="3429000" y="1371600"/>
            <a:ext cx="329184" cy="329184"/>
          </a:xfrm>
          <a:prstGeom prst="ellipse">
            <a:avLst/>
          </a:prstGeom>
          <a:solidFill>
            <a:schemeClr val="accent2"/>
          </a:solidFill>
          <a:ln w="12700">
            <a:solidFill>
              <a:schemeClr val="accent2"/>
            </a:solidFill>
            <a:prstDash val="solid"/>
          </a:ln>
        </p:spPr>
      </p:sp>
      <p:sp>
        <p:nvSpPr>
          <p:cNvPr id="10" name="Text 8"/>
          <p:cNvSpPr txBox="1"/>
          <p:nvPr/>
        </p:nvSpPr>
        <p:spPr>
          <a:xfrm>
            <a:off x="3429000" y="137160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9"/>
          <p:cNvSpPr txBox="1"/>
          <p:nvPr/>
        </p:nvSpPr>
        <p:spPr>
          <a:xfrm>
            <a:off x="3867912" y="1335024"/>
            <a:ext cx="1874520" cy="411480"/>
          </a:xfrm>
          <a:prstGeom prst="rect">
            <a:avLst/>
          </a:prstGeom>
          <a:noFill/>
          <a:ln/>
        </p:spPr>
        <p:txBody>
          <a:bodyPr wrap="square" lIns="0" tIns="0" rIns="0" bIns="0" rtlCol="0" anchor="ctr"/>
          <a:lstStyle/>
          <a:p>
            <a:pPr indent="0" marL="0">
              <a:buNone/>
            </a:pPr>
            <a:r>
              <a:rPr lang="en-US" sz="1500" b="1" dirty="0">
                <a:solidFill>
                  <a:schemeClr val="tx2"/>
                </a:solidFill>
              </a:rPr>
              <a:t>Prospect to member automatically</a:t>
            </a:r>
            <a:endParaRPr lang="en-US" sz="1500" dirty="0"/>
          </a:p>
        </p:txBody>
      </p:sp>
      <p:sp>
        <p:nvSpPr>
          <p:cNvPr id="12" name="Text 10"/>
          <p:cNvSpPr txBox="1"/>
          <p:nvPr/>
        </p:nvSpPr>
        <p:spPr>
          <a:xfrm>
            <a:off x="3429000" y="1847088"/>
            <a:ext cx="2286000" cy="822960"/>
          </a:xfrm>
          <a:prstGeom prst="rect">
            <a:avLst/>
          </a:prstGeom>
          <a:noFill/>
          <a:ln/>
        </p:spPr>
        <p:txBody>
          <a:bodyPr wrap="square" lIns="0" tIns="0" rIns="0" bIns="0" rtlCol="0" anchor="t"/>
          <a:lstStyle/>
          <a:p>
            <a:pPr indent="0" marL="0">
              <a:buNone/>
            </a:pPr>
            <a:r>
              <a:rPr lang="en-US" sz="1200" dirty="0">
                <a:solidFill>
                  <a:schemeClr val="tx1"/>
                </a:solidFill>
              </a:rPr>
              <a:t>The Lead converts to a Person Account, so prospect and member data stay one record.</a:t>
            </a:r>
            <a:endParaRPr lang="en-US" sz="1200" dirty="0"/>
          </a:p>
        </p:txBody>
      </p:sp>
      <p:sp>
        <p:nvSpPr>
          <p:cNvPr id="13" name="Benefit 3"/>
          <p:cNvSpPr/>
          <p:nvPr/>
        </p:nvSpPr>
        <p:spPr>
          <a:xfrm>
            <a:off x="6035040" y="1188720"/>
            <a:ext cx="2606040" cy="1554480"/>
          </a:xfrm>
          <a:prstGeom prst="roundRect">
            <a:avLst>
              <a:gd name="adj" fmla="val 7059"/>
            </a:avLst>
          </a:prstGeom>
          <a:solidFill>
            <a:schemeClr val="bg2"/>
          </a:solidFill>
          <a:ln w="12700">
            <a:solidFill>
              <a:schemeClr val="bg2"/>
            </a:solidFill>
            <a:prstDash val="solid"/>
          </a:ln>
        </p:spPr>
      </p:sp>
      <p:sp>
        <p:nvSpPr>
          <p:cNvPr id="14" name="Benefit 3 marker"/>
          <p:cNvSpPr/>
          <p:nvPr/>
        </p:nvSpPr>
        <p:spPr>
          <a:xfrm>
            <a:off x="6217920" y="1371600"/>
            <a:ext cx="329184" cy="329184"/>
          </a:xfrm>
          <a:prstGeom prst="ellipse">
            <a:avLst/>
          </a:prstGeom>
          <a:solidFill>
            <a:schemeClr val="accent2"/>
          </a:solidFill>
          <a:ln w="12700">
            <a:solidFill>
              <a:schemeClr val="accent2"/>
            </a:solidFill>
            <a:prstDash val="solid"/>
          </a:ln>
        </p:spPr>
      </p:sp>
      <p:sp>
        <p:nvSpPr>
          <p:cNvPr id="15" name="Text 13"/>
          <p:cNvSpPr txBox="1"/>
          <p:nvPr/>
        </p:nvSpPr>
        <p:spPr>
          <a:xfrm>
            <a:off x="6217920" y="137160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Text 14"/>
          <p:cNvSpPr txBox="1"/>
          <p:nvPr/>
        </p:nvSpPr>
        <p:spPr>
          <a:xfrm>
            <a:off x="6656832" y="1335024"/>
            <a:ext cx="1874520" cy="411480"/>
          </a:xfrm>
          <a:prstGeom prst="rect">
            <a:avLst/>
          </a:prstGeom>
          <a:noFill/>
          <a:ln/>
        </p:spPr>
        <p:txBody>
          <a:bodyPr wrap="square" lIns="0" tIns="0" rIns="0" bIns="0" rtlCol="0" anchor="ctr"/>
          <a:lstStyle/>
          <a:p>
            <a:pPr indent="0" marL="0">
              <a:buNone/>
            </a:pPr>
            <a:r>
              <a:rPr lang="en-US" sz="1500" b="1" dirty="0">
                <a:solidFill>
                  <a:schemeClr val="tx2"/>
                </a:solidFill>
              </a:rPr>
              <a:t>Work arrives ready</a:t>
            </a:r>
            <a:endParaRPr lang="en-US" sz="1500" dirty="0"/>
          </a:p>
        </p:txBody>
      </p:sp>
      <p:sp>
        <p:nvSpPr>
          <p:cNvPr id="17" name="Text 15"/>
          <p:cNvSpPr txBox="1"/>
          <p:nvPr/>
        </p:nvSpPr>
        <p:spPr>
          <a:xfrm>
            <a:off x="6217920" y="1847088"/>
            <a:ext cx="2286000" cy="822960"/>
          </a:xfrm>
          <a:prstGeom prst="rect">
            <a:avLst/>
          </a:prstGeom>
          <a:noFill/>
          <a:ln/>
        </p:spPr>
        <p:txBody>
          <a:bodyPr wrap="square" lIns="0" tIns="0" rIns="0" bIns="0" rtlCol="0" anchor="t"/>
          <a:lstStyle/>
          <a:p>
            <a:pPr indent="0" marL="0">
              <a:buNone/>
            </a:pPr>
            <a:r>
              <a:rPr lang="en-US" sz="1200" dirty="0">
                <a:solidFill>
                  <a:schemeClr val="tx1"/>
                </a:solidFill>
              </a:rPr>
              <a:t>The case carries eligibility, the application and documents, with a guided plan for the rep.</a:t>
            </a:r>
            <a:endParaRPr lang="en-US" sz="1200" dirty="0"/>
          </a:p>
        </p:txBody>
      </p:sp>
      <p:sp>
        <p:nvSpPr>
          <p:cNvPr id="18" name="Benefit 4"/>
          <p:cNvSpPr/>
          <p:nvPr/>
        </p:nvSpPr>
        <p:spPr>
          <a:xfrm>
            <a:off x="457200" y="2926080"/>
            <a:ext cx="2606040" cy="1554480"/>
          </a:xfrm>
          <a:prstGeom prst="roundRect">
            <a:avLst>
              <a:gd name="adj" fmla="val 7059"/>
            </a:avLst>
          </a:prstGeom>
          <a:solidFill>
            <a:schemeClr val="bg2"/>
          </a:solidFill>
          <a:ln w="12700">
            <a:solidFill>
              <a:schemeClr val="bg2"/>
            </a:solidFill>
            <a:prstDash val="solid"/>
          </a:ln>
        </p:spPr>
      </p:sp>
      <p:sp>
        <p:nvSpPr>
          <p:cNvPr id="19" name="Benefit 4 marker"/>
          <p:cNvSpPr/>
          <p:nvPr/>
        </p:nvSpPr>
        <p:spPr>
          <a:xfrm>
            <a:off x="640080" y="3108960"/>
            <a:ext cx="329184" cy="329184"/>
          </a:xfrm>
          <a:prstGeom prst="ellipse">
            <a:avLst/>
          </a:prstGeom>
          <a:solidFill>
            <a:schemeClr val="accent2"/>
          </a:solidFill>
          <a:ln w="12700">
            <a:solidFill>
              <a:schemeClr val="accent2"/>
            </a:solidFill>
            <a:prstDash val="solid"/>
          </a:ln>
        </p:spPr>
      </p:sp>
      <p:sp>
        <p:nvSpPr>
          <p:cNvPr id="20" name="Text 18"/>
          <p:cNvSpPr txBox="1"/>
          <p:nvPr/>
        </p:nvSpPr>
        <p:spPr>
          <a:xfrm>
            <a:off x="640080" y="310896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1" name="Text 19"/>
          <p:cNvSpPr txBox="1"/>
          <p:nvPr/>
        </p:nvSpPr>
        <p:spPr>
          <a:xfrm>
            <a:off x="1078992" y="3072384"/>
            <a:ext cx="1874520" cy="411480"/>
          </a:xfrm>
          <a:prstGeom prst="rect">
            <a:avLst/>
          </a:prstGeom>
          <a:noFill/>
          <a:ln/>
        </p:spPr>
        <p:txBody>
          <a:bodyPr wrap="square" lIns="0" tIns="0" rIns="0" bIns="0" rtlCol="0" anchor="ctr"/>
          <a:lstStyle/>
          <a:p>
            <a:pPr indent="0" marL="0">
              <a:buNone/>
            </a:pPr>
            <a:r>
              <a:rPr lang="en-US" sz="1500" b="1" dirty="0">
                <a:solidFill>
                  <a:schemeClr val="tx2"/>
                </a:solidFill>
              </a:rPr>
              <a:t>Faster identity verification</a:t>
            </a:r>
            <a:endParaRPr lang="en-US" sz="1500" dirty="0"/>
          </a:p>
        </p:txBody>
      </p:sp>
      <p:sp>
        <p:nvSpPr>
          <p:cNvPr id="22" name="Text 20"/>
          <p:cNvSpPr txBox="1"/>
          <p:nvPr/>
        </p:nvSpPr>
        <p:spPr>
          <a:xfrm>
            <a:off x="640080" y="3584448"/>
            <a:ext cx="2286000" cy="822960"/>
          </a:xfrm>
          <a:prstGeom prst="rect">
            <a:avLst/>
          </a:prstGeom>
          <a:noFill/>
          <a:ln/>
        </p:spPr>
        <p:txBody>
          <a:bodyPr wrap="square" lIns="0" tIns="0" rIns="0" bIns="0" rtlCol="0" anchor="t"/>
          <a:lstStyle/>
          <a:p>
            <a:pPr indent="0" marL="0">
              <a:buNone/>
            </a:pPr>
            <a:r>
              <a:rPr lang="en-US" sz="1200" dirty="0">
                <a:solidFill>
                  <a:schemeClr val="tx1"/>
                </a:solidFill>
              </a:rPr>
              <a:t>ID and proof of eligibility are on the case before the rep opens it.</a:t>
            </a:r>
            <a:endParaRPr lang="en-US" sz="1200" dirty="0"/>
          </a:p>
        </p:txBody>
      </p:sp>
      <p:sp>
        <p:nvSpPr>
          <p:cNvPr id="23" name="Benefit 5"/>
          <p:cNvSpPr/>
          <p:nvPr/>
        </p:nvSpPr>
        <p:spPr>
          <a:xfrm>
            <a:off x="3246120" y="2926080"/>
            <a:ext cx="2606040" cy="1554480"/>
          </a:xfrm>
          <a:prstGeom prst="roundRect">
            <a:avLst>
              <a:gd name="adj" fmla="val 7059"/>
            </a:avLst>
          </a:prstGeom>
          <a:solidFill>
            <a:schemeClr val="bg2"/>
          </a:solidFill>
          <a:ln w="12700">
            <a:solidFill>
              <a:schemeClr val="bg2"/>
            </a:solidFill>
            <a:prstDash val="solid"/>
          </a:ln>
        </p:spPr>
      </p:sp>
      <p:sp>
        <p:nvSpPr>
          <p:cNvPr id="24" name="Benefit 5 marker"/>
          <p:cNvSpPr/>
          <p:nvPr/>
        </p:nvSpPr>
        <p:spPr>
          <a:xfrm>
            <a:off x="3429000" y="3108960"/>
            <a:ext cx="329184" cy="329184"/>
          </a:xfrm>
          <a:prstGeom prst="ellipse">
            <a:avLst/>
          </a:prstGeom>
          <a:solidFill>
            <a:schemeClr val="accent2"/>
          </a:solidFill>
          <a:ln w="12700">
            <a:solidFill>
              <a:schemeClr val="accent2"/>
            </a:solidFill>
            <a:prstDash val="solid"/>
          </a:ln>
        </p:spPr>
      </p:sp>
      <p:sp>
        <p:nvSpPr>
          <p:cNvPr id="25" name="Text 23"/>
          <p:cNvSpPr txBox="1"/>
          <p:nvPr/>
        </p:nvSpPr>
        <p:spPr>
          <a:xfrm>
            <a:off x="3429000" y="310896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6" name="Text 24"/>
          <p:cNvSpPr txBox="1"/>
          <p:nvPr/>
        </p:nvSpPr>
        <p:spPr>
          <a:xfrm>
            <a:off x="3867912" y="3072384"/>
            <a:ext cx="1874520" cy="411480"/>
          </a:xfrm>
          <a:prstGeom prst="rect">
            <a:avLst/>
          </a:prstGeom>
          <a:noFill/>
          <a:ln/>
        </p:spPr>
        <p:txBody>
          <a:bodyPr wrap="square" lIns="0" tIns="0" rIns="0" bIns="0" rtlCol="0" anchor="ctr"/>
          <a:lstStyle/>
          <a:p>
            <a:pPr indent="0" marL="0">
              <a:buNone/>
            </a:pPr>
            <a:r>
              <a:rPr lang="en-US" sz="1500" b="1" dirty="0">
                <a:solidFill>
                  <a:schemeClr val="tx2"/>
                </a:solidFill>
              </a:rPr>
              <a:t>Household growth</a:t>
            </a:r>
            <a:endParaRPr lang="en-US" sz="1500" dirty="0"/>
          </a:p>
        </p:txBody>
      </p:sp>
      <p:sp>
        <p:nvSpPr>
          <p:cNvPr id="27" name="Text 25"/>
          <p:cNvSpPr txBox="1"/>
          <p:nvPr/>
        </p:nvSpPr>
        <p:spPr>
          <a:xfrm>
            <a:off x="3429000" y="3584448"/>
            <a:ext cx="2286000" cy="822960"/>
          </a:xfrm>
          <a:prstGeom prst="rect">
            <a:avLst/>
          </a:prstGeom>
          <a:noFill/>
          <a:ln/>
        </p:spPr>
        <p:txBody>
          <a:bodyPr wrap="square" lIns="0" tIns="0" rIns="0" bIns="0" rtlCol="0" anchor="t"/>
          <a:lstStyle/>
          <a:p>
            <a:pPr indent="0" marL="0">
              <a:buNone/>
            </a:pPr>
            <a:r>
              <a:rPr lang="en-US" sz="1200" dirty="0">
                <a:solidFill>
                  <a:schemeClr val="tx1"/>
                </a:solidFill>
              </a:rPr>
              <a:t>Members’ families and households can join from the same front door.</a:t>
            </a:r>
            <a:endParaRPr lang="en-US" sz="1200" dirty="0"/>
          </a:p>
        </p:txBody>
      </p:sp>
      <p:sp>
        <p:nvSpPr>
          <p:cNvPr id="28" name="Benefit 6"/>
          <p:cNvSpPr/>
          <p:nvPr/>
        </p:nvSpPr>
        <p:spPr>
          <a:xfrm>
            <a:off x="6035040" y="2926080"/>
            <a:ext cx="2606040" cy="1554480"/>
          </a:xfrm>
          <a:prstGeom prst="roundRect">
            <a:avLst>
              <a:gd name="adj" fmla="val 7059"/>
            </a:avLst>
          </a:prstGeom>
          <a:solidFill>
            <a:schemeClr val="bg2"/>
          </a:solidFill>
          <a:ln w="12700">
            <a:solidFill>
              <a:schemeClr val="bg2"/>
            </a:solidFill>
            <a:prstDash val="solid"/>
          </a:ln>
        </p:spPr>
      </p:sp>
      <p:sp>
        <p:nvSpPr>
          <p:cNvPr id="29" name="Benefit 6 marker"/>
          <p:cNvSpPr/>
          <p:nvPr/>
        </p:nvSpPr>
        <p:spPr>
          <a:xfrm>
            <a:off x="6217920" y="3108960"/>
            <a:ext cx="329184" cy="329184"/>
          </a:xfrm>
          <a:prstGeom prst="ellipse">
            <a:avLst/>
          </a:prstGeom>
          <a:solidFill>
            <a:schemeClr val="accent2"/>
          </a:solidFill>
          <a:ln w="12700">
            <a:solidFill>
              <a:schemeClr val="accent2"/>
            </a:solidFill>
            <a:prstDash val="solid"/>
          </a:ln>
        </p:spPr>
      </p:sp>
      <p:sp>
        <p:nvSpPr>
          <p:cNvPr id="30" name="Text 28"/>
          <p:cNvSpPr txBox="1"/>
          <p:nvPr/>
        </p:nvSpPr>
        <p:spPr>
          <a:xfrm>
            <a:off x="6217920" y="310896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1" name="Text 29"/>
          <p:cNvSpPr txBox="1"/>
          <p:nvPr/>
        </p:nvSpPr>
        <p:spPr>
          <a:xfrm>
            <a:off x="6656832" y="3072384"/>
            <a:ext cx="1874520" cy="411480"/>
          </a:xfrm>
          <a:prstGeom prst="rect">
            <a:avLst/>
          </a:prstGeom>
          <a:noFill/>
          <a:ln/>
        </p:spPr>
        <p:txBody>
          <a:bodyPr wrap="square" lIns="0" tIns="0" rIns="0" bIns="0" rtlCol="0" anchor="ctr"/>
          <a:lstStyle/>
          <a:p>
            <a:pPr indent="0" marL="0">
              <a:buNone/>
            </a:pPr>
            <a:r>
              <a:rPr lang="en-US" sz="1500" b="1" dirty="0">
                <a:solidFill>
                  <a:schemeClr val="tx2"/>
                </a:solidFill>
              </a:rPr>
              <a:t>Secure by design</a:t>
            </a:r>
            <a:endParaRPr lang="en-US" sz="1500" dirty="0"/>
          </a:p>
        </p:txBody>
      </p:sp>
      <p:sp>
        <p:nvSpPr>
          <p:cNvPr id="32" name="Text 30"/>
          <p:cNvSpPr txBox="1"/>
          <p:nvPr/>
        </p:nvSpPr>
        <p:spPr>
          <a:xfrm>
            <a:off x="6217920" y="3584448"/>
            <a:ext cx="2286000" cy="822960"/>
          </a:xfrm>
          <a:prstGeom prst="rect">
            <a:avLst/>
          </a:prstGeom>
          <a:noFill/>
          <a:ln/>
        </p:spPr>
        <p:txBody>
          <a:bodyPr wrap="square" lIns="0" tIns="0" rIns="0" bIns="0" rtlCol="0" anchor="t"/>
          <a:lstStyle/>
          <a:p>
            <a:pPr indent="0" marL="0">
              <a:buNone/>
            </a:pPr>
            <a:r>
              <a:rPr lang="en-US" sz="1200" dirty="0">
                <a:solidFill>
                  <a:schemeClr val="tx1"/>
                </a:solidFill>
              </a:rPr>
              <a:t>SSN masked and encrypted; checks run on the server; guest access limited to this form.</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NFCU Join and Apply">
  <a:themeElements>
    <a:clrScheme name="NFCU Join and Apply">
      <a:dk1>
        <a:srgbClr val="1B2333"/>
      </a:dk1>
      <a:lt1>
        <a:srgbClr val="FFFFFF"/>
      </a:lt1>
      <a:dk2>
        <a:srgbClr val="043370"/>
      </a:dk2>
      <a:lt2>
        <a:srgbClr val="EEF3F9"/>
      </a:lt2>
      <a:accent1>
        <a:srgbClr val="043370"/>
      </a:accent1>
      <a:accent2>
        <a:srgbClr val="ED780F"/>
      </a:accent2>
      <a:accent3>
        <a:srgbClr val="2E7D4F"/>
      </a:accent3>
      <a:accent4>
        <a:srgbClr val="5A6577"/>
      </a:accent4>
      <a:accent5>
        <a:srgbClr val="DBE3EE"/>
      </a:accent5>
      <a:accent6>
        <a:srgbClr val="A64F00"/>
      </a:accent6>
      <a:hlink>
        <a:srgbClr val="043370"/>
      </a:hlink>
      <a:folHlink>
        <a:srgbClr val="5A6577"/>
      </a:folHlink>
    </a:clrScheme>
    <a:fontScheme name="NFCU Join and Appl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NFCU Join and Apply walkthrough</dc:title>
  <dc:subject>PptxGenJS Presentation</dc:subject>
  <dc:creator>Chris McCarthy</dc:creator>
  <cp:lastModifiedBy>Chris McCarthy</cp:lastModifiedBy>
  <cp:revision>1</cp:revision>
  <dcterms:created xsi:type="dcterms:W3CDTF">2026-10-06T20:47:38Z</dcterms:created>
  <dcterms:modified xsi:type="dcterms:W3CDTF">2026-10-06T20:47:38Z</dcterms:modified>
</cp:coreProperties>
</file>