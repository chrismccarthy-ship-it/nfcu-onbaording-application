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69f2f68-8c54-a92a-55c6-d6788f0ce094}">
          <p14:sldIdLst>
            <p14:sldId id="256"/>
          </p14:sldIdLst>
        </p14:section>
        <p14:section name="Run of show" id="{27bc2e8b-b854-4d5f-955e-7b1b93ce77b7}">
          <p14:sldIdLst>
            <p14:sldId id="257"/>
          </p14:sldIdLst>
        </p14:section>
        <p14:section name="Scenes" id="{c76c550b-6d5b-c86e-9359-5a385dc24782}">
          <p14:sldIdLst>
            <p14:sldId id="258"/>
            <p14:sldId id="259"/>
            <p14:sldId id="260"/>
            <p14:sldId id="261"/>
            <p14:sldId id="262"/>
            <p14:sldId id="263"/>
            <p14:sldId id="264"/>
            <p14:sldId id="265"/>
            <p14:sldId id="266"/>
          </p14:sldIdLst>
        </p14:section>
        <p14:section name="Close" id="{1b4e35fe-6619-b858-9b27-a445368e4cae}">
          <p14:sldIdLst>
            <p14:sldId id="267"/>
          </p14:sldIdLst>
        </p14:section>
        <p14:section name="Prep" id="{a3d41f70-2f23-cf19-3420-05cb07ed263c}">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Member portal (Experience Cloud), Lauren signed in.
SAY (0:00–0:10):
"Lauren Bailey is an active-duty Marine moving to Okinawa, with a card application she started and never finished. Here's how Navy Federal closes it in one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430 spoken words at roughly 150 words per minute, landing just under 3:00. Timestamps are targets. Full script is in each slide's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1. Open chat in the portal and ask where the application stands.
2. Ask about eligibility after the PCS move, then which card fits her honeymoon.
3. Give the new APO address; the verification flag comes back.
4. Agent hands off to a member service rep.
SAY (0:10–0:40):
"She opens chat in the member portal. She's signed in, so the Agentforce agent already knows her and her application. It confirms she still qualifies after her PCS move and recommends the Flagship Premier for her honeymoon, grounded in Navy Federal's knowledge. When she updates her address, it calls out through MuleSoft for step-up identity and fraud checks. The change is flagged, so the agent hands her to a rep with the whole conversation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1. Chat and case in the console.
2. Service Assistant summary and plan steps.
SAY (0:40–0:55):
"The chat lands in the rep's console with a case already open. The Service Rep Assistant summarizes it and lays out a plan from Navy Federal's own procedures, so even a newer rep works this case with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1. Action bar step 1: Review Card Application.
2. Both attached files, then Parse application.
3. Metrics row and the address mismatch flag.
SAY (0:55–1:17):
"Review Card Application finds her application and government ID already on the case. One click and Agentforce checks both against membership and card requirements: six of twelve met, what's missing, and an address that differs from her ID. A ten-minute manual review becomes one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1. Step 2: Parse Government ID fills the ID fields.
2. Step 3: Flagship marked “Best fit for you”; Capital One transfer carried over.
3. Second balance and fiancé set to collect; Complete.
SAY (1:17–1:39):
"Complete Card Application picks up from there. Parse Government ID fills her license details, the Flagship Premier is marked best fit, and her Capital One transfer carries over. Her second balance and her fiancé's details are set to collect. One save updates the application in Salesforce, with no rekeying."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1. ID and PCS orders side by side, already on file.
2. Check the confirmation box.
SAY (1:39–1:54):
"Verify Identity puts her ID and PCS orders side by side, already on the case. The rep compares them to her profile and checks the confirmation box, leaving an auditable step-up verification for a member moving overseas."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1. Outstanding items pre-selected; preview.
2. Send: case moves to Waiting on Customer.
3. Point to the checkmarks on the action bar.
SAY (1:54–2:14):
"Email Application Requirements has everything outstanding pre-selected: her fiancé's details and the second balance transfer. Send logs it to the case and sets it to Waiting on Customer. Notice the checkmarks on the action bar: every step is done, and her applicant record updated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1. Persona-based summary posted to the case feed.
SAY (2:14–2:26):
"All of it rolls up into a case summary configured by persona and posted to the case feed, so member services, fraud and lending all work from the same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1. Summary at the top of her reply.
SAY (2:26–2:34):
"When Lauren replies, an email summary tells the rep what's been said at a glance, without reading the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1. Queue backlog, wait times, rep capacity.
2. Omni Supervisor: live chats and a raised flag.
SAY (2:34–2:52):
"Supervisors see it all in Command Center for Service: queue backlogs, wait times and rep capacity, with Omni Supervisor to monitor live chats, answer a raised flag and reassign work. Leaders spot a surge in card applications before members feel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(2:52–3:00):
"One conversation, from a portal chat to a finished application. That's Service Cloud and Agentforce for Navy Federal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indent="0" marL="0">
              <a:buNone/>
              <a:defRPr lang="en-US" sz="4000" b="1" dirty="0">
                <a:solidFill>
                  <a:schemeClr val="bg1"/>
                </a:solidFill>
                <a:latin typeface="Cambria" pitchFamily="34" charset="0"/>
                <a:ea typeface="Cambria" pitchFamily="34" charset="-122"/>
                <a:cs typeface="Cambria" pitchFamily="34" charset="-120"/>
              </a:defRPr>
            </a:lvl1pPr>
          </a:lstStyle>
          <a:p>
            <a:pPr indent="0" marL="0">
              <a:buNone/>
            </a:pPr>
            <a:endParaRPr lang="en-US" sz="4000" dirty="0"/>
          </a:p>
        </p:txBody>
      </p:sp>
      <p:sp>
        <p:nvSpPr>
          <p:cNvPr id="3" name="Text 0"/>
          <p:cNvSpPr/>
          <p:nvPr>
            <p:ph idx="101" type="body" hasCustomPrompt="1"/>
          </p:nvPr>
        </p:nvSpPr>
        <p:spPr>
          <a:xfrm>
            <a:off x="548640" y="2514600"/>
            <a:ext cx="8046720" cy="82296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457200" y="4754880"/>
            <a:ext cx="5486400" cy="228600"/>
          </a:xfrm>
          <a:prstGeom prst="rect">
            <a:avLst/>
          </a:prstGeom>
          <a:noFill/>
          <a:ln/>
        </p:spPr>
        <p:txBody>
          <a:bodyPr wrap="square" lIns="0" tIns="0" rIns="0" bIns="0" rtlCol="0" anchor="ctr"/>
          <a:lstStyle/>
          <a:p>
            <a:pPr indent="0" marL="0">
              <a:buNone/>
            </a:pPr>
            <a:r>
              <a:rPr lang="en-US" sz="900" dirty="0">
                <a:solidFill>
                  <a:schemeClr val="accent4"/>
                </a:solidFill>
              </a:rPr>
              <a:t>NFCU Card Account Opening · 3-minute video talk track</a:t>
            </a:r>
            <a:endParaRPr lang="en-US" sz="9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NFCU Card Account Opening</a:t>
            </a:r>
            <a:endParaRPr lang="en-US" sz="4000" dirty="0"/>
          </a:p>
        </p:txBody>
      </p:sp>
      <p:sp>
        <p:nvSpPr>
          <p:cNvPr id="3" name="Text 0"/>
          <p:cNvSpPr/>
          <p:nvPr>
            <p:ph idx="101" type="body" hasCustomPrompt="1"/>
          </p:nvPr>
        </p:nvSpPr>
        <p:spPr>
          <a:xfrm>
            <a:off x="548640" y="2514600"/>
            <a:ext cx="8046720" cy="822960"/>
          </a:xfrm>
          <a:prstGeom prst="rect">
            <a:avLst/>
          </a:prstGeom>
          <a:noFill/>
          <a:ln/>
        </p:spPr>
        <p:txBody>
          <a:bodyPr wrap="square" lIns="0" tIns="0" rIns="0" bIns="0" rtlCol="0" anchor="t"/>
          <a:lstStyle/>
          <a:p>
            <a:pPr indent="0" marL="0">
              <a:buNone/>
            </a:pPr>
            <a:r>
              <a:rPr lang="en-US" sz="1800" dirty="0">
                <a:solidFill>
                  <a:schemeClr val="accent2"/>
                </a:solidFill>
              </a:rPr>
              <a:t>3-minute demo video · Service Cloud with Agentforce</a:t>
            </a:r>
            <a:endParaRPr lang="en-US" sz="1800" dirty="0"/>
          </a:p>
        </p:txBody>
      </p:sp>
      <p:sp>
        <p:nvSpPr>
          <p:cNvPr id="4" name="Time"/>
          <p:cNvSpPr/>
          <p:nvPr/>
        </p:nvSpPr>
        <p:spPr>
          <a:xfrm>
            <a:off x="548640" y="3566160"/>
            <a:ext cx="1234440" cy="329184"/>
          </a:xfrm>
          <a:prstGeom prst="roundRect">
            <a:avLst>
              <a:gd name="adj" fmla="val 50000"/>
            </a:avLst>
          </a:prstGeom>
          <a:solidFill>
            <a:schemeClr val="accent2"/>
          </a:solidFill>
          <a:ln w="12700">
            <a:solidFill>
              <a:schemeClr val="accent2"/>
            </a:solidFill>
            <a:prstDash val="solid"/>
          </a:ln>
        </p:spPr>
      </p:sp>
      <p:sp>
        <p:nvSpPr>
          <p:cNvPr id="5" name="Text 3"/>
          <p:cNvSpPr txBox="1"/>
          <p:nvPr/>
        </p:nvSpPr>
        <p:spPr>
          <a:xfrm>
            <a:off x="548640" y="356616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0:00–0:10</a:t>
            </a:r>
            <a:endParaRPr lang="en-US" sz="1200" dirty="0"/>
          </a:p>
        </p:txBody>
      </p:sp>
      <p:sp>
        <p:nvSpPr>
          <p:cNvPr id="6" name="Text 4"/>
          <p:cNvSpPr txBox="1"/>
          <p:nvPr/>
        </p:nvSpPr>
        <p:spPr>
          <a:xfrm>
            <a:off x="1965960" y="3520440"/>
            <a:ext cx="6583680" cy="420624"/>
          </a:xfrm>
          <a:prstGeom prst="rect">
            <a:avLst/>
          </a:prstGeom>
          <a:noFill/>
          <a:ln/>
        </p:spPr>
        <p:txBody>
          <a:bodyPr wrap="square" lIns="0" tIns="0" rIns="0" bIns="0" rtlCol="0" anchor="ctr"/>
          <a:lstStyle/>
          <a:p>
            <a:pPr indent="0" marL="0">
              <a:buNone/>
            </a:pPr>
            <a:r>
              <a:rPr lang="en-US" sz="1400" dirty="0">
                <a:solidFill>
                  <a:schemeClr val="accent5"/>
                </a:solidFill>
              </a:rPr>
              <a:t>Opening: Lauren Bailey, active-duty Marine moving to Okinawa, returns to an unfinished card application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Run of show</a:t>
            </a:r>
            <a:endParaRPr lang="en-US" sz="3000" dirty="0"/>
          </a:p>
        </p:txBody>
      </p:sp>
      <p:sp>
        <p:nvSpPr>
          <p:cNvPr id="3" name="Time"/>
          <p:cNvSpPr/>
          <p:nvPr/>
        </p:nvSpPr>
        <p:spPr>
          <a:xfrm>
            <a:off x="7452360" y="502920"/>
            <a:ext cx="1234440" cy="329184"/>
          </a:xfrm>
          <a:prstGeom prst="roundRect">
            <a:avLst>
              <a:gd name="adj" fmla="val 50000"/>
            </a:avLst>
          </a:prstGeom>
          <a:solidFill>
            <a:schemeClr val="accent2"/>
          </a:solidFill>
          <a:ln w="12700">
            <a:solidFill>
              <a:schemeClr val="accent2"/>
            </a:solidFill>
            <a:prstDash val="solid"/>
          </a:ln>
        </p:spPr>
      </p:sp>
      <p:sp>
        <p:nvSpPr>
          <p:cNvPr id="4" name="Time label"/>
          <p:cNvSpPr txBox="1"/>
          <p:nvPr/>
        </p:nvSpPr>
        <p:spPr>
          <a:xfrm>
            <a:off x="7452360" y="50292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3:00 total</a:t>
            </a:r>
            <a:endParaRPr lang="en-US" sz="1200" dirty="0"/>
          </a:p>
        </p:txBody>
      </p:sp>
      <p:sp>
        <p:nvSpPr>
          <p:cNvPr id="5" name="Run 1"/>
          <p:cNvSpPr/>
          <p:nvPr/>
        </p:nvSpPr>
        <p:spPr>
          <a:xfrm>
            <a:off x="457200" y="1234440"/>
            <a:ext cx="3931920" cy="530352"/>
          </a:xfrm>
          <a:prstGeom prst="roundRect">
            <a:avLst>
              <a:gd name="adj" fmla="val 13793"/>
            </a:avLst>
          </a:prstGeom>
          <a:solidFill>
            <a:schemeClr val="bg2"/>
          </a:solidFill>
          <a:ln w="12700">
            <a:solidFill>
              <a:schemeClr val="bg2"/>
            </a:solidFill>
            <a:prstDash val="solid"/>
          </a:ln>
        </p:spPr>
      </p:sp>
      <p:sp>
        <p:nvSpPr>
          <p:cNvPr id="6" name="Step 1"/>
          <p:cNvSpPr/>
          <p:nvPr/>
        </p:nvSpPr>
        <p:spPr>
          <a:xfrm>
            <a:off x="585216" y="1335024"/>
            <a:ext cx="329184" cy="329184"/>
          </a:xfrm>
          <a:prstGeom prst="ellipse">
            <a:avLst/>
          </a:prstGeom>
          <a:solidFill>
            <a:schemeClr val="tx2"/>
          </a:solidFill>
          <a:ln w="12700">
            <a:solidFill>
              <a:schemeClr val="tx2"/>
            </a:solidFill>
            <a:prstDash val="solid"/>
          </a:ln>
        </p:spPr>
      </p:sp>
      <p:sp>
        <p:nvSpPr>
          <p:cNvPr id="7" name="Step 1 number"/>
          <p:cNvSpPr txBox="1"/>
          <p:nvPr/>
        </p:nvSpPr>
        <p:spPr>
          <a:xfrm>
            <a:off x="585216" y="133502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6"/>
          <p:cNvSpPr txBox="1"/>
          <p:nvPr/>
        </p:nvSpPr>
        <p:spPr>
          <a:xfrm>
            <a:off x="1051560" y="1234440"/>
            <a:ext cx="2606040" cy="530352"/>
          </a:xfrm>
          <a:prstGeom prst="rect">
            <a:avLst/>
          </a:prstGeom>
          <a:noFill/>
          <a:ln/>
        </p:spPr>
        <p:txBody>
          <a:bodyPr wrap="square" lIns="0" tIns="0" rIns="0" bIns="0" rtlCol="0" anchor="ctr"/>
          <a:lstStyle/>
          <a:p>
            <a:pPr indent="0" marL="0">
              <a:buNone/>
            </a:pPr>
            <a:r>
              <a:rPr lang="en-US" sz="1400" b="1" dirty="0">
                <a:solidFill>
                  <a:schemeClr val="tx2"/>
                </a:solidFill>
              </a:rPr>
              <a:t>Opening</a:t>
            </a:r>
            <a:endParaRPr lang="en-US" sz="1400" dirty="0"/>
          </a:p>
        </p:txBody>
      </p:sp>
      <p:sp>
        <p:nvSpPr>
          <p:cNvPr id="9" name="Text 7"/>
          <p:cNvSpPr txBox="1"/>
          <p:nvPr/>
        </p:nvSpPr>
        <p:spPr>
          <a:xfrm>
            <a:off x="3703320" y="1234440"/>
            <a:ext cx="548640" cy="530352"/>
          </a:xfrm>
          <a:prstGeom prst="rect">
            <a:avLst/>
          </a:prstGeom>
          <a:noFill/>
          <a:ln/>
        </p:spPr>
        <p:txBody>
          <a:bodyPr wrap="square" lIns="0" tIns="0" rIns="0" bIns="0" rtlCol="0" anchor="ctr"/>
          <a:lstStyle/>
          <a:p>
            <a:pPr algn="r" indent="0" marL="0">
              <a:buNone/>
            </a:pPr>
            <a:r>
              <a:rPr lang="en-US" sz="1300" dirty="0">
                <a:solidFill>
                  <a:schemeClr val="accent4"/>
                </a:solidFill>
              </a:rPr>
              <a:t>0:00</a:t>
            </a:r>
            <a:endParaRPr lang="en-US" sz="1300" dirty="0"/>
          </a:p>
        </p:txBody>
      </p:sp>
      <p:sp>
        <p:nvSpPr>
          <p:cNvPr id="10" name="Run 2"/>
          <p:cNvSpPr/>
          <p:nvPr/>
        </p:nvSpPr>
        <p:spPr>
          <a:xfrm>
            <a:off x="457200" y="1892808"/>
            <a:ext cx="3931920" cy="530352"/>
          </a:xfrm>
          <a:prstGeom prst="roundRect">
            <a:avLst>
              <a:gd name="adj" fmla="val 13793"/>
            </a:avLst>
          </a:prstGeom>
          <a:solidFill>
            <a:schemeClr val="bg2"/>
          </a:solidFill>
          <a:ln w="12700">
            <a:solidFill>
              <a:schemeClr val="bg2"/>
            </a:solidFill>
            <a:prstDash val="solid"/>
          </a:ln>
        </p:spPr>
      </p:sp>
      <p:sp>
        <p:nvSpPr>
          <p:cNvPr id="11" name="Step 2"/>
          <p:cNvSpPr/>
          <p:nvPr/>
        </p:nvSpPr>
        <p:spPr>
          <a:xfrm>
            <a:off x="585216" y="1993392"/>
            <a:ext cx="329184" cy="329184"/>
          </a:xfrm>
          <a:prstGeom prst="ellipse">
            <a:avLst/>
          </a:prstGeom>
          <a:solidFill>
            <a:schemeClr val="tx2"/>
          </a:solidFill>
          <a:ln w="12700">
            <a:solidFill>
              <a:schemeClr val="tx2"/>
            </a:solidFill>
            <a:prstDash val="solid"/>
          </a:ln>
        </p:spPr>
      </p:sp>
      <p:sp>
        <p:nvSpPr>
          <p:cNvPr id="12" name="Step 2 number"/>
          <p:cNvSpPr txBox="1"/>
          <p:nvPr/>
        </p:nvSpPr>
        <p:spPr>
          <a:xfrm>
            <a:off x="585216" y="199339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 11"/>
          <p:cNvSpPr txBox="1"/>
          <p:nvPr/>
        </p:nvSpPr>
        <p:spPr>
          <a:xfrm>
            <a:off x="1051560" y="1892808"/>
            <a:ext cx="2606040" cy="530352"/>
          </a:xfrm>
          <a:prstGeom prst="rect">
            <a:avLst/>
          </a:prstGeom>
          <a:noFill/>
          <a:ln/>
        </p:spPr>
        <p:txBody>
          <a:bodyPr wrap="square" lIns="0" tIns="0" rIns="0" bIns="0" rtlCol="0" anchor="ctr"/>
          <a:lstStyle/>
          <a:p>
            <a:pPr indent="0" marL="0">
              <a:buNone/>
            </a:pPr>
            <a:r>
              <a:rPr lang="en-US" sz="1400" b="1" dirty="0">
                <a:solidFill>
                  <a:schemeClr val="tx2"/>
                </a:solidFill>
              </a:rPr>
              <a:t>Agentforce in the member portal</a:t>
            </a:r>
            <a:endParaRPr lang="en-US" sz="1400" dirty="0"/>
          </a:p>
        </p:txBody>
      </p:sp>
      <p:sp>
        <p:nvSpPr>
          <p:cNvPr id="14" name="Text 12"/>
          <p:cNvSpPr txBox="1"/>
          <p:nvPr/>
        </p:nvSpPr>
        <p:spPr>
          <a:xfrm>
            <a:off x="3703320" y="1892808"/>
            <a:ext cx="548640" cy="530352"/>
          </a:xfrm>
          <a:prstGeom prst="rect">
            <a:avLst/>
          </a:prstGeom>
          <a:noFill/>
          <a:ln/>
        </p:spPr>
        <p:txBody>
          <a:bodyPr wrap="square" lIns="0" tIns="0" rIns="0" bIns="0" rtlCol="0" anchor="ctr"/>
          <a:lstStyle/>
          <a:p>
            <a:pPr algn="r" indent="0" marL="0">
              <a:buNone/>
            </a:pPr>
            <a:r>
              <a:rPr lang="en-US" sz="1300" dirty="0">
                <a:solidFill>
                  <a:schemeClr val="accent4"/>
                </a:solidFill>
              </a:rPr>
              <a:t>0:10</a:t>
            </a:r>
            <a:endParaRPr lang="en-US" sz="1300" dirty="0"/>
          </a:p>
        </p:txBody>
      </p:sp>
      <p:sp>
        <p:nvSpPr>
          <p:cNvPr id="15" name="Run 3"/>
          <p:cNvSpPr/>
          <p:nvPr/>
        </p:nvSpPr>
        <p:spPr>
          <a:xfrm>
            <a:off x="457200" y="2551176"/>
            <a:ext cx="3931920" cy="530352"/>
          </a:xfrm>
          <a:prstGeom prst="roundRect">
            <a:avLst>
              <a:gd name="adj" fmla="val 13793"/>
            </a:avLst>
          </a:prstGeom>
          <a:solidFill>
            <a:schemeClr val="bg2"/>
          </a:solidFill>
          <a:ln w="12700">
            <a:solidFill>
              <a:schemeClr val="bg2"/>
            </a:solidFill>
            <a:prstDash val="solid"/>
          </a:ln>
        </p:spPr>
      </p:sp>
      <p:sp>
        <p:nvSpPr>
          <p:cNvPr id="16" name="Step 3"/>
          <p:cNvSpPr/>
          <p:nvPr/>
        </p:nvSpPr>
        <p:spPr>
          <a:xfrm>
            <a:off x="585216" y="2651760"/>
            <a:ext cx="329184" cy="329184"/>
          </a:xfrm>
          <a:prstGeom prst="ellipse">
            <a:avLst/>
          </a:prstGeom>
          <a:solidFill>
            <a:schemeClr val="tx2"/>
          </a:solidFill>
          <a:ln w="12700">
            <a:solidFill>
              <a:schemeClr val="tx2"/>
            </a:solidFill>
            <a:prstDash val="solid"/>
          </a:ln>
        </p:spPr>
      </p:sp>
      <p:sp>
        <p:nvSpPr>
          <p:cNvPr id="17" name="Step 3 number"/>
          <p:cNvSpPr txBox="1"/>
          <p:nvPr/>
        </p:nvSpPr>
        <p:spPr>
          <a:xfrm>
            <a:off x="585216" y="26517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Text 16"/>
          <p:cNvSpPr txBox="1"/>
          <p:nvPr/>
        </p:nvSpPr>
        <p:spPr>
          <a:xfrm>
            <a:off x="1051560" y="2551176"/>
            <a:ext cx="2606040" cy="530352"/>
          </a:xfrm>
          <a:prstGeom prst="rect">
            <a:avLst/>
          </a:prstGeom>
          <a:noFill/>
          <a:ln/>
        </p:spPr>
        <p:txBody>
          <a:bodyPr wrap="square" lIns="0" tIns="0" rIns="0" bIns="0" rtlCol="0" anchor="ctr"/>
          <a:lstStyle/>
          <a:p>
            <a:pPr indent="0" marL="0">
              <a:buNone/>
            </a:pPr>
            <a:r>
              <a:rPr lang="en-US" sz="1400" b="1" dirty="0">
                <a:solidFill>
                  <a:schemeClr val="tx2"/>
                </a:solidFill>
              </a:rPr>
              <a:t>Service Rep Assistant</a:t>
            </a:r>
            <a:endParaRPr lang="en-US" sz="1400" dirty="0"/>
          </a:p>
        </p:txBody>
      </p:sp>
      <p:sp>
        <p:nvSpPr>
          <p:cNvPr id="19" name="Text 17"/>
          <p:cNvSpPr txBox="1"/>
          <p:nvPr/>
        </p:nvSpPr>
        <p:spPr>
          <a:xfrm>
            <a:off x="3703320" y="2551176"/>
            <a:ext cx="548640" cy="530352"/>
          </a:xfrm>
          <a:prstGeom prst="rect">
            <a:avLst/>
          </a:prstGeom>
          <a:noFill/>
          <a:ln/>
        </p:spPr>
        <p:txBody>
          <a:bodyPr wrap="square" lIns="0" tIns="0" rIns="0" bIns="0" rtlCol="0" anchor="ctr"/>
          <a:lstStyle/>
          <a:p>
            <a:pPr algn="r" indent="0" marL="0">
              <a:buNone/>
            </a:pPr>
            <a:r>
              <a:rPr lang="en-US" sz="1300" dirty="0">
                <a:solidFill>
                  <a:schemeClr val="accent4"/>
                </a:solidFill>
              </a:rPr>
              <a:t>0:40</a:t>
            </a:r>
            <a:endParaRPr lang="en-US" sz="1300" dirty="0"/>
          </a:p>
        </p:txBody>
      </p:sp>
      <p:sp>
        <p:nvSpPr>
          <p:cNvPr id="20" name="Run 4"/>
          <p:cNvSpPr/>
          <p:nvPr/>
        </p:nvSpPr>
        <p:spPr>
          <a:xfrm>
            <a:off x="457200" y="3209544"/>
            <a:ext cx="3931920" cy="530352"/>
          </a:xfrm>
          <a:prstGeom prst="roundRect">
            <a:avLst>
              <a:gd name="adj" fmla="val 13793"/>
            </a:avLst>
          </a:prstGeom>
          <a:solidFill>
            <a:schemeClr val="bg2"/>
          </a:solidFill>
          <a:ln w="12700">
            <a:solidFill>
              <a:schemeClr val="bg2"/>
            </a:solidFill>
            <a:prstDash val="solid"/>
          </a:ln>
        </p:spPr>
      </p:sp>
      <p:sp>
        <p:nvSpPr>
          <p:cNvPr id="21" name="Step 4"/>
          <p:cNvSpPr/>
          <p:nvPr/>
        </p:nvSpPr>
        <p:spPr>
          <a:xfrm>
            <a:off x="585216" y="3310128"/>
            <a:ext cx="329184" cy="329184"/>
          </a:xfrm>
          <a:prstGeom prst="ellipse">
            <a:avLst/>
          </a:prstGeom>
          <a:solidFill>
            <a:schemeClr val="tx2"/>
          </a:solidFill>
          <a:ln w="12700">
            <a:solidFill>
              <a:schemeClr val="tx2"/>
            </a:solidFill>
            <a:prstDash val="solid"/>
          </a:ln>
        </p:spPr>
      </p:sp>
      <p:sp>
        <p:nvSpPr>
          <p:cNvPr id="22" name="Step 4 number"/>
          <p:cNvSpPr txBox="1"/>
          <p:nvPr/>
        </p:nvSpPr>
        <p:spPr>
          <a:xfrm>
            <a:off x="585216" y="331012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3" name="Text 21"/>
          <p:cNvSpPr txBox="1"/>
          <p:nvPr/>
        </p:nvSpPr>
        <p:spPr>
          <a:xfrm>
            <a:off x="1051560" y="3209544"/>
            <a:ext cx="2606040" cy="530352"/>
          </a:xfrm>
          <a:prstGeom prst="rect">
            <a:avLst/>
          </a:prstGeom>
          <a:noFill/>
          <a:ln/>
        </p:spPr>
        <p:txBody>
          <a:bodyPr wrap="square" lIns="0" tIns="0" rIns="0" bIns="0" rtlCol="0" anchor="ctr"/>
          <a:lstStyle/>
          <a:p>
            <a:pPr indent="0" marL="0">
              <a:buNone/>
            </a:pPr>
            <a:r>
              <a:rPr lang="en-US" sz="1400" b="1" dirty="0">
                <a:solidFill>
                  <a:schemeClr val="tx2"/>
                </a:solidFill>
              </a:rPr>
              <a:t>Review Card Application</a:t>
            </a:r>
            <a:endParaRPr lang="en-US" sz="1400" dirty="0"/>
          </a:p>
        </p:txBody>
      </p:sp>
      <p:sp>
        <p:nvSpPr>
          <p:cNvPr id="24" name="Text 22"/>
          <p:cNvSpPr txBox="1"/>
          <p:nvPr/>
        </p:nvSpPr>
        <p:spPr>
          <a:xfrm>
            <a:off x="3703320" y="3209544"/>
            <a:ext cx="548640" cy="530352"/>
          </a:xfrm>
          <a:prstGeom prst="rect">
            <a:avLst/>
          </a:prstGeom>
          <a:noFill/>
          <a:ln/>
        </p:spPr>
        <p:txBody>
          <a:bodyPr wrap="square" lIns="0" tIns="0" rIns="0" bIns="0" rtlCol="0" anchor="ctr"/>
          <a:lstStyle/>
          <a:p>
            <a:pPr algn="r" indent="0" marL="0">
              <a:buNone/>
            </a:pPr>
            <a:r>
              <a:rPr lang="en-US" sz="1300" dirty="0">
                <a:solidFill>
                  <a:schemeClr val="accent4"/>
                </a:solidFill>
              </a:rPr>
              <a:t>0:55</a:t>
            </a:r>
            <a:endParaRPr lang="en-US" sz="1300" dirty="0"/>
          </a:p>
        </p:txBody>
      </p:sp>
      <p:sp>
        <p:nvSpPr>
          <p:cNvPr id="25" name="Run 5"/>
          <p:cNvSpPr/>
          <p:nvPr/>
        </p:nvSpPr>
        <p:spPr>
          <a:xfrm>
            <a:off x="457200" y="3867912"/>
            <a:ext cx="3931920" cy="530352"/>
          </a:xfrm>
          <a:prstGeom prst="roundRect">
            <a:avLst>
              <a:gd name="adj" fmla="val 13793"/>
            </a:avLst>
          </a:prstGeom>
          <a:solidFill>
            <a:schemeClr val="bg2"/>
          </a:solidFill>
          <a:ln w="12700">
            <a:solidFill>
              <a:schemeClr val="bg2"/>
            </a:solidFill>
            <a:prstDash val="solid"/>
          </a:ln>
        </p:spPr>
      </p:sp>
      <p:sp>
        <p:nvSpPr>
          <p:cNvPr id="26" name="Step 5"/>
          <p:cNvSpPr/>
          <p:nvPr/>
        </p:nvSpPr>
        <p:spPr>
          <a:xfrm>
            <a:off x="585216" y="3968496"/>
            <a:ext cx="329184" cy="329184"/>
          </a:xfrm>
          <a:prstGeom prst="ellipse">
            <a:avLst/>
          </a:prstGeom>
          <a:solidFill>
            <a:schemeClr val="tx2"/>
          </a:solidFill>
          <a:ln w="12700">
            <a:solidFill>
              <a:schemeClr val="tx2"/>
            </a:solidFill>
            <a:prstDash val="solid"/>
          </a:ln>
        </p:spPr>
      </p:sp>
      <p:sp>
        <p:nvSpPr>
          <p:cNvPr id="27" name="Step 5 number"/>
          <p:cNvSpPr txBox="1"/>
          <p:nvPr/>
        </p:nvSpPr>
        <p:spPr>
          <a:xfrm>
            <a:off x="585216" y="396849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8" name="Text 26"/>
          <p:cNvSpPr txBox="1"/>
          <p:nvPr/>
        </p:nvSpPr>
        <p:spPr>
          <a:xfrm>
            <a:off x="1051560" y="3867912"/>
            <a:ext cx="2606040" cy="530352"/>
          </a:xfrm>
          <a:prstGeom prst="rect">
            <a:avLst/>
          </a:prstGeom>
          <a:noFill/>
          <a:ln/>
        </p:spPr>
        <p:txBody>
          <a:bodyPr wrap="square" lIns="0" tIns="0" rIns="0" bIns="0" rtlCol="0" anchor="ctr"/>
          <a:lstStyle/>
          <a:p>
            <a:pPr indent="0" marL="0">
              <a:buNone/>
            </a:pPr>
            <a:r>
              <a:rPr lang="en-US" sz="1400" b="1" dirty="0">
                <a:solidFill>
                  <a:schemeClr val="tx2"/>
                </a:solidFill>
              </a:rPr>
              <a:t>Complete Card Application</a:t>
            </a:r>
            <a:endParaRPr lang="en-US" sz="1400" dirty="0"/>
          </a:p>
        </p:txBody>
      </p:sp>
      <p:sp>
        <p:nvSpPr>
          <p:cNvPr id="29" name="Text 27"/>
          <p:cNvSpPr txBox="1"/>
          <p:nvPr/>
        </p:nvSpPr>
        <p:spPr>
          <a:xfrm>
            <a:off x="3703320" y="3867912"/>
            <a:ext cx="548640" cy="530352"/>
          </a:xfrm>
          <a:prstGeom prst="rect">
            <a:avLst/>
          </a:prstGeom>
          <a:noFill/>
          <a:ln/>
        </p:spPr>
        <p:txBody>
          <a:bodyPr wrap="square" lIns="0" tIns="0" rIns="0" bIns="0" rtlCol="0" anchor="ctr"/>
          <a:lstStyle/>
          <a:p>
            <a:pPr algn="r" indent="0" marL="0">
              <a:buNone/>
            </a:pPr>
            <a:r>
              <a:rPr lang="en-US" sz="1300" dirty="0">
                <a:solidFill>
                  <a:schemeClr val="accent4"/>
                </a:solidFill>
              </a:rPr>
              <a:t>1:17</a:t>
            </a:r>
            <a:endParaRPr lang="en-US" sz="1300" dirty="0"/>
          </a:p>
        </p:txBody>
      </p:sp>
      <p:sp>
        <p:nvSpPr>
          <p:cNvPr id="30" name="Run 6"/>
          <p:cNvSpPr/>
          <p:nvPr/>
        </p:nvSpPr>
        <p:spPr>
          <a:xfrm>
            <a:off x="4663440" y="1234440"/>
            <a:ext cx="3931920" cy="530352"/>
          </a:xfrm>
          <a:prstGeom prst="roundRect">
            <a:avLst>
              <a:gd name="adj" fmla="val 13793"/>
            </a:avLst>
          </a:prstGeom>
          <a:solidFill>
            <a:schemeClr val="bg2"/>
          </a:solidFill>
          <a:ln w="12700">
            <a:solidFill>
              <a:schemeClr val="bg2"/>
            </a:solidFill>
            <a:prstDash val="solid"/>
          </a:ln>
        </p:spPr>
      </p:sp>
      <p:sp>
        <p:nvSpPr>
          <p:cNvPr id="31" name="Step 6"/>
          <p:cNvSpPr/>
          <p:nvPr/>
        </p:nvSpPr>
        <p:spPr>
          <a:xfrm>
            <a:off x="4791456" y="1335024"/>
            <a:ext cx="329184" cy="329184"/>
          </a:xfrm>
          <a:prstGeom prst="ellipse">
            <a:avLst/>
          </a:prstGeom>
          <a:solidFill>
            <a:schemeClr val="tx2"/>
          </a:solidFill>
          <a:ln w="12700">
            <a:solidFill>
              <a:schemeClr val="tx2"/>
            </a:solidFill>
            <a:prstDash val="solid"/>
          </a:ln>
        </p:spPr>
      </p:sp>
      <p:sp>
        <p:nvSpPr>
          <p:cNvPr id="32" name="Step 6 number"/>
          <p:cNvSpPr txBox="1"/>
          <p:nvPr/>
        </p:nvSpPr>
        <p:spPr>
          <a:xfrm>
            <a:off x="4791456" y="133502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3" name="Text 31"/>
          <p:cNvSpPr txBox="1"/>
          <p:nvPr/>
        </p:nvSpPr>
        <p:spPr>
          <a:xfrm>
            <a:off x="5257800" y="1234440"/>
            <a:ext cx="2606040" cy="530352"/>
          </a:xfrm>
          <a:prstGeom prst="rect">
            <a:avLst/>
          </a:prstGeom>
          <a:noFill/>
          <a:ln/>
        </p:spPr>
        <p:txBody>
          <a:bodyPr wrap="square" lIns="0" tIns="0" rIns="0" bIns="0" rtlCol="0" anchor="ctr"/>
          <a:lstStyle/>
          <a:p>
            <a:pPr indent="0" marL="0">
              <a:buNone/>
            </a:pPr>
            <a:r>
              <a:rPr lang="en-US" sz="1400" b="1" dirty="0">
                <a:solidFill>
                  <a:schemeClr val="tx2"/>
                </a:solidFill>
              </a:rPr>
              <a:t>Verify Identity</a:t>
            </a:r>
            <a:endParaRPr lang="en-US" sz="1400" dirty="0"/>
          </a:p>
        </p:txBody>
      </p:sp>
      <p:sp>
        <p:nvSpPr>
          <p:cNvPr id="34" name="Text 32"/>
          <p:cNvSpPr txBox="1"/>
          <p:nvPr/>
        </p:nvSpPr>
        <p:spPr>
          <a:xfrm>
            <a:off x="7909560" y="1234440"/>
            <a:ext cx="548640" cy="530352"/>
          </a:xfrm>
          <a:prstGeom prst="rect">
            <a:avLst/>
          </a:prstGeom>
          <a:noFill/>
          <a:ln/>
        </p:spPr>
        <p:txBody>
          <a:bodyPr wrap="square" lIns="0" tIns="0" rIns="0" bIns="0" rtlCol="0" anchor="ctr"/>
          <a:lstStyle/>
          <a:p>
            <a:pPr algn="r" indent="0" marL="0">
              <a:buNone/>
            </a:pPr>
            <a:r>
              <a:rPr lang="en-US" sz="1300" dirty="0">
                <a:solidFill>
                  <a:schemeClr val="accent4"/>
                </a:solidFill>
              </a:rPr>
              <a:t>1:39</a:t>
            </a:r>
            <a:endParaRPr lang="en-US" sz="1300" dirty="0"/>
          </a:p>
        </p:txBody>
      </p:sp>
      <p:sp>
        <p:nvSpPr>
          <p:cNvPr id="35" name="Run 7"/>
          <p:cNvSpPr/>
          <p:nvPr/>
        </p:nvSpPr>
        <p:spPr>
          <a:xfrm>
            <a:off x="4663440" y="1892808"/>
            <a:ext cx="3931920" cy="530352"/>
          </a:xfrm>
          <a:prstGeom prst="roundRect">
            <a:avLst>
              <a:gd name="adj" fmla="val 13793"/>
            </a:avLst>
          </a:prstGeom>
          <a:solidFill>
            <a:schemeClr val="bg2"/>
          </a:solidFill>
          <a:ln w="12700">
            <a:solidFill>
              <a:schemeClr val="bg2"/>
            </a:solidFill>
            <a:prstDash val="solid"/>
          </a:ln>
        </p:spPr>
      </p:sp>
      <p:sp>
        <p:nvSpPr>
          <p:cNvPr id="36" name="Step 7"/>
          <p:cNvSpPr/>
          <p:nvPr/>
        </p:nvSpPr>
        <p:spPr>
          <a:xfrm>
            <a:off x="4791456" y="1993392"/>
            <a:ext cx="329184" cy="329184"/>
          </a:xfrm>
          <a:prstGeom prst="ellipse">
            <a:avLst/>
          </a:prstGeom>
          <a:solidFill>
            <a:schemeClr val="tx2"/>
          </a:solidFill>
          <a:ln w="12700">
            <a:solidFill>
              <a:schemeClr val="tx2"/>
            </a:solidFill>
            <a:prstDash val="solid"/>
          </a:ln>
        </p:spPr>
      </p:sp>
      <p:sp>
        <p:nvSpPr>
          <p:cNvPr id="37" name="Step 7 number"/>
          <p:cNvSpPr txBox="1"/>
          <p:nvPr/>
        </p:nvSpPr>
        <p:spPr>
          <a:xfrm>
            <a:off x="4791456" y="1993392"/>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38" name="Text 36"/>
          <p:cNvSpPr txBox="1"/>
          <p:nvPr/>
        </p:nvSpPr>
        <p:spPr>
          <a:xfrm>
            <a:off x="5257800" y="1892808"/>
            <a:ext cx="2606040" cy="530352"/>
          </a:xfrm>
          <a:prstGeom prst="rect">
            <a:avLst/>
          </a:prstGeom>
          <a:noFill/>
          <a:ln/>
        </p:spPr>
        <p:txBody>
          <a:bodyPr wrap="square" lIns="0" tIns="0" rIns="0" bIns="0" rtlCol="0" anchor="ctr"/>
          <a:lstStyle/>
          <a:p>
            <a:pPr indent="0" marL="0">
              <a:buNone/>
            </a:pPr>
            <a:r>
              <a:rPr lang="en-US" sz="1400" b="1" dirty="0">
                <a:solidFill>
                  <a:schemeClr val="tx2"/>
                </a:solidFill>
              </a:rPr>
              <a:t>Email Application Requirements</a:t>
            </a:r>
            <a:endParaRPr lang="en-US" sz="1400" dirty="0"/>
          </a:p>
        </p:txBody>
      </p:sp>
      <p:sp>
        <p:nvSpPr>
          <p:cNvPr id="39" name="Text 37"/>
          <p:cNvSpPr txBox="1"/>
          <p:nvPr/>
        </p:nvSpPr>
        <p:spPr>
          <a:xfrm>
            <a:off x="7909560" y="1892808"/>
            <a:ext cx="548640" cy="530352"/>
          </a:xfrm>
          <a:prstGeom prst="rect">
            <a:avLst/>
          </a:prstGeom>
          <a:noFill/>
          <a:ln/>
        </p:spPr>
        <p:txBody>
          <a:bodyPr wrap="square" lIns="0" tIns="0" rIns="0" bIns="0" rtlCol="0" anchor="ctr"/>
          <a:lstStyle/>
          <a:p>
            <a:pPr algn="r" indent="0" marL="0">
              <a:buNone/>
            </a:pPr>
            <a:r>
              <a:rPr lang="en-US" sz="1300" dirty="0">
                <a:solidFill>
                  <a:schemeClr val="accent4"/>
                </a:solidFill>
              </a:rPr>
              <a:t>1:54</a:t>
            </a:r>
            <a:endParaRPr lang="en-US" sz="1300" dirty="0"/>
          </a:p>
        </p:txBody>
      </p:sp>
      <p:sp>
        <p:nvSpPr>
          <p:cNvPr id="40" name="Run 8"/>
          <p:cNvSpPr/>
          <p:nvPr/>
        </p:nvSpPr>
        <p:spPr>
          <a:xfrm>
            <a:off x="4663440" y="2551176"/>
            <a:ext cx="3931920" cy="530352"/>
          </a:xfrm>
          <a:prstGeom prst="roundRect">
            <a:avLst>
              <a:gd name="adj" fmla="val 13793"/>
            </a:avLst>
          </a:prstGeom>
          <a:solidFill>
            <a:schemeClr val="bg2"/>
          </a:solidFill>
          <a:ln w="12700">
            <a:solidFill>
              <a:schemeClr val="bg2"/>
            </a:solidFill>
            <a:prstDash val="solid"/>
          </a:ln>
        </p:spPr>
      </p:sp>
      <p:sp>
        <p:nvSpPr>
          <p:cNvPr id="41" name="Step 8"/>
          <p:cNvSpPr/>
          <p:nvPr/>
        </p:nvSpPr>
        <p:spPr>
          <a:xfrm>
            <a:off x="4791456" y="2651760"/>
            <a:ext cx="329184" cy="329184"/>
          </a:xfrm>
          <a:prstGeom prst="ellipse">
            <a:avLst/>
          </a:prstGeom>
          <a:solidFill>
            <a:schemeClr val="tx2"/>
          </a:solidFill>
          <a:ln w="12700">
            <a:solidFill>
              <a:schemeClr val="tx2"/>
            </a:solidFill>
            <a:prstDash val="solid"/>
          </a:ln>
        </p:spPr>
      </p:sp>
      <p:sp>
        <p:nvSpPr>
          <p:cNvPr id="42" name="Step 8 number"/>
          <p:cNvSpPr txBox="1"/>
          <p:nvPr/>
        </p:nvSpPr>
        <p:spPr>
          <a:xfrm>
            <a:off x="4791456" y="265176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3" name="Text 41"/>
          <p:cNvSpPr txBox="1"/>
          <p:nvPr/>
        </p:nvSpPr>
        <p:spPr>
          <a:xfrm>
            <a:off x="5257800" y="2551176"/>
            <a:ext cx="2606040" cy="530352"/>
          </a:xfrm>
          <a:prstGeom prst="rect">
            <a:avLst/>
          </a:prstGeom>
          <a:noFill/>
          <a:ln/>
        </p:spPr>
        <p:txBody>
          <a:bodyPr wrap="square" lIns="0" tIns="0" rIns="0" bIns="0" rtlCol="0" anchor="ctr"/>
          <a:lstStyle/>
          <a:p>
            <a:pPr indent="0" marL="0">
              <a:buNone/>
            </a:pPr>
            <a:r>
              <a:rPr lang="en-US" sz="1400" b="1" dirty="0">
                <a:solidFill>
                  <a:schemeClr val="tx2"/>
                </a:solidFill>
              </a:rPr>
              <a:t>Enhanced Case Summaries</a:t>
            </a:r>
            <a:endParaRPr lang="en-US" sz="1400" dirty="0"/>
          </a:p>
        </p:txBody>
      </p:sp>
      <p:sp>
        <p:nvSpPr>
          <p:cNvPr id="44" name="Text 42"/>
          <p:cNvSpPr txBox="1"/>
          <p:nvPr/>
        </p:nvSpPr>
        <p:spPr>
          <a:xfrm>
            <a:off x="7909560" y="2551176"/>
            <a:ext cx="548640" cy="530352"/>
          </a:xfrm>
          <a:prstGeom prst="rect">
            <a:avLst/>
          </a:prstGeom>
          <a:noFill/>
          <a:ln/>
        </p:spPr>
        <p:txBody>
          <a:bodyPr wrap="square" lIns="0" tIns="0" rIns="0" bIns="0" rtlCol="0" anchor="ctr"/>
          <a:lstStyle/>
          <a:p>
            <a:pPr algn="r" indent="0" marL="0">
              <a:buNone/>
            </a:pPr>
            <a:r>
              <a:rPr lang="en-US" sz="1300" dirty="0">
                <a:solidFill>
                  <a:schemeClr val="accent4"/>
                </a:solidFill>
              </a:rPr>
              <a:t>2:14</a:t>
            </a:r>
            <a:endParaRPr lang="en-US" sz="1300" dirty="0"/>
          </a:p>
        </p:txBody>
      </p:sp>
      <p:sp>
        <p:nvSpPr>
          <p:cNvPr id="45" name="Run 9"/>
          <p:cNvSpPr/>
          <p:nvPr/>
        </p:nvSpPr>
        <p:spPr>
          <a:xfrm>
            <a:off x="4663440" y="3209544"/>
            <a:ext cx="3931920" cy="530352"/>
          </a:xfrm>
          <a:prstGeom prst="roundRect">
            <a:avLst>
              <a:gd name="adj" fmla="val 13793"/>
            </a:avLst>
          </a:prstGeom>
          <a:solidFill>
            <a:schemeClr val="bg2"/>
          </a:solidFill>
          <a:ln w="12700">
            <a:solidFill>
              <a:schemeClr val="bg2"/>
            </a:solidFill>
            <a:prstDash val="solid"/>
          </a:ln>
        </p:spPr>
      </p:sp>
      <p:sp>
        <p:nvSpPr>
          <p:cNvPr id="46" name="Step 9"/>
          <p:cNvSpPr/>
          <p:nvPr/>
        </p:nvSpPr>
        <p:spPr>
          <a:xfrm>
            <a:off x="4791456" y="3310128"/>
            <a:ext cx="329184" cy="329184"/>
          </a:xfrm>
          <a:prstGeom prst="ellipse">
            <a:avLst/>
          </a:prstGeom>
          <a:solidFill>
            <a:schemeClr val="tx2"/>
          </a:solidFill>
          <a:ln w="12700">
            <a:solidFill>
              <a:schemeClr val="tx2"/>
            </a:solidFill>
            <a:prstDash val="solid"/>
          </a:ln>
        </p:spPr>
      </p:sp>
      <p:sp>
        <p:nvSpPr>
          <p:cNvPr id="47" name="Step 9 number"/>
          <p:cNvSpPr txBox="1"/>
          <p:nvPr/>
        </p:nvSpPr>
        <p:spPr>
          <a:xfrm>
            <a:off x="4791456" y="331012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48" name="Text 46"/>
          <p:cNvSpPr txBox="1"/>
          <p:nvPr/>
        </p:nvSpPr>
        <p:spPr>
          <a:xfrm>
            <a:off x="5257800" y="3209544"/>
            <a:ext cx="2606040" cy="530352"/>
          </a:xfrm>
          <a:prstGeom prst="rect">
            <a:avLst/>
          </a:prstGeom>
          <a:noFill/>
          <a:ln/>
        </p:spPr>
        <p:txBody>
          <a:bodyPr wrap="square" lIns="0" tIns="0" rIns="0" bIns="0" rtlCol="0" anchor="ctr"/>
          <a:lstStyle/>
          <a:p>
            <a:pPr indent="0" marL="0">
              <a:buNone/>
            </a:pPr>
            <a:r>
              <a:rPr lang="en-US" sz="1400" b="1" dirty="0">
                <a:solidFill>
                  <a:schemeClr val="tx2"/>
                </a:solidFill>
              </a:rPr>
              <a:t>Generative Email Summaries</a:t>
            </a:r>
            <a:endParaRPr lang="en-US" sz="1400" dirty="0"/>
          </a:p>
        </p:txBody>
      </p:sp>
      <p:sp>
        <p:nvSpPr>
          <p:cNvPr id="49" name="Text 47"/>
          <p:cNvSpPr txBox="1"/>
          <p:nvPr/>
        </p:nvSpPr>
        <p:spPr>
          <a:xfrm>
            <a:off x="7909560" y="3209544"/>
            <a:ext cx="548640" cy="530352"/>
          </a:xfrm>
          <a:prstGeom prst="rect">
            <a:avLst/>
          </a:prstGeom>
          <a:noFill/>
          <a:ln/>
        </p:spPr>
        <p:txBody>
          <a:bodyPr wrap="square" lIns="0" tIns="0" rIns="0" bIns="0" rtlCol="0" anchor="ctr"/>
          <a:lstStyle/>
          <a:p>
            <a:pPr algn="r" indent="0" marL="0">
              <a:buNone/>
            </a:pPr>
            <a:r>
              <a:rPr lang="en-US" sz="1300" dirty="0">
                <a:solidFill>
                  <a:schemeClr val="accent4"/>
                </a:solidFill>
              </a:rPr>
              <a:t>2:26</a:t>
            </a:r>
            <a:endParaRPr lang="en-US" sz="1300" dirty="0"/>
          </a:p>
        </p:txBody>
      </p:sp>
      <p:sp>
        <p:nvSpPr>
          <p:cNvPr id="50" name="Run 10"/>
          <p:cNvSpPr/>
          <p:nvPr/>
        </p:nvSpPr>
        <p:spPr>
          <a:xfrm>
            <a:off x="4663440" y="3867912"/>
            <a:ext cx="3931920" cy="530352"/>
          </a:xfrm>
          <a:prstGeom prst="roundRect">
            <a:avLst>
              <a:gd name="adj" fmla="val 13793"/>
            </a:avLst>
          </a:prstGeom>
          <a:solidFill>
            <a:schemeClr val="bg2"/>
          </a:solidFill>
          <a:ln w="12700">
            <a:solidFill>
              <a:schemeClr val="bg2"/>
            </a:solidFill>
            <a:prstDash val="solid"/>
          </a:ln>
        </p:spPr>
      </p:sp>
      <p:sp>
        <p:nvSpPr>
          <p:cNvPr id="51" name="Step 10"/>
          <p:cNvSpPr/>
          <p:nvPr/>
        </p:nvSpPr>
        <p:spPr>
          <a:xfrm>
            <a:off x="4791456" y="3968496"/>
            <a:ext cx="329184" cy="329184"/>
          </a:xfrm>
          <a:prstGeom prst="ellipse">
            <a:avLst/>
          </a:prstGeom>
          <a:solidFill>
            <a:schemeClr val="tx2"/>
          </a:solidFill>
          <a:ln w="12700">
            <a:solidFill>
              <a:schemeClr val="tx2"/>
            </a:solidFill>
            <a:prstDash val="solid"/>
          </a:ln>
        </p:spPr>
      </p:sp>
      <p:sp>
        <p:nvSpPr>
          <p:cNvPr id="52" name="Step 10 number"/>
          <p:cNvSpPr txBox="1"/>
          <p:nvPr/>
        </p:nvSpPr>
        <p:spPr>
          <a:xfrm>
            <a:off x="4791456" y="396849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53" name="Text 51"/>
          <p:cNvSpPr txBox="1"/>
          <p:nvPr/>
        </p:nvSpPr>
        <p:spPr>
          <a:xfrm>
            <a:off x="5257800" y="3867912"/>
            <a:ext cx="2606040" cy="530352"/>
          </a:xfrm>
          <a:prstGeom prst="rect">
            <a:avLst/>
          </a:prstGeom>
          <a:noFill/>
          <a:ln/>
        </p:spPr>
        <p:txBody>
          <a:bodyPr wrap="square" lIns="0" tIns="0" rIns="0" bIns="0" rtlCol="0" anchor="ctr"/>
          <a:lstStyle/>
          <a:p>
            <a:pPr indent="0" marL="0">
              <a:buNone/>
            </a:pPr>
            <a:r>
              <a:rPr lang="en-US" sz="1400" b="1" dirty="0">
                <a:solidFill>
                  <a:schemeClr val="tx2"/>
                </a:solidFill>
              </a:rPr>
              <a:t>Command Center for Service</a:t>
            </a:r>
            <a:endParaRPr lang="en-US" sz="1400" dirty="0"/>
          </a:p>
        </p:txBody>
      </p:sp>
      <p:sp>
        <p:nvSpPr>
          <p:cNvPr id="54" name="Text 52"/>
          <p:cNvSpPr txBox="1"/>
          <p:nvPr/>
        </p:nvSpPr>
        <p:spPr>
          <a:xfrm>
            <a:off x="7909560" y="3867912"/>
            <a:ext cx="548640" cy="530352"/>
          </a:xfrm>
          <a:prstGeom prst="rect">
            <a:avLst/>
          </a:prstGeom>
          <a:noFill/>
          <a:ln/>
        </p:spPr>
        <p:txBody>
          <a:bodyPr wrap="square" lIns="0" tIns="0" rIns="0" bIns="0" rtlCol="0" anchor="ctr"/>
          <a:lstStyle/>
          <a:p>
            <a:pPr algn="r" indent="0" marL="0">
              <a:buNone/>
            </a:pPr>
            <a:r>
              <a:rPr lang="en-US" sz="1300" dirty="0">
                <a:solidFill>
                  <a:schemeClr val="accent4"/>
                </a:solidFill>
              </a:rPr>
              <a:t>2:34</a:t>
            </a:r>
            <a:endParaRPr lang="en-US" sz="1300" dirty="0"/>
          </a:p>
        </p:txBody>
      </p:sp>
      <p:sp>
        <p:nvSpPr>
          <p:cNvPr id="55" name="Run 11"/>
          <p:cNvSpPr/>
          <p:nvPr/>
        </p:nvSpPr>
        <p:spPr>
          <a:xfrm>
            <a:off x="4663440" y="4526280"/>
            <a:ext cx="3931920" cy="530352"/>
          </a:xfrm>
          <a:prstGeom prst="roundRect">
            <a:avLst>
              <a:gd name="adj" fmla="val 13793"/>
            </a:avLst>
          </a:prstGeom>
          <a:solidFill>
            <a:schemeClr val="bg2"/>
          </a:solidFill>
          <a:ln w="12700">
            <a:solidFill>
              <a:schemeClr val="bg2"/>
            </a:solidFill>
            <a:prstDash val="solid"/>
          </a:ln>
        </p:spPr>
      </p:sp>
      <p:sp>
        <p:nvSpPr>
          <p:cNvPr id="56" name="Step 11"/>
          <p:cNvSpPr/>
          <p:nvPr/>
        </p:nvSpPr>
        <p:spPr>
          <a:xfrm>
            <a:off x="4791456" y="4626864"/>
            <a:ext cx="329184" cy="329184"/>
          </a:xfrm>
          <a:prstGeom prst="ellipse">
            <a:avLst/>
          </a:prstGeom>
          <a:solidFill>
            <a:schemeClr val="tx2"/>
          </a:solidFill>
          <a:ln w="12700">
            <a:solidFill>
              <a:schemeClr val="tx2"/>
            </a:solidFill>
            <a:prstDash val="solid"/>
          </a:ln>
        </p:spPr>
      </p:sp>
      <p:sp>
        <p:nvSpPr>
          <p:cNvPr id="57" name="Step 11 number"/>
          <p:cNvSpPr txBox="1"/>
          <p:nvPr/>
        </p:nvSpPr>
        <p:spPr>
          <a:xfrm>
            <a:off x="4791456" y="462686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58" name="Text 56"/>
          <p:cNvSpPr txBox="1"/>
          <p:nvPr/>
        </p:nvSpPr>
        <p:spPr>
          <a:xfrm>
            <a:off x="5257800" y="4526280"/>
            <a:ext cx="2606040" cy="530352"/>
          </a:xfrm>
          <a:prstGeom prst="rect">
            <a:avLst/>
          </a:prstGeom>
          <a:noFill/>
          <a:ln/>
        </p:spPr>
        <p:txBody>
          <a:bodyPr wrap="square" lIns="0" tIns="0" rIns="0" bIns="0" rtlCol="0" anchor="ctr"/>
          <a:lstStyle/>
          <a:p>
            <a:pPr indent="0" marL="0">
              <a:buNone/>
            </a:pPr>
            <a:r>
              <a:rPr lang="en-US" sz="1400" b="1" dirty="0">
                <a:solidFill>
                  <a:schemeClr val="tx2"/>
                </a:solidFill>
              </a:rPr>
              <a:t>Close</a:t>
            </a:r>
            <a:endParaRPr lang="en-US" sz="1400" dirty="0"/>
          </a:p>
        </p:txBody>
      </p:sp>
      <p:sp>
        <p:nvSpPr>
          <p:cNvPr id="59" name="Text 57"/>
          <p:cNvSpPr txBox="1"/>
          <p:nvPr/>
        </p:nvSpPr>
        <p:spPr>
          <a:xfrm>
            <a:off x="7909560" y="4526280"/>
            <a:ext cx="548640" cy="530352"/>
          </a:xfrm>
          <a:prstGeom prst="rect">
            <a:avLst/>
          </a:prstGeom>
          <a:noFill/>
          <a:ln/>
        </p:spPr>
        <p:txBody>
          <a:bodyPr wrap="square" lIns="0" tIns="0" rIns="0" bIns="0" rtlCol="0" anchor="ctr"/>
          <a:lstStyle/>
          <a:p>
            <a:pPr algn="r" indent="0" marL="0">
              <a:buNone/>
            </a:pPr>
            <a:r>
              <a:rPr lang="en-US" sz="1300" dirty="0">
                <a:solidFill>
                  <a:schemeClr val="accent4"/>
                </a:solidFill>
              </a:rPr>
              <a:t>2:52</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Agentforce in the member portal</a:t>
            </a:r>
            <a:endParaRPr lang="en-US" sz="3000" dirty="0"/>
          </a:p>
        </p:txBody>
      </p:sp>
      <p:sp>
        <p:nvSpPr>
          <p:cNvPr id="3" name="Time"/>
          <p:cNvSpPr/>
          <p:nvPr/>
        </p:nvSpPr>
        <p:spPr>
          <a:xfrm>
            <a:off x="7452360" y="502920"/>
            <a:ext cx="1234440" cy="329184"/>
          </a:xfrm>
          <a:prstGeom prst="roundRect">
            <a:avLst>
              <a:gd name="adj" fmla="val 50000"/>
            </a:avLst>
          </a:prstGeom>
          <a:solidFill>
            <a:schemeClr val="accent2"/>
          </a:solidFill>
          <a:ln w="12700">
            <a:solidFill>
              <a:schemeClr val="accent2"/>
            </a:solidFill>
            <a:prstDash val="solid"/>
          </a:ln>
        </p:spPr>
      </p:sp>
      <p:sp>
        <p:nvSpPr>
          <p:cNvPr id="4" name="Time label"/>
          <p:cNvSpPr txBox="1"/>
          <p:nvPr/>
        </p:nvSpPr>
        <p:spPr>
          <a:xfrm>
            <a:off x="7452360" y="50292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0:10–0:40</a:t>
            </a:r>
            <a:endParaRPr lang="en-US" sz="1200" dirty="0"/>
          </a:p>
        </p:txBody>
      </p:sp>
      <p:sp>
        <p:nvSpPr>
          <p:cNvPr id="5" name="On screen card"/>
          <p:cNvSpPr/>
          <p:nvPr/>
        </p:nvSpPr>
        <p:spPr>
          <a:xfrm>
            <a:off x="457200" y="1234440"/>
            <a:ext cx="4023360" cy="3337560"/>
          </a:xfrm>
          <a:prstGeom prst="roundRect">
            <a:avLst>
              <a:gd name="adj" fmla="val 3288"/>
            </a:avLst>
          </a:prstGeom>
          <a:solidFill>
            <a:schemeClr val="bg2"/>
          </a:solidFill>
          <a:ln w="12700">
            <a:solidFill>
              <a:schemeClr val="bg2"/>
            </a:solidFill>
            <a:prstDash val="solid"/>
          </a:ln>
        </p:spPr>
      </p:sp>
      <p:sp>
        <p:nvSpPr>
          <p:cNvPr id="6" name="Text 4"/>
          <p:cNvSpPr txBox="1"/>
          <p:nvPr/>
        </p:nvSpPr>
        <p:spPr>
          <a:xfrm>
            <a:off x="685800" y="1417320"/>
            <a:ext cx="35661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ON SCREEN</a:t>
            </a:r>
            <a:endParaRPr lang="en-US" sz="1100" dirty="0"/>
          </a:p>
        </p:txBody>
      </p:sp>
      <p:sp>
        <p:nvSpPr>
          <p:cNvPr id="7" name="Step 1"/>
          <p:cNvSpPr/>
          <p:nvPr/>
        </p:nvSpPr>
        <p:spPr>
          <a:xfrm>
            <a:off x="685800" y="1883664"/>
            <a:ext cx="310896" cy="310896"/>
          </a:xfrm>
          <a:prstGeom prst="ellipse">
            <a:avLst/>
          </a:prstGeom>
          <a:solidFill>
            <a:schemeClr val="tx2"/>
          </a:solidFill>
          <a:ln w="12700">
            <a:solidFill>
              <a:schemeClr val="tx2"/>
            </a:solidFill>
            <a:prstDash val="solid"/>
          </a:ln>
        </p:spPr>
      </p:sp>
      <p:sp>
        <p:nvSpPr>
          <p:cNvPr id="8" name="Step 1 number"/>
          <p:cNvSpPr txBox="1"/>
          <p:nvPr/>
        </p:nvSpPr>
        <p:spPr>
          <a:xfrm>
            <a:off x="685800" y="188366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1115568" y="1828800"/>
            <a:ext cx="3200400" cy="566928"/>
          </a:xfrm>
          <a:prstGeom prst="rect">
            <a:avLst/>
          </a:prstGeom>
          <a:noFill/>
          <a:ln/>
        </p:spPr>
        <p:txBody>
          <a:bodyPr wrap="square" lIns="0" tIns="0" rIns="0" bIns="0" rtlCol="0" anchor="ctr"/>
          <a:lstStyle/>
          <a:p>
            <a:pPr indent="0" marL="0">
              <a:buNone/>
            </a:pPr>
            <a:r>
              <a:rPr lang="en-US" sz="1300" dirty="0">
                <a:solidFill>
                  <a:schemeClr val="tx1"/>
                </a:solidFill>
              </a:rPr>
              <a:t>Open chat in the portal and ask where the application stands.</a:t>
            </a:r>
            <a:endParaRPr lang="en-US" sz="1300" dirty="0"/>
          </a:p>
        </p:txBody>
      </p:sp>
      <p:sp>
        <p:nvSpPr>
          <p:cNvPr id="10" name="Step 2"/>
          <p:cNvSpPr/>
          <p:nvPr/>
        </p:nvSpPr>
        <p:spPr>
          <a:xfrm>
            <a:off x="685800" y="2560320"/>
            <a:ext cx="310896" cy="310896"/>
          </a:xfrm>
          <a:prstGeom prst="ellipse">
            <a:avLst/>
          </a:prstGeom>
          <a:solidFill>
            <a:schemeClr val="tx2"/>
          </a:solidFill>
          <a:ln w="12700">
            <a:solidFill>
              <a:schemeClr val="tx2"/>
            </a:solidFill>
            <a:prstDash val="solid"/>
          </a:ln>
        </p:spPr>
      </p:sp>
      <p:sp>
        <p:nvSpPr>
          <p:cNvPr id="11" name="Step 2 number"/>
          <p:cNvSpPr txBox="1"/>
          <p:nvPr/>
        </p:nvSpPr>
        <p:spPr>
          <a:xfrm>
            <a:off x="685800" y="2560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10"/>
          <p:cNvSpPr txBox="1"/>
          <p:nvPr/>
        </p:nvSpPr>
        <p:spPr>
          <a:xfrm>
            <a:off x="1115568" y="2505456"/>
            <a:ext cx="3200400" cy="566928"/>
          </a:xfrm>
          <a:prstGeom prst="rect">
            <a:avLst/>
          </a:prstGeom>
          <a:noFill/>
          <a:ln/>
        </p:spPr>
        <p:txBody>
          <a:bodyPr wrap="square" lIns="0" tIns="0" rIns="0" bIns="0" rtlCol="0" anchor="ctr"/>
          <a:lstStyle/>
          <a:p>
            <a:pPr indent="0" marL="0">
              <a:buNone/>
            </a:pPr>
            <a:r>
              <a:rPr lang="en-US" sz="1300" dirty="0">
                <a:solidFill>
                  <a:schemeClr val="tx1"/>
                </a:solidFill>
              </a:rPr>
              <a:t>Ask about eligibility after the PCS move, then which card fits her honeymoon.</a:t>
            </a:r>
            <a:endParaRPr lang="en-US" sz="1300" dirty="0"/>
          </a:p>
        </p:txBody>
      </p:sp>
      <p:sp>
        <p:nvSpPr>
          <p:cNvPr id="13" name="Step 3"/>
          <p:cNvSpPr/>
          <p:nvPr/>
        </p:nvSpPr>
        <p:spPr>
          <a:xfrm>
            <a:off x="685800" y="3236976"/>
            <a:ext cx="310896" cy="310896"/>
          </a:xfrm>
          <a:prstGeom prst="ellipse">
            <a:avLst/>
          </a:prstGeom>
          <a:solidFill>
            <a:schemeClr val="tx2"/>
          </a:solidFill>
          <a:ln w="12700">
            <a:solidFill>
              <a:schemeClr val="tx2"/>
            </a:solidFill>
            <a:prstDash val="solid"/>
          </a:ln>
        </p:spPr>
      </p:sp>
      <p:sp>
        <p:nvSpPr>
          <p:cNvPr id="14" name="Step 3 number"/>
          <p:cNvSpPr txBox="1"/>
          <p:nvPr/>
        </p:nvSpPr>
        <p:spPr>
          <a:xfrm>
            <a:off x="685800" y="323697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 13"/>
          <p:cNvSpPr txBox="1"/>
          <p:nvPr/>
        </p:nvSpPr>
        <p:spPr>
          <a:xfrm>
            <a:off x="1115568" y="3182112"/>
            <a:ext cx="3200400" cy="566928"/>
          </a:xfrm>
          <a:prstGeom prst="rect">
            <a:avLst/>
          </a:prstGeom>
          <a:noFill/>
          <a:ln/>
        </p:spPr>
        <p:txBody>
          <a:bodyPr wrap="square" lIns="0" tIns="0" rIns="0" bIns="0" rtlCol="0" anchor="ctr"/>
          <a:lstStyle/>
          <a:p>
            <a:pPr indent="0" marL="0">
              <a:buNone/>
            </a:pPr>
            <a:r>
              <a:rPr lang="en-US" sz="1300" dirty="0">
                <a:solidFill>
                  <a:schemeClr val="tx1"/>
                </a:solidFill>
              </a:rPr>
              <a:t>Give the new APO address; the verification flag comes back.</a:t>
            </a:r>
            <a:endParaRPr lang="en-US" sz="1300" dirty="0"/>
          </a:p>
        </p:txBody>
      </p:sp>
      <p:sp>
        <p:nvSpPr>
          <p:cNvPr id="16" name="Step 4"/>
          <p:cNvSpPr/>
          <p:nvPr/>
        </p:nvSpPr>
        <p:spPr>
          <a:xfrm>
            <a:off x="685800" y="3913632"/>
            <a:ext cx="310896" cy="310896"/>
          </a:xfrm>
          <a:prstGeom prst="ellipse">
            <a:avLst/>
          </a:prstGeom>
          <a:solidFill>
            <a:schemeClr val="tx2"/>
          </a:solidFill>
          <a:ln w="12700">
            <a:solidFill>
              <a:schemeClr val="tx2"/>
            </a:solidFill>
            <a:prstDash val="solid"/>
          </a:ln>
        </p:spPr>
      </p:sp>
      <p:sp>
        <p:nvSpPr>
          <p:cNvPr id="17" name="Step 4 number"/>
          <p:cNvSpPr txBox="1"/>
          <p:nvPr/>
        </p:nvSpPr>
        <p:spPr>
          <a:xfrm>
            <a:off x="685800" y="3913632"/>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8" name="Text 16"/>
          <p:cNvSpPr txBox="1"/>
          <p:nvPr/>
        </p:nvSpPr>
        <p:spPr>
          <a:xfrm>
            <a:off x="1115568" y="3858768"/>
            <a:ext cx="3200400" cy="566928"/>
          </a:xfrm>
          <a:prstGeom prst="rect">
            <a:avLst/>
          </a:prstGeom>
          <a:noFill/>
          <a:ln/>
        </p:spPr>
        <p:txBody>
          <a:bodyPr wrap="square" lIns="0" tIns="0" rIns="0" bIns="0" rtlCol="0" anchor="ctr"/>
          <a:lstStyle/>
          <a:p>
            <a:pPr indent="0" marL="0">
              <a:buNone/>
            </a:pPr>
            <a:r>
              <a:rPr lang="en-US" sz="1300" dirty="0">
                <a:solidFill>
                  <a:schemeClr val="tx1"/>
                </a:solidFill>
              </a:rPr>
              <a:t>Agent hands off to a member service rep.</a:t>
            </a:r>
            <a:endParaRPr lang="en-US" sz="1300" dirty="0"/>
          </a:p>
        </p:txBody>
      </p:sp>
      <p:sp>
        <p:nvSpPr>
          <p:cNvPr id="19" name="Key line card"/>
          <p:cNvSpPr/>
          <p:nvPr/>
        </p:nvSpPr>
        <p:spPr>
          <a:xfrm>
            <a:off x="4754880" y="1234440"/>
            <a:ext cx="3931920" cy="2011680"/>
          </a:xfrm>
          <a:prstGeom prst="roundRect">
            <a:avLst>
              <a:gd name="adj" fmla="val 5455"/>
            </a:avLst>
          </a:prstGeom>
          <a:solidFill>
            <a:schemeClr val="tx2"/>
          </a:solidFill>
          <a:ln w="12700">
            <a:solidFill>
              <a:schemeClr val="tx2"/>
            </a:solidFill>
            <a:prstDash val="solid"/>
          </a:ln>
        </p:spPr>
      </p:sp>
      <p:sp>
        <p:nvSpPr>
          <p:cNvPr id="20" name="Text 18"/>
          <p:cNvSpPr txBox="1"/>
          <p:nvPr/>
        </p:nvSpPr>
        <p:spPr>
          <a:xfrm>
            <a:off x="4983480" y="1417320"/>
            <a:ext cx="347472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KEY LINE</a:t>
            </a:r>
            <a:endParaRPr lang="en-US" sz="1100" dirty="0"/>
          </a:p>
        </p:txBody>
      </p:sp>
      <p:sp>
        <p:nvSpPr>
          <p:cNvPr id="21" name="Text 19"/>
          <p:cNvSpPr txBox="1"/>
          <p:nvPr/>
        </p:nvSpPr>
        <p:spPr>
          <a:xfrm>
            <a:off x="4983480" y="1737360"/>
            <a:ext cx="3474720" cy="1371600"/>
          </a:xfrm>
          <a:prstGeom prst="rect">
            <a:avLst/>
          </a:prstGeom>
          <a:noFill/>
          <a:ln/>
        </p:spPr>
        <p:txBody>
          <a:bodyPr wrap="square" lIns="0" tIns="0" rIns="0" bIns="0" rtlCol="0" anchor="t"/>
          <a:lstStyle/>
          <a:p>
            <a:pPr indent="0" marL="0">
              <a:buNone/>
            </a:pPr>
            <a:r>
              <a:rPr lang="en-US" sz="1500" i="1" dirty="0">
                <a:solidFill>
                  <a:schemeClr val="bg1"/>
                </a:solidFill>
              </a:rPr>
              <a:t>“She's signed in, so the Agentforce agent already knows her and her application.”</a:t>
            </a:r>
            <a:endParaRPr lang="en-US" sz="1500" dirty="0"/>
          </a:p>
        </p:txBody>
      </p:sp>
      <p:sp>
        <p:nvSpPr>
          <p:cNvPr id="22" name="Benefit card"/>
          <p:cNvSpPr/>
          <p:nvPr/>
        </p:nvSpPr>
        <p:spPr>
          <a:xfrm>
            <a:off x="4754880" y="3429000"/>
            <a:ext cx="3931920" cy="1143000"/>
          </a:xfrm>
          <a:prstGeom prst="roundRect">
            <a:avLst>
              <a:gd name="adj" fmla="val 9600"/>
            </a:avLst>
          </a:prstGeom>
          <a:solidFill>
            <a:schemeClr val="bg1"/>
          </a:solidFill>
          <a:ln w="12700">
            <a:solidFill>
              <a:schemeClr val="accent5"/>
            </a:solidFill>
            <a:prstDash val="solid"/>
          </a:ln>
          <a:effectLst>
            <a:outerShdw sx="100000" sy="100000" kx="0" ky="0" algn="bl" rotWithShape="0" blurRad="76200" dist="25400" dir="5400000">
              <a:srgbClr val="0B2D5B">
                <a:alpha val="15000"/>
              </a:srgbClr>
            </a:outerShdw>
          </a:effectLst>
        </p:spPr>
      </p:sp>
      <p:sp>
        <p:nvSpPr>
          <p:cNvPr id="23" name="Text 21"/>
          <p:cNvSpPr txBox="1"/>
          <p:nvPr/>
        </p:nvSpPr>
        <p:spPr>
          <a:xfrm>
            <a:off x="4983480" y="3566160"/>
            <a:ext cx="34747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WHY IT MATTERS FOR NFCU</a:t>
            </a:r>
            <a:endParaRPr lang="en-US" sz="1100" dirty="0"/>
          </a:p>
        </p:txBody>
      </p:sp>
      <p:sp>
        <p:nvSpPr>
          <p:cNvPr id="24" name="Text 22"/>
          <p:cNvSpPr txBox="1"/>
          <p:nvPr/>
        </p:nvSpPr>
        <p:spPr>
          <a:xfrm>
            <a:off x="4983480" y="3858768"/>
            <a:ext cx="3474720" cy="640080"/>
          </a:xfrm>
          <a:prstGeom prst="rect">
            <a:avLst/>
          </a:prstGeom>
          <a:noFill/>
          <a:ln/>
        </p:spPr>
        <p:txBody>
          <a:bodyPr wrap="square" lIns="0" tIns="0" rIns="0" bIns="0" rtlCol="0" anchor="t"/>
          <a:lstStyle/>
          <a:p>
            <a:pPr indent="0" marL="0">
              <a:buNone/>
            </a:pPr>
            <a:r>
              <a:rPr lang="en-US" sz="1500" b="1" dirty="0">
                <a:solidFill>
                  <a:schemeClr val="tx2"/>
                </a:solidFill>
              </a:rPr>
              <a:t>Members finish in self-service, and hand off to a person with nothing lost</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Service Rep Assistant</a:t>
            </a:r>
            <a:endParaRPr lang="en-US" sz="3000" dirty="0"/>
          </a:p>
        </p:txBody>
      </p:sp>
      <p:sp>
        <p:nvSpPr>
          <p:cNvPr id="3" name="Time"/>
          <p:cNvSpPr/>
          <p:nvPr/>
        </p:nvSpPr>
        <p:spPr>
          <a:xfrm>
            <a:off x="7452360" y="502920"/>
            <a:ext cx="1234440" cy="329184"/>
          </a:xfrm>
          <a:prstGeom prst="roundRect">
            <a:avLst>
              <a:gd name="adj" fmla="val 50000"/>
            </a:avLst>
          </a:prstGeom>
          <a:solidFill>
            <a:schemeClr val="accent2"/>
          </a:solidFill>
          <a:ln w="12700">
            <a:solidFill>
              <a:schemeClr val="accent2"/>
            </a:solidFill>
            <a:prstDash val="solid"/>
          </a:ln>
        </p:spPr>
      </p:sp>
      <p:sp>
        <p:nvSpPr>
          <p:cNvPr id="4" name="Time label"/>
          <p:cNvSpPr txBox="1"/>
          <p:nvPr/>
        </p:nvSpPr>
        <p:spPr>
          <a:xfrm>
            <a:off x="7452360" y="50292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0:40–0:55</a:t>
            </a:r>
            <a:endParaRPr lang="en-US" sz="1200" dirty="0"/>
          </a:p>
        </p:txBody>
      </p:sp>
      <p:sp>
        <p:nvSpPr>
          <p:cNvPr id="5" name="On screen card"/>
          <p:cNvSpPr/>
          <p:nvPr/>
        </p:nvSpPr>
        <p:spPr>
          <a:xfrm>
            <a:off x="457200" y="1234440"/>
            <a:ext cx="4023360" cy="3337560"/>
          </a:xfrm>
          <a:prstGeom prst="roundRect">
            <a:avLst>
              <a:gd name="adj" fmla="val 3288"/>
            </a:avLst>
          </a:prstGeom>
          <a:solidFill>
            <a:schemeClr val="bg2"/>
          </a:solidFill>
          <a:ln w="12700">
            <a:solidFill>
              <a:schemeClr val="bg2"/>
            </a:solidFill>
            <a:prstDash val="solid"/>
          </a:ln>
        </p:spPr>
      </p:sp>
      <p:sp>
        <p:nvSpPr>
          <p:cNvPr id="6" name="Text 4"/>
          <p:cNvSpPr txBox="1"/>
          <p:nvPr/>
        </p:nvSpPr>
        <p:spPr>
          <a:xfrm>
            <a:off x="685800" y="1417320"/>
            <a:ext cx="35661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ON SCREEN</a:t>
            </a:r>
            <a:endParaRPr lang="en-US" sz="1100" dirty="0"/>
          </a:p>
        </p:txBody>
      </p:sp>
      <p:sp>
        <p:nvSpPr>
          <p:cNvPr id="7" name="Step 1"/>
          <p:cNvSpPr/>
          <p:nvPr/>
        </p:nvSpPr>
        <p:spPr>
          <a:xfrm>
            <a:off x="685800" y="1883664"/>
            <a:ext cx="310896" cy="310896"/>
          </a:xfrm>
          <a:prstGeom prst="ellipse">
            <a:avLst/>
          </a:prstGeom>
          <a:solidFill>
            <a:schemeClr val="tx2"/>
          </a:solidFill>
          <a:ln w="12700">
            <a:solidFill>
              <a:schemeClr val="tx2"/>
            </a:solidFill>
            <a:prstDash val="solid"/>
          </a:ln>
        </p:spPr>
      </p:sp>
      <p:sp>
        <p:nvSpPr>
          <p:cNvPr id="8" name="Step 1 number"/>
          <p:cNvSpPr txBox="1"/>
          <p:nvPr/>
        </p:nvSpPr>
        <p:spPr>
          <a:xfrm>
            <a:off x="685800" y="188366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1115568" y="1828800"/>
            <a:ext cx="3200400" cy="566928"/>
          </a:xfrm>
          <a:prstGeom prst="rect">
            <a:avLst/>
          </a:prstGeom>
          <a:noFill/>
          <a:ln/>
        </p:spPr>
        <p:txBody>
          <a:bodyPr wrap="square" lIns="0" tIns="0" rIns="0" bIns="0" rtlCol="0" anchor="ctr"/>
          <a:lstStyle/>
          <a:p>
            <a:pPr indent="0" marL="0">
              <a:buNone/>
            </a:pPr>
            <a:r>
              <a:rPr lang="en-US" sz="1300" dirty="0">
                <a:solidFill>
                  <a:schemeClr val="tx1"/>
                </a:solidFill>
              </a:rPr>
              <a:t>Chat and case in the console.</a:t>
            </a:r>
            <a:endParaRPr lang="en-US" sz="1300" dirty="0"/>
          </a:p>
        </p:txBody>
      </p:sp>
      <p:sp>
        <p:nvSpPr>
          <p:cNvPr id="10" name="Step 2"/>
          <p:cNvSpPr/>
          <p:nvPr/>
        </p:nvSpPr>
        <p:spPr>
          <a:xfrm>
            <a:off x="685800" y="2560320"/>
            <a:ext cx="310896" cy="310896"/>
          </a:xfrm>
          <a:prstGeom prst="ellipse">
            <a:avLst/>
          </a:prstGeom>
          <a:solidFill>
            <a:schemeClr val="tx2"/>
          </a:solidFill>
          <a:ln w="12700">
            <a:solidFill>
              <a:schemeClr val="tx2"/>
            </a:solidFill>
            <a:prstDash val="solid"/>
          </a:ln>
        </p:spPr>
      </p:sp>
      <p:sp>
        <p:nvSpPr>
          <p:cNvPr id="11" name="Step 2 number"/>
          <p:cNvSpPr txBox="1"/>
          <p:nvPr/>
        </p:nvSpPr>
        <p:spPr>
          <a:xfrm>
            <a:off x="685800" y="2560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10"/>
          <p:cNvSpPr txBox="1"/>
          <p:nvPr/>
        </p:nvSpPr>
        <p:spPr>
          <a:xfrm>
            <a:off x="1115568" y="2505456"/>
            <a:ext cx="3200400" cy="566928"/>
          </a:xfrm>
          <a:prstGeom prst="rect">
            <a:avLst/>
          </a:prstGeom>
          <a:noFill/>
          <a:ln/>
        </p:spPr>
        <p:txBody>
          <a:bodyPr wrap="square" lIns="0" tIns="0" rIns="0" bIns="0" rtlCol="0" anchor="ctr"/>
          <a:lstStyle/>
          <a:p>
            <a:pPr indent="0" marL="0">
              <a:buNone/>
            </a:pPr>
            <a:r>
              <a:rPr lang="en-US" sz="1300" dirty="0">
                <a:solidFill>
                  <a:schemeClr val="tx1"/>
                </a:solidFill>
              </a:rPr>
              <a:t>Service Assistant summary and plan steps.</a:t>
            </a:r>
            <a:endParaRPr lang="en-US" sz="1300" dirty="0"/>
          </a:p>
        </p:txBody>
      </p:sp>
      <p:sp>
        <p:nvSpPr>
          <p:cNvPr id="13" name="Key line card"/>
          <p:cNvSpPr/>
          <p:nvPr/>
        </p:nvSpPr>
        <p:spPr>
          <a:xfrm>
            <a:off x="4754880" y="1234440"/>
            <a:ext cx="3931920" cy="2011680"/>
          </a:xfrm>
          <a:prstGeom prst="roundRect">
            <a:avLst>
              <a:gd name="adj" fmla="val 5455"/>
            </a:avLst>
          </a:prstGeom>
          <a:solidFill>
            <a:schemeClr val="tx2"/>
          </a:solidFill>
          <a:ln w="12700">
            <a:solidFill>
              <a:schemeClr val="tx2"/>
            </a:solidFill>
            <a:prstDash val="solid"/>
          </a:ln>
        </p:spPr>
      </p:sp>
      <p:sp>
        <p:nvSpPr>
          <p:cNvPr id="14" name="Text 12"/>
          <p:cNvSpPr txBox="1"/>
          <p:nvPr/>
        </p:nvSpPr>
        <p:spPr>
          <a:xfrm>
            <a:off x="4983480" y="1417320"/>
            <a:ext cx="347472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KEY LINE</a:t>
            </a:r>
            <a:endParaRPr lang="en-US" sz="1100" dirty="0"/>
          </a:p>
        </p:txBody>
      </p:sp>
      <p:sp>
        <p:nvSpPr>
          <p:cNvPr id="15" name="Text 13"/>
          <p:cNvSpPr txBox="1"/>
          <p:nvPr/>
        </p:nvSpPr>
        <p:spPr>
          <a:xfrm>
            <a:off x="4983480" y="1737360"/>
            <a:ext cx="3474720" cy="1371600"/>
          </a:xfrm>
          <a:prstGeom prst="rect">
            <a:avLst/>
          </a:prstGeom>
          <a:noFill/>
          <a:ln/>
        </p:spPr>
        <p:txBody>
          <a:bodyPr wrap="square" lIns="0" tIns="0" rIns="0" bIns="0" rtlCol="0" anchor="t"/>
          <a:lstStyle/>
          <a:p>
            <a:pPr indent="0" marL="0">
              <a:buNone/>
            </a:pPr>
            <a:r>
              <a:rPr lang="en-US" sz="1500" i="1" dirty="0">
                <a:solidFill>
                  <a:schemeClr val="bg1"/>
                </a:solidFill>
              </a:rPr>
              <a:t>“The Service Rep Assistant summarizes it and lays out a plan from Navy Federal’s own procedures.”</a:t>
            </a:r>
            <a:endParaRPr lang="en-US" sz="1500" dirty="0"/>
          </a:p>
        </p:txBody>
      </p:sp>
      <p:sp>
        <p:nvSpPr>
          <p:cNvPr id="16" name="Benefit card"/>
          <p:cNvSpPr/>
          <p:nvPr/>
        </p:nvSpPr>
        <p:spPr>
          <a:xfrm>
            <a:off x="4754880" y="3429000"/>
            <a:ext cx="3931920" cy="1143000"/>
          </a:xfrm>
          <a:prstGeom prst="roundRect">
            <a:avLst>
              <a:gd name="adj" fmla="val 9600"/>
            </a:avLst>
          </a:prstGeom>
          <a:solidFill>
            <a:schemeClr val="bg1"/>
          </a:solidFill>
          <a:ln w="12700">
            <a:solidFill>
              <a:schemeClr val="accent5"/>
            </a:solidFill>
            <a:prstDash val="solid"/>
          </a:ln>
          <a:effectLst>
            <a:outerShdw sx="100000" sy="100000" kx="0" ky="0" algn="bl" rotWithShape="0" blurRad="76200" dist="25400" dir="5400000">
              <a:srgbClr val="0B2D5B">
                <a:alpha val="15000"/>
              </a:srgbClr>
            </a:outerShdw>
          </a:effectLst>
        </p:spPr>
      </p:sp>
      <p:sp>
        <p:nvSpPr>
          <p:cNvPr id="17" name="Text 15"/>
          <p:cNvSpPr txBox="1"/>
          <p:nvPr/>
        </p:nvSpPr>
        <p:spPr>
          <a:xfrm>
            <a:off x="4983480" y="3566160"/>
            <a:ext cx="34747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WHY IT MATTERS FOR NFCU</a:t>
            </a:r>
            <a:endParaRPr lang="en-US" sz="1100" dirty="0"/>
          </a:p>
        </p:txBody>
      </p:sp>
      <p:sp>
        <p:nvSpPr>
          <p:cNvPr id="18" name="Text 16"/>
          <p:cNvSpPr txBox="1"/>
          <p:nvPr/>
        </p:nvSpPr>
        <p:spPr>
          <a:xfrm>
            <a:off x="4983480" y="3858768"/>
            <a:ext cx="3474720" cy="640080"/>
          </a:xfrm>
          <a:prstGeom prst="rect">
            <a:avLst/>
          </a:prstGeom>
          <a:noFill/>
          <a:ln/>
        </p:spPr>
        <p:txBody>
          <a:bodyPr wrap="square" lIns="0" tIns="0" rIns="0" bIns="0" rtlCol="0" anchor="t"/>
          <a:lstStyle/>
          <a:p>
            <a:pPr indent="0" marL="0">
              <a:buNone/>
            </a:pPr>
            <a:r>
              <a:rPr lang="en-US" sz="1500" b="1" dirty="0">
                <a:solidFill>
                  <a:schemeClr val="tx2"/>
                </a:solidFill>
              </a:rPr>
              <a:t>Every rep, new or tenured, works the case the same confident way</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Review Card Application</a:t>
            </a:r>
            <a:endParaRPr lang="en-US" sz="3000" dirty="0"/>
          </a:p>
        </p:txBody>
      </p:sp>
      <p:sp>
        <p:nvSpPr>
          <p:cNvPr id="3" name="Time"/>
          <p:cNvSpPr/>
          <p:nvPr/>
        </p:nvSpPr>
        <p:spPr>
          <a:xfrm>
            <a:off x="7452360" y="502920"/>
            <a:ext cx="1234440" cy="329184"/>
          </a:xfrm>
          <a:prstGeom prst="roundRect">
            <a:avLst>
              <a:gd name="adj" fmla="val 50000"/>
            </a:avLst>
          </a:prstGeom>
          <a:solidFill>
            <a:schemeClr val="accent2"/>
          </a:solidFill>
          <a:ln w="12700">
            <a:solidFill>
              <a:schemeClr val="accent2"/>
            </a:solidFill>
            <a:prstDash val="solid"/>
          </a:ln>
        </p:spPr>
      </p:sp>
      <p:sp>
        <p:nvSpPr>
          <p:cNvPr id="4" name="Time label"/>
          <p:cNvSpPr txBox="1"/>
          <p:nvPr/>
        </p:nvSpPr>
        <p:spPr>
          <a:xfrm>
            <a:off x="7452360" y="50292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0:55–1:17</a:t>
            </a:r>
            <a:endParaRPr lang="en-US" sz="1200" dirty="0"/>
          </a:p>
        </p:txBody>
      </p:sp>
      <p:sp>
        <p:nvSpPr>
          <p:cNvPr id="5" name="On screen card"/>
          <p:cNvSpPr/>
          <p:nvPr/>
        </p:nvSpPr>
        <p:spPr>
          <a:xfrm>
            <a:off x="457200" y="1234440"/>
            <a:ext cx="4023360" cy="3337560"/>
          </a:xfrm>
          <a:prstGeom prst="roundRect">
            <a:avLst>
              <a:gd name="adj" fmla="val 3288"/>
            </a:avLst>
          </a:prstGeom>
          <a:solidFill>
            <a:schemeClr val="bg2"/>
          </a:solidFill>
          <a:ln w="12700">
            <a:solidFill>
              <a:schemeClr val="bg2"/>
            </a:solidFill>
            <a:prstDash val="solid"/>
          </a:ln>
        </p:spPr>
      </p:sp>
      <p:sp>
        <p:nvSpPr>
          <p:cNvPr id="6" name="Text 4"/>
          <p:cNvSpPr txBox="1"/>
          <p:nvPr/>
        </p:nvSpPr>
        <p:spPr>
          <a:xfrm>
            <a:off x="685800" y="1417320"/>
            <a:ext cx="35661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ON SCREEN</a:t>
            </a:r>
            <a:endParaRPr lang="en-US" sz="1100" dirty="0"/>
          </a:p>
        </p:txBody>
      </p:sp>
      <p:sp>
        <p:nvSpPr>
          <p:cNvPr id="7" name="Step 1"/>
          <p:cNvSpPr/>
          <p:nvPr/>
        </p:nvSpPr>
        <p:spPr>
          <a:xfrm>
            <a:off x="685800" y="1883664"/>
            <a:ext cx="310896" cy="310896"/>
          </a:xfrm>
          <a:prstGeom prst="ellipse">
            <a:avLst/>
          </a:prstGeom>
          <a:solidFill>
            <a:schemeClr val="tx2"/>
          </a:solidFill>
          <a:ln w="12700">
            <a:solidFill>
              <a:schemeClr val="tx2"/>
            </a:solidFill>
            <a:prstDash val="solid"/>
          </a:ln>
        </p:spPr>
      </p:sp>
      <p:sp>
        <p:nvSpPr>
          <p:cNvPr id="8" name="Step 1 number"/>
          <p:cNvSpPr txBox="1"/>
          <p:nvPr/>
        </p:nvSpPr>
        <p:spPr>
          <a:xfrm>
            <a:off x="685800" y="188366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1115568" y="1828800"/>
            <a:ext cx="3200400" cy="566928"/>
          </a:xfrm>
          <a:prstGeom prst="rect">
            <a:avLst/>
          </a:prstGeom>
          <a:noFill/>
          <a:ln/>
        </p:spPr>
        <p:txBody>
          <a:bodyPr wrap="square" lIns="0" tIns="0" rIns="0" bIns="0" rtlCol="0" anchor="ctr"/>
          <a:lstStyle/>
          <a:p>
            <a:pPr indent="0" marL="0">
              <a:buNone/>
            </a:pPr>
            <a:r>
              <a:rPr lang="en-US" sz="1300" dirty="0">
                <a:solidFill>
                  <a:schemeClr val="tx1"/>
                </a:solidFill>
              </a:rPr>
              <a:t>Action bar step 1: Review Card Application.</a:t>
            </a:r>
            <a:endParaRPr lang="en-US" sz="1300" dirty="0"/>
          </a:p>
        </p:txBody>
      </p:sp>
      <p:sp>
        <p:nvSpPr>
          <p:cNvPr id="10" name="Step 2"/>
          <p:cNvSpPr/>
          <p:nvPr/>
        </p:nvSpPr>
        <p:spPr>
          <a:xfrm>
            <a:off x="685800" y="2560320"/>
            <a:ext cx="310896" cy="310896"/>
          </a:xfrm>
          <a:prstGeom prst="ellipse">
            <a:avLst/>
          </a:prstGeom>
          <a:solidFill>
            <a:schemeClr val="tx2"/>
          </a:solidFill>
          <a:ln w="12700">
            <a:solidFill>
              <a:schemeClr val="tx2"/>
            </a:solidFill>
            <a:prstDash val="solid"/>
          </a:ln>
        </p:spPr>
      </p:sp>
      <p:sp>
        <p:nvSpPr>
          <p:cNvPr id="11" name="Step 2 number"/>
          <p:cNvSpPr txBox="1"/>
          <p:nvPr/>
        </p:nvSpPr>
        <p:spPr>
          <a:xfrm>
            <a:off x="685800" y="2560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10"/>
          <p:cNvSpPr txBox="1"/>
          <p:nvPr/>
        </p:nvSpPr>
        <p:spPr>
          <a:xfrm>
            <a:off x="1115568" y="2505456"/>
            <a:ext cx="3200400" cy="566928"/>
          </a:xfrm>
          <a:prstGeom prst="rect">
            <a:avLst/>
          </a:prstGeom>
          <a:noFill/>
          <a:ln/>
        </p:spPr>
        <p:txBody>
          <a:bodyPr wrap="square" lIns="0" tIns="0" rIns="0" bIns="0" rtlCol="0" anchor="ctr"/>
          <a:lstStyle/>
          <a:p>
            <a:pPr indent="0" marL="0">
              <a:buNone/>
            </a:pPr>
            <a:r>
              <a:rPr lang="en-US" sz="1300" dirty="0">
                <a:solidFill>
                  <a:schemeClr val="tx1"/>
                </a:solidFill>
              </a:rPr>
              <a:t>Both attached files, then Parse application.</a:t>
            </a:r>
            <a:endParaRPr lang="en-US" sz="1300" dirty="0"/>
          </a:p>
        </p:txBody>
      </p:sp>
      <p:sp>
        <p:nvSpPr>
          <p:cNvPr id="13" name="Step 3"/>
          <p:cNvSpPr/>
          <p:nvPr/>
        </p:nvSpPr>
        <p:spPr>
          <a:xfrm>
            <a:off x="685800" y="3236976"/>
            <a:ext cx="310896" cy="310896"/>
          </a:xfrm>
          <a:prstGeom prst="ellipse">
            <a:avLst/>
          </a:prstGeom>
          <a:solidFill>
            <a:schemeClr val="tx2"/>
          </a:solidFill>
          <a:ln w="12700">
            <a:solidFill>
              <a:schemeClr val="tx2"/>
            </a:solidFill>
            <a:prstDash val="solid"/>
          </a:ln>
        </p:spPr>
      </p:sp>
      <p:sp>
        <p:nvSpPr>
          <p:cNvPr id="14" name="Step 3 number"/>
          <p:cNvSpPr txBox="1"/>
          <p:nvPr/>
        </p:nvSpPr>
        <p:spPr>
          <a:xfrm>
            <a:off x="685800" y="323697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 13"/>
          <p:cNvSpPr txBox="1"/>
          <p:nvPr/>
        </p:nvSpPr>
        <p:spPr>
          <a:xfrm>
            <a:off x="1115568" y="3182112"/>
            <a:ext cx="3200400" cy="566928"/>
          </a:xfrm>
          <a:prstGeom prst="rect">
            <a:avLst/>
          </a:prstGeom>
          <a:noFill/>
          <a:ln/>
        </p:spPr>
        <p:txBody>
          <a:bodyPr wrap="square" lIns="0" tIns="0" rIns="0" bIns="0" rtlCol="0" anchor="ctr"/>
          <a:lstStyle/>
          <a:p>
            <a:pPr indent="0" marL="0">
              <a:buNone/>
            </a:pPr>
            <a:r>
              <a:rPr lang="en-US" sz="1300" dirty="0">
                <a:solidFill>
                  <a:schemeClr val="tx1"/>
                </a:solidFill>
              </a:rPr>
              <a:t>Metrics row and the address mismatch flag.</a:t>
            </a:r>
            <a:endParaRPr lang="en-US" sz="1300" dirty="0"/>
          </a:p>
        </p:txBody>
      </p:sp>
      <p:sp>
        <p:nvSpPr>
          <p:cNvPr id="16" name="Key line card"/>
          <p:cNvSpPr/>
          <p:nvPr/>
        </p:nvSpPr>
        <p:spPr>
          <a:xfrm>
            <a:off x="4754880" y="1234440"/>
            <a:ext cx="3931920" cy="2011680"/>
          </a:xfrm>
          <a:prstGeom prst="roundRect">
            <a:avLst>
              <a:gd name="adj" fmla="val 5455"/>
            </a:avLst>
          </a:prstGeom>
          <a:solidFill>
            <a:schemeClr val="tx2"/>
          </a:solidFill>
          <a:ln w="12700">
            <a:solidFill>
              <a:schemeClr val="tx2"/>
            </a:solidFill>
            <a:prstDash val="solid"/>
          </a:ln>
        </p:spPr>
      </p:sp>
      <p:sp>
        <p:nvSpPr>
          <p:cNvPr id="17" name="Text 15"/>
          <p:cNvSpPr txBox="1"/>
          <p:nvPr/>
        </p:nvSpPr>
        <p:spPr>
          <a:xfrm>
            <a:off x="4983480" y="1417320"/>
            <a:ext cx="347472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KEY LINE</a:t>
            </a:r>
            <a:endParaRPr lang="en-US" sz="1100" dirty="0"/>
          </a:p>
        </p:txBody>
      </p:sp>
      <p:sp>
        <p:nvSpPr>
          <p:cNvPr id="18" name="Text 16"/>
          <p:cNvSpPr txBox="1"/>
          <p:nvPr/>
        </p:nvSpPr>
        <p:spPr>
          <a:xfrm>
            <a:off x="4983480" y="1737360"/>
            <a:ext cx="3474720" cy="1371600"/>
          </a:xfrm>
          <a:prstGeom prst="rect">
            <a:avLst/>
          </a:prstGeom>
          <a:noFill/>
          <a:ln/>
        </p:spPr>
        <p:txBody>
          <a:bodyPr wrap="square" lIns="0" tIns="0" rIns="0" bIns="0" rtlCol="0" anchor="t"/>
          <a:lstStyle/>
          <a:p>
            <a:pPr indent="0" marL="0">
              <a:buNone/>
            </a:pPr>
            <a:r>
              <a:rPr lang="en-US" sz="1500" i="1" dirty="0">
                <a:solidFill>
                  <a:schemeClr val="bg1"/>
                </a:solidFill>
              </a:rPr>
              <a:t>“One click and Agentforce checks both documents against membership and card requirements.”</a:t>
            </a:r>
            <a:endParaRPr lang="en-US" sz="1500" dirty="0"/>
          </a:p>
        </p:txBody>
      </p:sp>
      <p:sp>
        <p:nvSpPr>
          <p:cNvPr id="19" name="Benefit card"/>
          <p:cNvSpPr/>
          <p:nvPr/>
        </p:nvSpPr>
        <p:spPr>
          <a:xfrm>
            <a:off x="4754880" y="3429000"/>
            <a:ext cx="3931920" cy="1143000"/>
          </a:xfrm>
          <a:prstGeom prst="roundRect">
            <a:avLst>
              <a:gd name="adj" fmla="val 9600"/>
            </a:avLst>
          </a:prstGeom>
          <a:solidFill>
            <a:schemeClr val="bg1"/>
          </a:solidFill>
          <a:ln w="12700">
            <a:solidFill>
              <a:schemeClr val="accent5"/>
            </a:solidFill>
            <a:prstDash val="solid"/>
          </a:ln>
          <a:effectLst>
            <a:outerShdw sx="100000" sy="100000" kx="0" ky="0" algn="bl" rotWithShape="0" blurRad="76200" dist="25400" dir="5400000">
              <a:srgbClr val="0B2D5B">
                <a:alpha val="15000"/>
              </a:srgbClr>
            </a:outerShdw>
          </a:effectLst>
        </p:spPr>
      </p:sp>
      <p:sp>
        <p:nvSpPr>
          <p:cNvPr id="20" name="Text 18"/>
          <p:cNvSpPr txBox="1"/>
          <p:nvPr/>
        </p:nvSpPr>
        <p:spPr>
          <a:xfrm>
            <a:off x="4983480" y="3566160"/>
            <a:ext cx="34747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WHY IT MATTERS FOR NFCU</a:t>
            </a:r>
            <a:endParaRPr lang="en-US" sz="1100" dirty="0"/>
          </a:p>
        </p:txBody>
      </p:sp>
      <p:sp>
        <p:nvSpPr>
          <p:cNvPr id="21" name="Text 19"/>
          <p:cNvSpPr txBox="1"/>
          <p:nvPr/>
        </p:nvSpPr>
        <p:spPr>
          <a:xfrm>
            <a:off x="4983480" y="3858768"/>
            <a:ext cx="3474720" cy="640080"/>
          </a:xfrm>
          <a:prstGeom prst="rect">
            <a:avLst/>
          </a:prstGeom>
          <a:noFill/>
          <a:ln/>
        </p:spPr>
        <p:txBody>
          <a:bodyPr wrap="square" lIns="0" tIns="0" rIns="0" bIns="0" rtlCol="0" anchor="t"/>
          <a:lstStyle/>
          <a:p>
            <a:pPr indent="0" marL="0">
              <a:buNone/>
            </a:pPr>
            <a:r>
              <a:rPr lang="en-US" sz="1500" b="1" dirty="0">
                <a:solidFill>
                  <a:schemeClr val="tx2"/>
                </a:solidFill>
              </a:rPr>
              <a:t>A ten-minute manual review becomes one click</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Complete Card Application</a:t>
            </a:r>
            <a:endParaRPr lang="en-US" sz="3000" dirty="0"/>
          </a:p>
        </p:txBody>
      </p:sp>
      <p:sp>
        <p:nvSpPr>
          <p:cNvPr id="3" name="Time"/>
          <p:cNvSpPr/>
          <p:nvPr/>
        </p:nvSpPr>
        <p:spPr>
          <a:xfrm>
            <a:off x="7452360" y="502920"/>
            <a:ext cx="1234440" cy="329184"/>
          </a:xfrm>
          <a:prstGeom prst="roundRect">
            <a:avLst>
              <a:gd name="adj" fmla="val 50000"/>
            </a:avLst>
          </a:prstGeom>
          <a:solidFill>
            <a:schemeClr val="accent2"/>
          </a:solidFill>
          <a:ln w="12700">
            <a:solidFill>
              <a:schemeClr val="accent2"/>
            </a:solidFill>
            <a:prstDash val="solid"/>
          </a:ln>
        </p:spPr>
      </p:sp>
      <p:sp>
        <p:nvSpPr>
          <p:cNvPr id="4" name="Time label"/>
          <p:cNvSpPr txBox="1"/>
          <p:nvPr/>
        </p:nvSpPr>
        <p:spPr>
          <a:xfrm>
            <a:off x="7452360" y="50292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1:17–1:39</a:t>
            </a:r>
            <a:endParaRPr lang="en-US" sz="1200" dirty="0"/>
          </a:p>
        </p:txBody>
      </p:sp>
      <p:sp>
        <p:nvSpPr>
          <p:cNvPr id="5" name="On screen card"/>
          <p:cNvSpPr/>
          <p:nvPr/>
        </p:nvSpPr>
        <p:spPr>
          <a:xfrm>
            <a:off x="457200" y="1234440"/>
            <a:ext cx="4023360" cy="3337560"/>
          </a:xfrm>
          <a:prstGeom prst="roundRect">
            <a:avLst>
              <a:gd name="adj" fmla="val 3288"/>
            </a:avLst>
          </a:prstGeom>
          <a:solidFill>
            <a:schemeClr val="bg2"/>
          </a:solidFill>
          <a:ln w="12700">
            <a:solidFill>
              <a:schemeClr val="bg2"/>
            </a:solidFill>
            <a:prstDash val="solid"/>
          </a:ln>
        </p:spPr>
      </p:sp>
      <p:sp>
        <p:nvSpPr>
          <p:cNvPr id="6" name="Text 4"/>
          <p:cNvSpPr txBox="1"/>
          <p:nvPr/>
        </p:nvSpPr>
        <p:spPr>
          <a:xfrm>
            <a:off x="685800" y="1417320"/>
            <a:ext cx="35661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ON SCREEN</a:t>
            </a:r>
            <a:endParaRPr lang="en-US" sz="1100" dirty="0"/>
          </a:p>
        </p:txBody>
      </p:sp>
      <p:sp>
        <p:nvSpPr>
          <p:cNvPr id="7" name="Step 1"/>
          <p:cNvSpPr/>
          <p:nvPr/>
        </p:nvSpPr>
        <p:spPr>
          <a:xfrm>
            <a:off x="685800" y="1883664"/>
            <a:ext cx="310896" cy="310896"/>
          </a:xfrm>
          <a:prstGeom prst="ellipse">
            <a:avLst/>
          </a:prstGeom>
          <a:solidFill>
            <a:schemeClr val="tx2"/>
          </a:solidFill>
          <a:ln w="12700">
            <a:solidFill>
              <a:schemeClr val="tx2"/>
            </a:solidFill>
            <a:prstDash val="solid"/>
          </a:ln>
        </p:spPr>
      </p:sp>
      <p:sp>
        <p:nvSpPr>
          <p:cNvPr id="8" name="Step 1 number"/>
          <p:cNvSpPr txBox="1"/>
          <p:nvPr/>
        </p:nvSpPr>
        <p:spPr>
          <a:xfrm>
            <a:off x="685800" y="188366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1115568" y="1828800"/>
            <a:ext cx="3200400" cy="566928"/>
          </a:xfrm>
          <a:prstGeom prst="rect">
            <a:avLst/>
          </a:prstGeom>
          <a:noFill/>
          <a:ln/>
        </p:spPr>
        <p:txBody>
          <a:bodyPr wrap="square" lIns="0" tIns="0" rIns="0" bIns="0" rtlCol="0" anchor="ctr"/>
          <a:lstStyle/>
          <a:p>
            <a:pPr indent="0" marL="0">
              <a:buNone/>
            </a:pPr>
            <a:r>
              <a:rPr lang="en-US" sz="1300" dirty="0">
                <a:solidFill>
                  <a:schemeClr val="tx1"/>
                </a:solidFill>
              </a:rPr>
              <a:t>Step 2: Parse Government ID fills the ID fields.</a:t>
            </a:r>
            <a:endParaRPr lang="en-US" sz="1300" dirty="0"/>
          </a:p>
        </p:txBody>
      </p:sp>
      <p:sp>
        <p:nvSpPr>
          <p:cNvPr id="10" name="Step 2"/>
          <p:cNvSpPr/>
          <p:nvPr/>
        </p:nvSpPr>
        <p:spPr>
          <a:xfrm>
            <a:off x="685800" y="2560320"/>
            <a:ext cx="310896" cy="310896"/>
          </a:xfrm>
          <a:prstGeom prst="ellipse">
            <a:avLst/>
          </a:prstGeom>
          <a:solidFill>
            <a:schemeClr val="tx2"/>
          </a:solidFill>
          <a:ln w="12700">
            <a:solidFill>
              <a:schemeClr val="tx2"/>
            </a:solidFill>
            <a:prstDash val="solid"/>
          </a:ln>
        </p:spPr>
      </p:sp>
      <p:sp>
        <p:nvSpPr>
          <p:cNvPr id="11" name="Step 2 number"/>
          <p:cNvSpPr txBox="1"/>
          <p:nvPr/>
        </p:nvSpPr>
        <p:spPr>
          <a:xfrm>
            <a:off x="685800" y="2560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10"/>
          <p:cNvSpPr txBox="1"/>
          <p:nvPr/>
        </p:nvSpPr>
        <p:spPr>
          <a:xfrm>
            <a:off x="1115568" y="2505456"/>
            <a:ext cx="3200400" cy="566928"/>
          </a:xfrm>
          <a:prstGeom prst="rect">
            <a:avLst/>
          </a:prstGeom>
          <a:noFill/>
          <a:ln/>
        </p:spPr>
        <p:txBody>
          <a:bodyPr wrap="square" lIns="0" tIns="0" rIns="0" bIns="0" rtlCol="0" anchor="ctr"/>
          <a:lstStyle/>
          <a:p>
            <a:pPr indent="0" marL="0">
              <a:buNone/>
            </a:pPr>
            <a:r>
              <a:rPr lang="en-US" sz="1300" dirty="0">
                <a:solidFill>
                  <a:schemeClr val="tx1"/>
                </a:solidFill>
              </a:rPr>
              <a:t>Step 3: Flagship marked “Best fit for you”; Capital One transfer carried over.</a:t>
            </a:r>
            <a:endParaRPr lang="en-US" sz="1300" dirty="0"/>
          </a:p>
        </p:txBody>
      </p:sp>
      <p:sp>
        <p:nvSpPr>
          <p:cNvPr id="13" name="Step 3"/>
          <p:cNvSpPr/>
          <p:nvPr/>
        </p:nvSpPr>
        <p:spPr>
          <a:xfrm>
            <a:off x="685800" y="3236976"/>
            <a:ext cx="310896" cy="310896"/>
          </a:xfrm>
          <a:prstGeom prst="ellipse">
            <a:avLst/>
          </a:prstGeom>
          <a:solidFill>
            <a:schemeClr val="tx2"/>
          </a:solidFill>
          <a:ln w="12700">
            <a:solidFill>
              <a:schemeClr val="tx2"/>
            </a:solidFill>
            <a:prstDash val="solid"/>
          </a:ln>
        </p:spPr>
      </p:sp>
      <p:sp>
        <p:nvSpPr>
          <p:cNvPr id="14" name="Step 3 number"/>
          <p:cNvSpPr txBox="1"/>
          <p:nvPr/>
        </p:nvSpPr>
        <p:spPr>
          <a:xfrm>
            <a:off x="685800" y="323697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 13"/>
          <p:cNvSpPr txBox="1"/>
          <p:nvPr/>
        </p:nvSpPr>
        <p:spPr>
          <a:xfrm>
            <a:off x="1115568" y="3182112"/>
            <a:ext cx="3200400" cy="566928"/>
          </a:xfrm>
          <a:prstGeom prst="rect">
            <a:avLst/>
          </a:prstGeom>
          <a:noFill/>
          <a:ln/>
        </p:spPr>
        <p:txBody>
          <a:bodyPr wrap="square" lIns="0" tIns="0" rIns="0" bIns="0" rtlCol="0" anchor="ctr"/>
          <a:lstStyle/>
          <a:p>
            <a:pPr indent="0" marL="0">
              <a:buNone/>
            </a:pPr>
            <a:r>
              <a:rPr lang="en-US" sz="1300" dirty="0">
                <a:solidFill>
                  <a:schemeClr val="tx1"/>
                </a:solidFill>
              </a:rPr>
              <a:t>Second balance and fiancé set to collect; Complete.</a:t>
            </a:r>
            <a:endParaRPr lang="en-US" sz="1300" dirty="0"/>
          </a:p>
        </p:txBody>
      </p:sp>
      <p:sp>
        <p:nvSpPr>
          <p:cNvPr id="16" name="Key line card"/>
          <p:cNvSpPr/>
          <p:nvPr/>
        </p:nvSpPr>
        <p:spPr>
          <a:xfrm>
            <a:off x="4754880" y="1234440"/>
            <a:ext cx="3931920" cy="2011680"/>
          </a:xfrm>
          <a:prstGeom prst="roundRect">
            <a:avLst>
              <a:gd name="adj" fmla="val 5455"/>
            </a:avLst>
          </a:prstGeom>
          <a:solidFill>
            <a:schemeClr val="tx2"/>
          </a:solidFill>
          <a:ln w="12700">
            <a:solidFill>
              <a:schemeClr val="tx2"/>
            </a:solidFill>
            <a:prstDash val="solid"/>
          </a:ln>
        </p:spPr>
      </p:sp>
      <p:sp>
        <p:nvSpPr>
          <p:cNvPr id="17" name="Text 15"/>
          <p:cNvSpPr txBox="1"/>
          <p:nvPr/>
        </p:nvSpPr>
        <p:spPr>
          <a:xfrm>
            <a:off x="4983480" y="1417320"/>
            <a:ext cx="347472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KEY LINE</a:t>
            </a:r>
            <a:endParaRPr lang="en-US" sz="1100" dirty="0"/>
          </a:p>
        </p:txBody>
      </p:sp>
      <p:sp>
        <p:nvSpPr>
          <p:cNvPr id="18" name="Text 16"/>
          <p:cNvSpPr txBox="1"/>
          <p:nvPr/>
        </p:nvSpPr>
        <p:spPr>
          <a:xfrm>
            <a:off x="4983480" y="1737360"/>
            <a:ext cx="3474720" cy="1371600"/>
          </a:xfrm>
          <a:prstGeom prst="rect">
            <a:avLst/>
          </a:prstGeom>
          <a:noFill/>
          <a:ln/>
        </p:spPr>
        <p:txBody>
          <a:bodyPr wrap="square" lIns="0" tIns="0" rIns="0" bIns="0" rtlCol="0" anchor="t"/>
          <a:lstStyle/>
          <a:p>
            <a:pPr indent="0" marL="0">
              <a:buNone/>
            </a:pPr>
            <a:r>
              <a:rPr lang="en-US" sz="1500" i="1" dirty="0">
                <a:solidFill>
                  <a:schemeClr val="bg1"/>
                </a:solidFill>
              </a:rPr>
              <a:t>“One save updates the application in Salesforce, with no rekeying.”</a:t>
            </a:r>
            <a:endParaRPr lang="en-US" sz="1500" dirty="0"/>
          </a:p>
        </p:txBody>
      </p:sp>
      <p:sp>
        <p:nvSpPr>
          <p:cNvPr id="19" name="Benefit card"/>
          <p:cNvSpPr/>
          <p:nvPr/>
        </p:nvSpPr>
        <p:spPr>
          <a:xfrm>
            <a:off x="4754880" y="3429000"/>
            <a:ext cx="3931920" cy="1143000"/>
          </a:xfrm>
          <a:prstGeom prst="roundRect">
            <a:avLst>
              <a:gd name="adj" fmla="val 9600"/>
            </a:avLst>
          </a:prstGeom>
          <a:solidFill>
            <a:schemeClr val="bg1"/>
          </a:solidFill>
          <a:ln w="12700">
            <a:solidFill>
              <a:schemeClr val="accent5"/>
            </a:solidFill>
            <a:prstDash val="solid"/>
          </a:ln>
          <a:effectLst>
            <a:outerShdw sx="100000" sy="100000" kx="0" ky="0" algn="bl" rotWithShape="0" blurRad="76200" dist="25400" dir="5400000">
              <a:srgbClr val="0B2D5B">
                <a:alpha val="15000"/>
              </a:srgbClr>
            </a:outerShdw>
          </a:effectLst>
        </p:spPr>
      </p:sp>
      <p:sp>
        <p:nvSpPr>
          <p:cNvPr id="20" name="Text 18"/>
          <p:cNvSpPr txBox="1"/>
          <p:nvPr/>
        </p:nvSpPr>
        <p:spPr>
          <a:xfrm>
            <a:off x="4983480" y="3566160"/>
            <a:ext cx="34747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WHY IT MATTERS FOR NFCU</a:t>
            </a:r>
            <a:endParaRPr lang="en-US" sz="1100" dirty="0"/>
          </a:p>
        </p:txBody>
      </p:sp>
      <p:sp>
        <p:nvSpPr>
          <p:cNvPr id="21" name="Text 19"/>
          <p:cNvSpPr txBox="1"/>
          <p:nvPr/>
        </p:nvSpPr>
        <p:spPr>
          <a:xfrm>
            <a:off x="4983480" y="3858768"/>
            <a:ext cx="3474720" cy="640080"/>
          </a:xfrm>
          <a:prstGeom prst="rect">
            <a:avLst/>
          </a:prstGeom>
          <a:noFill/>
          <a:ln/>
        </p:spPr>
        <p:txBody>
          <a:bodyPr wrap="square" lIns="0" tIns="0" rIns="0" bIns="0" rtlCol="0" anchor="t"/>
          <a:lstStyle/>
          <a:p>
            <a:pPr indent="0" marL="0">
              <a:buNone/>
            </a:pPr>
            <a:r>
              <a:rPr lang="en-US" sz="1500" b="1" dirty="0">
                <a:solidFill>
                  <a:schemeClr val="tx2"/>
                </a:solidFill>
              </a:rPr>
              <a:t>No rekeying between the conversation and the application</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Verify Identity</a:t>
            </a:r>
            <a:endParaRPr lang="en-US" sz="3000" dirty="0"/>
          </a:p>
        </p:txBody>
      </p:sp>
      <p:sp>
        <p:nvSpPr>
          <p:cNvPr id="3" name="Time"/>
          <p:cNvSpPr/>
          <p:nvPr/>
        </p:nvSpPr>
        <p:spPr>
          <a:xfrm>
            <a:off x="7452360" y="502920"/>
            <a:ext cx="1234440" cy="329184"/>
          </a:xfrm>
          <a:prstGeom prst="roundRect">
            <a:avLst>
              <a:gd name="adj" fmla="val 50000"/>
            </a:avLst>
          </a:prstGeom>
          <a:solidFill>
            <a:schemeClr val="accent2"/>
          </a:solidFill>
          <a:ln w="12700">
            <a:solidFill>
              <a:schemeClr val="accent2"/>
            </a:solidFill>
            <a:prstDash val="solid"/>
          </a:ln>
        </p:spPr>
      </p:sp>
      <p:sp>
        <p:nvSpPr>
          <p:cNvPr id="4" name="Time label"/>
          <p:cNvSpPr txBox="1"/>
          <p:nvPr/>
        </p:nvSpPr>
        <p:spPr>
          <a:xfrm>
            <a:off x="7452360" y="50292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1:39–1:54</a:t>
            </a:r>
            <a:endParaRPr lang="en-US" sz="1200" dirty="0"/>
          </a:p>
        </p:txBody>
      </p:sp>
      <p:sp>
        <p:nvSpPr>
          <p:cNvPr id="5" name="On screen card"/>
          <p:cNvSpPr/>
          <p:nvPr/>
        </p:nvSpPr>
        <p:spPr>
          <a:xfrm>
            <a:off x="457200" y="1234440"/>
            <a:ext cx="4023360" cy="3337560"/>
          </a:xfrm>
          <a:prstGeom prst="roundRect">
            <a:avLst>
              <a:gd name="adj" fmla="val 3288"/>
            </a:avLst>
          </a:prstGeom>
          <a:solidFill>
            <a:schemeClr val="bg2"/>
          </a:solidFill>
          <a:ln w="12700">
            <a:solidFill>
              <a:schemeClr val="bg2"/>
            </a:solidFill>
            <a:prstDash val="solid"/>
          </a:ln>
        </p:spPr>
      </p:sp>
      <p:sp>
        <p:nvSpPr>
          <p:cNvPr id="6" name="Text 4"/>
          <p:cNvSpPr txBox="1"/>
          <p:nvPr/>
        </p:nvSpPr>
        <p:spPr>
          <a:xfrm>
            <a:off x="685800" y="1417320"/>
            <a:ext cx="35661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ON SCREEN</a:t>
            </a:r>
            <a:endParaRPr lang="en-US" sz="1100" dirty="0"/>
          </a:p>
        </p:txBody>
      </p:sp>
      <p:sp>
        <p:nvSpPr>
          <p:cNvPr id="7" name="Step 1"/>
          <p:cNvSpPr/>
          <p:nvPr/>
        </p:nvSpPr>
        <p:spPr>
          <a:xfrm>
            <a:off x="685800" y="1883664"/>
            <a:ext cx="310896" cy="310896"/>
          </a:xfrm>
          <a:prstGeom prst="ellipse">
            <a:avLst/>
          </a:prstGeom>
          <a:solidFill>
            <a:schemeClr val="tx2"/>
          </a:solidFill>
          <a:ln w="12700">
            <a:solidFill>
              <a:schemeClr val="tx2"/>
            </a:solidFill>
            <a:prstDash val="solid"/>
          </a:ln>
        </p:spPr>
      </p:sp>
      <p:sp>
        <p:nvSpPr>
          <p:cNvPr id="8" name="Step 1 number"/>
          <p:cNvSpPr txBox="1"/>
          <p:nvPr/>
        </p:nvSpPr>
        <p:spPr>
          <a:xfrm>
            <a:off x="685800" y="188366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1115568" y="1828800"/>
            <a:ext cx="3200400" cy="566928"/>
          </a:xfrm>
          <a:prstGeom prst="rect">
            <a:avLst/>
          </a:prstGeom>
          <a:noFill/>
          <a:ln/>
        </p:spPr>
        <p:txBody>
          <a:bodyPr wrap="square" lIns="0" tIns="0" rIns="0" bIns="0" rtlCol="0" anchor="ctr"/>
          <a:lstStyle/>
          <a:p>
            <a:pPr indent="0" marL="0">
              <a:buNone/>
            </a:pPr>
            <a:r>
              <a:rPr lang="en-US" sz="1300" dirty="0">
                <a:solidFill>
                  <a:schemeClr val="tx1"/>
                </a:solidFill>
              </a:rPr>
              <a:t>ID and PCS orders side by side, already on file.</a:t>
            </a:r>
            <a:endParaRPr lang="en-US" sz="1300" dirty="0"/>
          </a:p>
        </p:txBody>
      </p:sp>
      <p:sp>
        <p:nvSpPr>
          <p:cNvPr id="10" name="Step 2"/>
          <p:cNvSpPr/>
          <p:nvPr/>
        </p:nvSpPr>
        <p:spPr>
          <a:xfrm>
            <a:off x="685800" y="2560320"/>
            <a:ext cx="310896" cy="310896"/>
          </a:xfrm>
          <a:prstGeom prst="ellipse">
            <a:avLst/>
          </a:prstGeom>
          <a:solidFill>
            <a:schemeClr val="tx2"/>
          </a:solidFill>
          <a:ln w="12700">
            <a:solidFill>
              <a:schemeClr val="tx2"/>
            </a:solidFill>
            <a:prstDash val="solid"/>
          </a:ln>
        </p:spPr>
      </p:sp>
      <p:sp>
        <p:nvSpPr>
          <p:cNvPr id="11" name="Step 2 number"/>
          <p:cNvSpPr txBox="1"/>
          <p:nvPr/>
        </p:nvSpPr>
        <p:spPr>
          <a:xfrm>
            <a:off x="685800" y="2560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10"/>
          <p:cNvSpPr txBox="1"/>
          <p:nvPr/>
        </p:nvSpPr>
        <p:spPr>
          <a:xfrm>
            <a:off x="1115568" y="2505456"/>
            <a:ext cx="3200400" cy="566928"/>
          </a:xfrm>
          <a:prstGeom prst="rect">
            <a:avLst/>
          </a:prstGeom>
          <a:noFill/>
          <a:ln/>
        </p:spPr>
        <p:txBody>
          <a:bodyPr wrap="square" lIns="0" tIns="0" rIns="0" bIns="0" rtlCol="0" anchor="ctr"/>
          <a:lstStyle/>
          <a:p>
            <a:pPr indent="0" marL="0">
              <a:buNone/>
            </a:pPr>
            <a:r>
              <a:rPr lang="en-US" sz="1300" dirty="0">
                <a:solidFill>
                  <a:schemeClr val="tx1"/>
                </a:solidFill>
              </a:rPr>
              <a:t>Check the confirmation box.</a:t>
            </a:r>
            <a:endParaRPr lang="en-US" sz="1300" dirty="0"/>
          </a:p>
        </p:txBody>
      </p:sp>
      <p:sp>
        <p:nvSpPr>
          <p:cNvPr id="13" name="Key line card"/>
          <p:cNvSpPr/>
          <p:nvPr/>
        </p:nvSpPr>
        <p:spPr>
          <a:xfrm>
            <a:off x="4754880" y="1234440"/>
            <a:ext cx="3931920" cy="2011680"/>
          </a:xfrm>
          <a:prstGeom prst="roundRect">
            <a:avLst>
              <a:gd name="adj" fmla="val 5455"/>
            </a:avLst>
          </a:prstGeom>
          <a:solidFill>
            <a:schemeClr val="tx2"/>
          </a:solidFill>
          <a:ln w="12700">
            <a:solidFill>
              <a:schemeClr val="tx2"/>
            </a:solidFill>
            <a:prstDash val="solid"/>
          </a:ln>
        </p:spPr>
      </p:sp>
      <p:sp>
        <p:nvSpPr>
          <p:cNvPr id="14" name="Text 12"/>
          <p:cNvSpPr txBox="1"/>
          <p:nvPr/>
        </p:nvSpPr>
        <p:spPr>
          <a:xfrm>
            <a:off x="4983480" y="1417320"/>
            <a:ext cx="347472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KEY LINE</a:t>
            </a:r>
            <a:endParaRPr lang="en-US" sz="1100" dirty="0"/>
          </a:p>
        </p:txBody>
      </p:sp>
      <p:sp>
        <p:nvSpPr>
          <p:cNvPr id="15" name="Text 13"/>
          <p:cNvSpPr txBox="1"/>
          <p:nvPr/>
        </p:nvSpPr>
        <p:spPr>
          <a:xfrm>
            <a:off x="4983480" y="1737360"/>
            <a:ext cx="3474720" cy="1371600"/>
          </a:xfrm>
          <a:prstGeom prst="rect">
            <a:avLst/>
          </a:prstGeom>
          <a:noFill/>
          <a:ln/>
        </p:spPr>
        <p:txBody>
          <a:bodyPr wrap="square" lIns="0" tIns="0" rIns="0" bIns="0" rtlCol="0" anchor="t"/>
          <a:lstStyle/>
          <a:p>
            <a:pPr indent="0" marL="0">
              <a:buNone/>
            </a:pPr>
            <a:r>
              <a:rPr lang="en-US" sz="1500" i="1" dirty="0">
                <a:solidFill>
                  <a:schemeClr val="bg1"/>
                </a:solidFill>
              </a:rPr>
              <a:t>“The rep compares them to her profile and checks the confirmation box.”</a:t>
            </a:r>
            <a:endParaRPr lang="en-US" sz="1500" dirty="0"/>
          </a:p>
        </p:txBody>
      </p:sp>
      <p:sp>
        <p:nvSpPr>
          <p:cNvPr id="16" name="Benefit card"/>
          <p:cNvSpPr/>
          <p:nvPr/>
        </p:nvSpPr>
        <p:spPr>
          <a:xfrm>
            <a:off x="4754880" y="3429000"/>
            <a:ext cx="3931920" cy="1143000"/>
          </a:xfrm>
          <a:prstGeom prst="roundRect">
            <a:avLst>
              <a:gd name="adj" fmla="val 9600"/>
            </a:avLst>
          </a:prstGeom>
          <a:solidFill>
            <a:schemeClr val="bg1"/>
          </a:solidFill>
          <a:ln w="12700">
            <a:solidFill>
              <a:schemeClr val="accent5"/>
            </a:solidFill>
            <a:prstDash val="solid"/>
          </a:ln>
          <a:effectLst>
            <a:outerShdw sx="100000" sy="100000" kx="0" ky="0" algn="bl" rotWithShape="0" blurRad="76200" dist="25400" dir="5400000">
              <a:srgbClr val="0B2D5B">
                <a:alpha val="15000"/>
              </a:srgbClr>
            </a:outerShdw>
          </a:effectLst>
        </p:spPr>
      </p:sp>
      <p:sp>
        <p:nvSpPr>
          <p:cNvPr id="17" name="Text 15"/>
          <p:cNvSpPr txBox="1"/>
          <p:nvPr/>
        </p:nvSpPr>
        <p:spPr>
          <a:xfrm>
            <a:off x="4983480" y="3566160"/>
            <a:ext cx="34747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WHY IT MATTERS FOR NFCU</a:t>
            </a:r>
            <a:endParaRPr lang="en-US" sz="1100" dirty="0"/>
          </a:p>
        </p:txBody>
      </p:sp>
      <p:sp>
        <p:nvSpPr>
          <p:cNvPr id="18" name="Text 16"/>
          <p:cNvSpPr txBox="1"/>
          <p:nvPr/>
        </p:nvSpPr>
        <p:spPr>
          <a:xfrm>
            <a:off x="4983480" y="3858768"/>
            <a:ext cx="3474720" cy="640080"/>
          </a:xfrm>
          <a:prstGeom prst="rect">
            <a:avLst/>
          </a:prstGeom>
          <a:noFill/>
          <a:ln/>
        </p:spPr>
        <p:txBody>
          <a:bodyPr wrap="square" lIns="0" tIns="0" rIns="0" bIns="0" rtlCol="0" anchor="t"/>
          <a:lstStyle/>
          <a:p>
            <a:pPr indent="0" marL="0">
              <a:buNone/>
            </a:pPr>
            <a:r>
              <a:rPr lang="en-US" sz="1500" b="1" dirty="0">
                <a:solidFill>
                  <a:schemeClr val="tx2"/>
                </a:solidFill>
              </a:rPr>
              <a:t>Auditable step-up verification for members relocating overseas</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Email Application Requirements</a:t>
            </a:r>
            <a:endParaRPr lang="en-US" sz="3000" dirty="0"/>
          </a:p>
        </p:txBody>
      </p:sp>
      <p:sp>
        <p:nvSpPr>
          <p:cNvPr id="3" name="Time"/>
          <p:cNvSpPr/>
          <p:nvPr/>
        </p:nvSpPr>
        <p:spPr>
          <a:xfrm>
            <a:off x="7452360" y="502920"/>
            <a:ext cx="1234440" cy="329184"/>
          </a:xfrm>
          <a:prstGeom prst="roundRect">
            <a:avLst>
              <a:gd name="adj" fmla="val 50000"/>
            </a:avLst>
          </a:prstGeom>
          <a:solidFill>
            <a:schemeClr val="accent2"/>
          </a:solidFill>
          <a:ln w="12700">
            <a:solidFill>
              <a:schemeClr val="accent2"/>
            </a:solidFill>
            <a:prstDash val="solid"/>
          </a:ln>
        </p:spPr>
      </p:sp>
      <p:sp>
        <p:nvSpPr>
          <p:cNvPr id="4" name="Time label"/>
          <p:cNvSpPr txBox="1"/>
          <p:nvPr/>
        </p:nvSpPr>
        <p:spPr>
          <a:xfrm>
            <a:off x="7452360" y="50292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1:54–2:14</a:t>
            </a:r>
            <a:endParaRPr lang="en-US" sz="1200" dirty="0"/>
          </a:p>
        </p:txBody>
      </p:sp>
      <p:sp>
        <p:nvSpPr>
          <p:cNvPr id="5" name="On screen card"/>
          <p:cNvSpPr/>
          <p:nvPr/>
        </p:nvSpPr>
        <p:spPr>
          <a:xfrm>
            <a:off x="457200" y="1234440"/>
            <a:ext cx="4023360" cy="3337560"/>
          </a:xfrm>
          <a:prstGeom prst="roundRect">
            <a:avLst>
              <a:gd name="adj" fmla="val 3288"/>
            </a:avLst>
          </a:prstGeom>
          <a:solidFill>
            <a:schemeClr val="bg2"/>
          </a:solidFill>
          <a:ln w="12700">
            <a:solidFill>
              <a:schemeClr val="bg2"/>
            </a:solidFill>
            <a:prstDash val="solid"/>
          </a:ln>
        </p:spPr>
      </p:sp>
      <p:sp>
        <p:nvSpPr>
          <p:cNvPr id="6" name="Text 4"/>
          <p:cNvSpPr txBox="1"/>
          <p:nvPr/>
        </p:nvSpPr>
        <p:spPr>
          <a:xfrm>
            <a:off x="685800" y="1417320"/>
            <a:ext cx="35661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ON SCREEN</a:t>
            </a:r>
            <a:endParaRPr lang="en-US" sz="1100" dirty="0"/>
          </a:p>
        </p:txBody>
      </p:sp>
      <p:sp>
        <p:nvSpPr>
          <p:cNvPr id="7" name="Step 1"/>
          <p:cNvSpPr/>
          <p:nvPr/>
        </p:nvSpPr>
        <p:spPr>
          <a:xfrm>
            <a:off x="685800" y="1883664"/>
            <a:ext cx="310896" cy="310896"/>
          </a:xfrm>
          <a:prstGeom prst="ellipse">
            <a:avLst/>
          </a:prstGeom>
          <a:solidFill>
            <a:schemeClr val="tx2"/>
          </a:solidFill>
          <a:ln w="12700">
            <a:solidFill>
              <a:schemeClr val="tx2"/>
            </a:solidFill>
            <a:prstDash val="solid"/>
          </a:ln>
        </p:spPr>
      </p:sp>
      <p:sp>
        <p:nvSpPr>
          <p:cNvPr id="8" name="Step 1 number"/>
          <p:cNvSpPr txBox="1"/>
          <p:nvPr/>
        </p:nvSpPr>
        <p:spPr>
          <a:xfrm>
            <a:off x="685800" y="188366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1115568" y="1828800"/>
            <a:ext cx="3200400" cy="566928"/>
          </a:xfrm>
          <a:prstGeom prst="rect">
            <a:avLst/>
          </a:prstGeom>
          <a:noFill/>
          <a:ln/>
        </p:spPr>
        <p:txBody>
          <a:bodyPr wrap="square" lIns="0" tIns="0" rIns="0" bIns="0" rtlCol="0" anchor="ctr"/>
          <a:lstStyle/>
          <a:p>
            <a:pPr indent="0" marL="0">
              <a:buNone/>
            </a:pPr>
            <a:r>
              <a:rPr lang="en-US" sz="1300" dirty="0">
                <a:solidFill>
                  <a:schemeClr val="tx1"/>
                </a:solidFill>
              </a:rPr>
              <a:t>Outstanding items pre-selected; preview.</a:t>
            </a:r>
            <a:endParaRPr lang="en-US" sz="1300" dirty="0"/>
          </a:p>
        </p:txBody>
      </p:sp>
      <p:sp>
        <p:nvSpPr>
          <p:cNvPr id="10" name="Step 2"/>
          <p:cNvSpPr/>
          <p:nvPr/>
        </p:nvSpPr>
        <p:spPr>
          <a:xfrm>
            <a:off x="685800" y="2560320"/>
            <a:ext cx="310896" cy="310896"/>
          </a:xfrm>
          <a:prstGeom prst="ellipse">
            <a:avLst/>
          </a:prstGeom>
          <a:solidFill>
            <a:schemeClr val="tx2"/>
          </a:solidFill>
          <a:ln w="12700">
            <a:solidFill>
              <a:schemeClr val="tx2"/>
            </a:solidFill>
            <a:prstDash val="solid"/>
          </a:ln>
        </p:spPr>
      </p:sp>
      <p:sp>
        <p:nvSpPr>
          <p:cNvPr id="11" name="Step 2 number"/>
          <p:cNvSpPr txBox="1"/>
          <p:nvPr/>
        </p:nvSpPr>
        <p:spPr>
          <a:xfrm>
            <a:off x="685800" y="2560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10"/>
          <p:cNvSpPr txBox="1"/>
          <p:nvPr/>
        </p:nvSpPr>
        <p:spPr>
          <a:xfrm>
            <a:off x="1115568" y="2505456"/>
            <a:ext cx="3200400" cy="566928"/>
          </a:xfrm>
          <a:prstGeom prst="rect">
            <a:avLst/>
          </a:prstGeom>
          <a:noFill/>
          <a:ln/>
        </p:spPr>
        <p:txBody>
          <a:bodyPr wrap="square" lIns="0" tIns="0" rIns="0" bIns="0" rtlCol="0" anchor="ctr"/>
          <a:lstStyle/>
          <a:p>
            <a:pPr indent="0" marL="0">
              <a:buNone/>
            </a:pPr>
            <a:r>
              <a:rPr lang="en-US" sz="1300" dirty="0">
                <a:solidFill>
                  <a:schemeClr val="tx1"/>
                </a:solidFill>
              </a:rPr>
              <a:t>Send: case moves to Waiting on Customer.</a:t>
            </a:r>
            <a:endParaRPr lang="en-US" sz="1300" dirty="0"/>
          </a:p>
        </p:txBody>
      </p:sp>
      <p:sp>
        <p:nvSpPr>
          <p:cNvPr id="13" name="Step 3"/>
          <p:cNvSpPr/>
          <p:nvPr/>
        </p:nvSpPr>
        <p:spPr>
          <a:xfrm>
            <a:off x="685800" y="3236976"/>
            <a:ext cx="310896" cy="310896"/>
          </a:xfrm>
          <a:prstGeom prst="ellipse">
            <a:avLst/>
          </a:prstGeom>
          <a:solidFill>
            <a:schemeClr val="tx2"/>
          </a:solidFill>
          <a:ln w="12700">
            <a:solidFill>
              <a:schemeClr val="tx2"/>
            </a:solidFill>
            <a:prstDash val="solid"/>
          </a:ln>
        </p:spPr>
      </p:sp>
      <p:sp>
        <p:nvSpPr>
          <p:cNvPr id="14" name="Step 3 number"/>
          <p:cNvSpPr txBox="1"/>
          <p:nvPr/>
        </p:nvSpPr>
        <p:spPr>
          <a:xfrm>
            <a:off x="685800" y="323697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 13"/>
          <p:cNvSpPr txBox="1"/>
          <p:nvPr/>
        </p:nvSpPr>
        <p:spPr>
          <a:xfrm>
            <a:off x="1115568" y="3182112"/>
            <a:ext cx="3200400" cy="566928"/>
          </a:xfrm>
          <a:prstGeom prst="rect">
            <a:avLst/>
          </a:prstGeom>
          <a:noFill/>
          <a:ln/>
        </p:spPr>
        <p:txBody>
          <a:bodyPr wrap="square" lIns="0" tIns="0" rIns="0" bIns="0" rtlCol="0" anchor="ctr"/>
          <a:lstStyle/>
          <a:p>
            <a:pPr indent="0" marL="0">
              <a:buNone/>
            </a:pPr>
            <a:r>
              <a:rPr lang="en-US" sz="1300" dirty="0">
                <a:solidFill>
                  <a:schemeClr val="tx1"/>
                </a:solidFill>
              </a:rPr>
              <a:t>Point to the checkmarks on the action bar.</a:t>
            </a:r>
            <a:endParaRPr lang="en-US" sz="1300" dirty="0"/>
          </a:p>
        </p:txBody>
      </p:sp>
      <p:sp>
        <p:nvSpPr>
          <p:cNvPr id="16" name="Key line card"/>
          <p:cNvSpPr/>
          <p:nvPr/>
        </p:nvSpPr>
        <p:spPr>
          <a:xfrm>
            <a:off x="4754880" y="1234440"/>
            <a:ext cx="3931920" cy="2011680"/>
          </a:xfrm>
          <a:prstGeom prst="roundRect">
            <a:avLst>
              <a:gd name="adj" fmla="val 5455"/>
            </a:avLst>
          </a:prstGeom>
          <a:solidFill>
            <a:schemeClr val="tx2"/>
          </a:solidFill>
          <a:ln w="12700">
            <a:solidFill>
              <a:schemeClr val="tx2"/>
            </a:solidFill>
            <a:prstDash val="solid"/>
          </a:ln>
        </p:spPr>
      </p:sp>
      <p:sp>
        <p:nvSpPr>
          <p:cNvPr id="17" name="Text 15"/>
          <p:cNvSpPr txBox="1"/>
          <p:nvPr/>
        </p:nvSpPr>
        <p:spPr>
          <a:xfrm>
            <a:off x="4983480" y="1417320"/>
            <a:ext cx="347472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KEY LINE</a:t>
            </a:r>
            <a:endParaRPr lang="en-US" sz="1100" dirty="0"/>
          </a:p>
        </p:txBody>
      </p:sp>
      <p:sp>
        <p:nvSpPr>
          <p:cNvPr id="18" name="Text 16"/>
          <p:cNvSpPr txBox="1"/>
          <p:nvPr/>
        </p:nvSpPr>
        <p:spPr>
          <a:xfrm>
            <a:off x="4983480" y="1737360"/>
            <a:ext cx="3474720" cy="1371600"/>
          </a:xfrm>
          <a:prstGeom prst="rect">
            <a:avLst/>
          </a:prstGeom>
          <a:noFill/>
          <a:ln/>
        </p:spPr>
        <p:txBody>
          <a:bodyPr wrap="square" lIns="0" tIns="0" rIns="0" bIns="0" rtlCol="0" anchor="t"/>
          <a:lstStyle/>
          <a:p>
            <a:pPr indent="0" marL="0">
              <a:buNone/>
            </a:pPr>
            <a:r>
              <a:rPr lang="en-US" sz="1500" i="1" dirty="0">
                <a:solidFill>
                  <a:schemeClr val="bg1"/>
                </a:solidFill>
              </a:rPr>
              <a:t>“Every step on the action bar is checked off, and her applicant record updated itself.”</a:t>
            </a:r>
            <a:endParaRPr lang="en-US" sz="1500" dirty="0"/>
          </a:p>
        </p:txBody>
      </p:sp>
      <p:sp>
        <p:nvSpPr>
          <p:cNvPr id="19" name="Benefit card"/>
          <p:cNvSpPr/>
          <p:nvPr/>
        </p:nvSpPr>
        <p:spPr>
          <a:xfrm>
            <a:off x="4754880" y="3429000"/>
            <a:ext cx="3931920" cy="1143000"/>
          </a:xfrm>
          <a:prstGeom prst="roundRect">
            <a:avLst>
              <a:gd name="adj" fmla="val 9600"/>
            </a:avLst>
          </a:prstGeom>
          <a:solidFill>
            <a:schemeClr val="bg1"/>
          </a:solidFill>
          <a:ln w="12700">
            <a:solidFill>
              <a:schemeClr val="accent5"/>
            </a:solidFill>
            <a:prstDash val="solid"/>
          </a:ln>
          <a:effectLst>
            <a:outerShdw sx="100000" sy="100000" kx="0" ky="0" algn="bl" rotWithShape="0" blurRad="76200" dist="25400" dir="5400000">
              <a:srgbClr val="0B2D5B">
                <a:alpha val="15000"/>
              </a:srgbClr>
            </a:outerShdw>
          </a:effectLst>
        </p:spPr>
      </p:sp>
      <p:sp>
        <p:nvSpPr>
          <p:cNvPr id="20" name="Text 18"/>
          <p:cNvSpPr txBox="1"/>
          <p:nvPr/>
        </p:nvSpPr>
        <p:spPr>
          <a:xfrm>
            <a:off x="4983480" y="3566160"/>
            <a:ext cx="34747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WHY IT MATTERS FOR NFCU</a:t>
            </a:r>
            <a:endParaRPr lang="en-US" sz="1100" dirty="0"/>
          </a:p>
        </p:txBody>
      </p:sp>
      <p:sp>
        <p:nvSpPr>
          <p:cNvPr id="21" name="Text 19"/>
          <p:cNvSpPr txBox="1"/>
          <p:nvPr/>
        </p:nvSpPr>
        <p:spPr>
          <a:xfrm>
            <a:off x="4983480" y="3858768"/>
            <a:ext cx="3474720" cy="640080"/>
          </a:xfrm>
          <a:prstGeom prst="rect">
            <a:avLst/>
          </a:prstGeom>
          <a:noFill/>
          <a:ln/>
        </p:spPr>
        <p:txBody>
          <a:bodyPr wrap="square" lIns="0" tIns="0" rIns="0" bIns="0" rtlCol="0" anchor="t"/>
          <a:lstStyle/>
          <a:p>
            <a:pPr indent="0" marL="0">
              <a:buNone/>
            </a:pPr>
            <a:r>
              <a:rPr lang="en-US" sz="1500" b="1" dirty="0">
                <a:solidFill>
                  <a:schemeClr val="tx2"/>
                </a:solidFill>
              </a:rPr>
              <a:t>One email asks for everything still missing, the first time</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Enhanced Case Summaries</a:t>
            </a:r>
            <a:endParaRPr lang="en-US" sz="3000" dirty="0"/>
          </a:p>
        </p:txBody>
      </p:sp>
      <p:sp>
        <p:nvSpPr>
          <p:cNvPr id="3" name="Time"/>
          <p:cNvSpPr/>
          <p:nvPr/>
        </p:nvSpPr>
        <p:spPr>
          <a:xfrm>
            <a:off x="7452360" y="502920"/>
            <a:ext cx="1234440" cy="329184"/>
          </a:xfrm>
          <a:prstGeom prst="roundRect">
            <a:avLst>
              <a:gd name="adj" fmla="val 50000"/>
            </a:avLst>
          </a:prstGeom>
          <a:solidFill>
            <a:schemeClr val="accent2"/>
          </a:solidFill>
          <a:ln w="12700">
            <a:solidFill>
              <a:schemeClr val="accent2"/>
            </a:solidFill>
            <a:prstDash val="solid"/>
          </a:ln>
        </p:spPr>
      </p:sp>
      <p:sp>
        <p:nvSpPr>
          <p:cNvPr id="4" name="Time label"/>
          <p:cNvSpPr txBox="1"/>
          <p:nvPr/>
        </p:nvSpPr>
        <p:spPr>
          <a:xfrm>
            <a:off x="7452360" y="50292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2:14–2:26</a:t>
            </a:r>
            <a:endParaRPr lang="en-US" sz="1200" dirty="0"/>
          </a:p>
        </p:txBody>
      </p:sp>
      <p:sp>
        <p:nvSpPr>
          <p:cNvPr id="5" name="On screen card"/>
          <p:cNvSpPr/>
          <p:nvPr/>
        </p:nvSpPr>
        <p:spPr>
          <a:xfrm>
            <a:off x="457200" y="1234440"/>
            <a:ext cx="4023360" cy="3337560"/>
          </a:xfrm>
          <a:prstGeom prst="roundRect">
            <a:avLst>
              <a:gd name="adj" fmla="val 3288"/>
            </a:avLst>
          </a:prstGeom>
          <a:solidFill>
            <a:schemeClr val="bg2"/>
          </a:solidFill>
          <a:ln w="12700">
            <a:solidFill>
              <a:schemeClr val="bg2"/>
            </a:solidFill>
            <a:prstDash val="solid"/>
          </a:ln>
        </p:spPr>
      </p:sp>
      <p:sp>
        <p:nvSpPr>
          <p:cNvPr id="6" name="Text 4"/>
          <p:cNvSpPr txBox="1"/>
          <p:nvPr/>
        </p:nvSpPr>
        <p:spPr>
          <a:xfrm>
            <a:off x="685800" y="1417320"/>
            <a:ext cx="35661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ON SCREEN</a:t>
            </a:r>
            <a:endParaRPr lang="en-US" sz="1100" dirty="0"/>
          </a:p>
        </p:txBody>
      </p:sp>
      <p:sp>
        <p:nvSpPr>
          <p:cNvPr id="7" name="Step 1"/>
          <p:cNvSpPr/>
          <p:nvPr/>
        </p:nvSpPr>
        <p:spPr>
          <a:xfrm>
            <a:off x="685800" y="1883664"/>
            <a:ext cx="310896" cy="310896"/>
          </a:xfrm>
          <a:prstGeom prst="ellipse">
            <a:avLst/>
          </a:prstGeom>
          <a:solidFill>
            <a:schemeClr val="tx2"/>
          </a:solidFill>
          <a:ln w="12700">
            <a:solidFill>
              <a:schemeClr val="tx2"/>
            </a:solidFill>
            <a:prstDash val="solid"/>
          </a:ln>
        </p:spPr>
      </p:sp>
      <p:sp>
        <p:nvSpPr>
          <p:cNvPr id="8" name="Step 1 number"/>
          <p:cNvSpPr txBox="1"/>
          <p:nvPr/>
        </p:nvSpPr>
        <p:spPr>
          <a:xfrm>
            <a:off x="685800" y="188366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1115568" y="1828800"/>
            <a:ext cx="3200400" cy="566928"/>
          </a:xfrm>
          <a:prstGeom prst="rect">
            <a:avLst/>
          </a:prstGeom>
          <a:noFill/>
          <a:ln/>
        </p:spPr>
        <p:txBody>
          <a:bodyPr wrap="square" lIns="0" tIns="0" rIns="0" bIns="0" rtlCol="0" anchor="ctr"/>
          <a:lstStyle/>
          <a:p>
            <a:pPr indent="0" marL="0">
              <a:buNone/>
            </a:pPr>
            <a:r>
              <a:rPr lang="en-US" sz="1300" dirty="0">
                <a:solidFill>
                  <a:schemeClr val="tx1"/>
                </a:solidFill>
              </a:rPr>
              <a:t>Persona-based summary posted to the case feed.</a:t>
            </a:r>
            <a:endParaRPr lang="en-US" sz="1300" dirty="0"/>
          </a:p>
        </p:txBody>
      </p:sp>
      <p:sp>
        <p:nvSpPr>
          <p:cNvPr id="10" name="Key line card"/>
          <p:cNvSpPr/>
          <p:nvPr/>
        </p:nvSpPr>
        <p:spPr>
          <a:xfrm>
            <a:off x="4754880" y="1234440"/>
            <a:ext cx="3931920" cy="2011680"/>
          </a:xfrm>
          <a:prstGeom prst="roundRect">
            <a:avLst>
              <a:gd name="adj" fmla="val 5455"/>
            </a:avLst>
          </a:prstGeom>
          <a:solidFill>
            <a:schemeClr val="tx2"/>
          </a:solidFill>
          <a:ln w="12700">
            <a:solidFill>
              <a:schemeClr val="tx2"/>
            </a:solidFill>
            <a:prstDash val="solid"/>
          </a:ln>
        </p:spPr>
      </p:sp>
      <p:sp>
        <p:nvSpPr>
          <p:cNvPr id="11" name="Text 9"/>
          <p:cNvSpPr txBox="1"/>
          <p:nvPr/>
        </p:nvSpPr>
        <p:spPr>
          <a:xfrm>
            <a:off x="4983480" y="1417320"/>
            <a:ext cx="347472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KEY LINE</a:t>
            </a:r>
            <a:endParaRPr lang="en-US" sz="1100" dirty="0"/>
          </a:p>
        </p:txBody>
      </p:sp>
      <p:sp>
        <p:nvSpPr>
          <p:cNvPr id="12" name="Text 10"/>
          <p:cNvSpPr txBox="1"/>
          <p:nvPr/>
        </p:nvSpPr>
        <p:spPr>
          <a:xfrm>
            <a:off x="4983480" y="1737360"/>
            <a:ext cx="3474720" cy="1371600"/>
          </a:xfrm>
          <a:prstGeom prst="rect">
            <a:avLst/>
          </a:prstGeom>
          <a:noFill/>
          <a:ln/>
        </p:spPr>
        <p:txBody>
          <a:bodyPr wrap="square" lIns="0" tIns="0" rIns="0" bIns="0" rtlCol="0" anchor="t"/>
          <a:lstStyle/>
          <a:p>
            <a:pPr indent="0" marL="0">
              <a:buNone/>
            </a:pPr>
            <a:r>
              <a:rPr lang="en-US" sz="1500" i="1" dirty="0">
                <a:solidFill>
                  <a:schemeClr val="bg1"/>
                </a:solidFill>
              </a:rPr>
              <a:t>“Configured by persona and posted to the case feed.”</a:t>
            </a:r>
            <a:endParaRPr lang="en-US" sz="1500" dirty="0"/>
          </a:p>
        </p:txBody>
      </p:sp>
      <p:sp>
        <p:nvSpPr>
          <p:cNvPr id="13" name="Benefit card"/>
          <p:cNvSpPr/>
          <p:nvPr/>
        </p:nvSpPr>
        <p:spPr>
          <a:xfrm>
            <a:off x="4754880" y="3429000"/>
            <a:ext cx="3931920" cy="1143000"/>
          </a:xfrm>
          <a:prstGeom prst="roundRect">
            <a:avLst>
              <a:gd name="adj" fmla="val 9600"/>
            </a:avLst>
          </a:prstGeom>
          <a:solidFill>
            <a:schemeClr val="bg1"/>
          </a:solidFill>
          <a:ln w="12700">
            <a:solidFill>
              <a:schemeClr val="accent5"/>
            </a:solidFill>
            <a:prstDash val="solid"/>
          </a:ln>
          <a:effectLst>
            <a:outerShdw sx="100000" sy="100000" kx="0" ky="0" algn="bl" rotWithShape="0" blurRad="76200" dist="25400" dir="5400000">
              <a:srgbClr val="0B2D5B">
                <a:alpha val="15000"/>
              </a:srgbClr>
            </a:outerShdw>
          </a:effectLst>
        </p:spPr>
      </p:sp>
      <p:sp>
        <p:nvSpPr>
          <p:cNvPr id="14" name="Text 12"/>
          <p:cNvSpPr txBox="1"/>
          <p:nvPr/>
        </p:nvSpPr>
        <p:spPr>
          <a:xfrm>
            <a:off x="4983480" y="3566160"/>
            <a:ext cx="34747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WHY IT MATTERS FOR NFCU</a:t>
            </a:r>
            <a:endParaRPr lang="en-US" sz="1100" dirty="0"/>
          </a:p>
        </p:txBody>
      </p:sp>
      <p:sp>
        <p:nvSpPr>
          <p:cNvPr id="15" name="Text 13"/>
          <p:cNvSpPr txBox="1"/>
          <p:nvPr/>
        </p:nvSpPr>
        <p:spPr>
          <a:xfrm>
            <a:off x="4983480" y="3858768"/>
            <a:ext cx="3474720" cy="640080"/>
          </a:xfrm>
          <a:prstGeom prst="rect">
            <a:avLst/>
          </a:prstGeom>
          <a:noFill/>
          <a:ln/>
        </p:spPr>
        <p:txBody>
          <a:bodyPr wrap="square" lIns="0" tIns="0" rIns="0" bIns="0" rtlCol="0" anchor="t"/>
          <a:lstStyle/>
          <a:p>
            <a:pPr indent="0" marL="0">
              <a:buNone/>
            </a:pPr>
            <a:r>
              <a:rPr lang="en-US" sz="1500" b="1" dirty="0">
                <a:solidFill>
                  <a:schemeClr val="tx2"/>
                </a:solidFill>
              </a:rPr>
              <a:t>Member services, fraud and lending work from the same picture</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Generative Email Summaries</a:t>
            </a:r>
            <a:endParaRPr lang="en-US" sz="3000" dirty="0"/>
          </a:p>
        </p:txBody>
      </p:sp>
      <p:sp>
        <p:nvSpPr>
          <p:cNvPr id="3" name="Time"/>
          <p:cNvSpPr/>
          <p:nvPr/>
        </p:nvSpPr>
        <p:spPr>
          <a:xfrm>
            <a:off x="7452360" y="502920"/>
            <a:ext cx="1234440" cy="329184"/>
          </a:xfrm>
          <a:prstGeom prst="roundRect">
            <a:avLst>
              <a:gd name="adj" fmla="val 50000"/>
            </a:avLst>
          </a:prstGeom>
          <a:solidFill>
            <a:schemeClr val="accent2"/>
          </a:solidFill>
          <a:ln w="12700">
            <a:solidFill>
              <a:schemeClr val="accent2"/>
            </a:solidFill>
            <a:prstDash val="solid"/>
          </a:ln>
        </p:spPr>
      </p:sp>
      <p:sp>
        <p:nvSpPr>
          <p:cNvPr id="4" name="Time label"/>
          <p:cNvSpPr txBox="1"/>
          <p:nvPr/>
        </p:nvSpPr>
        <p:spPr>
          <a:xfrm>
            <a:off x="7452360" y="50292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2:26–2:34</a:t>
            </a:r>
            <a:endParaRPr lang="en-US" sz="1200" dirty="0"/>
          </a:p>
        </p:txBody>
      </p:sp>
      <p:sp>
        <p:nvSpPr>
          <p:cNvPr id="5" name="On screen card"/>
          <p:cNvSpPr/>
          <p:nvPr/>
        </p:nvSpPr>
        <p:spPr>
          <a:xfrm>
            <a:off x="457200" y="1234440"/>
            <a:ext cx="4023360" cy="3337560"/>
          </a:xfrm>
          <a:prstGeom prst="roundRect">
            <a:avLst>
              <a:gd name="adj" fmla="val 3288"/>
            </a:avLst>
          </a:prstGeom>
          <a:solidFill>
            <a:schemeClr val="bg2"/>
          </a:solidFill>
          <a:ln w="12700">
            <a:solidFill>
              <a:schemeClr val="bg2"/>
            </a:solidFill>
            <a:prstDash val="solid"/>
          </a:ln>
        </p:spPr>
      </p:sp>
      <p:sp>
        <p:nvSpPr>
          <p:cNvPr id="6" name="Text 4"/>
          <p:cNvSpPr txBox="1"/>
          <p:nvPr/>
        </p:nvSpPr>
        <p:spPr>
          <a:xfrm>
            <a:off x="685800" y="1417320"/>
            <a:ext cx="35661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ON SCREEN</a:t>
            </a:r>
            <a:endParaRPr lang="en-US" sz="1100" dirty="0"/>
          </a:p>
        </p:txBody>
      </p:sp>
      <p:sp>
        <p:nvSpPr>
          <p:cNvPr id="7" name="Step 1"/>
          <p:cNvSpPr/>
          <p:nvPr/>
        </p:nvSpPr>
        <p:spPr>
          <a:xfrm>
            <a:off x="685800" y="1883664"/>
            <a:ext cx="310896" cy="310896"/>
          </a:xfrm>
          <a:prstGeom prst="ellipse">
            <a:avLst/>
          </a:prstGeom>
          <a:solidFill>
            <a:schemeClr val="tx2"/>
          </a:solidFill>
          <a:ln w="12700">
            <a:solidFill>
              <a:schemeClr val="tx2"/>
            </a:solidFill>
            <a:prstDash val="solid"/>
          </a:ln>
        </p:spPr>
      </p:sp>
      <p:sp>
        <p:nvSpPr>
          <p:cNvPr id="8" name="Step 1 number"/>
          <p:cNvSpPr txBox="1"/>
          <p:nvPr/>
        </p:nvSpPr>
        <p:spPr>
          <a:xfrm>
            <a:off x="685800" y="188366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1115568" y="1828800"/>
            <a:ext cx="3200400" cy="566928"/>
          </a:xfrm>
          <a:prstGeom prst="rect">
            <a:avLst/>
          </a:prstGeom>
          <a:noFill/>
          <a:ln/>
        </p:spPr>
        <p:txBody>
          <a:bodyPr wrap="square" lIns="0" tIns="0" rIns="0" bIns="0" rtlCol="0" anchor="ctr"/>
          <a:lstStyle/>
          <a:p>
            <a:pPr indent="0" marL="0">
              <a:buNone/>
            </a:pPr>
            <a:r>
              <a:rPr lang="en-US" sz="1300" dirty="0">
                <a:solidFill>
                  <a:schemeClr val="tx1"/>
                </a:solidFill>
              </a:rPr>
              <a:t>Summary at the top of her reply.</a:t>
            </a:r>
            <a:endParaRPr lang="en-US" sz="1300" dirty="0"/>
          </a:p>
        </p:txBody>
      </p:sp>
      <p:sp>
        <p:nvSpPr>
          <p:cNvPr id="10" name="Key line card"/>
          <p:cNvSpPr/>
          <p:nvPr/>
        </p:nvSpPr>
        <p:spPr>
          <a:xfrm>
            <a:off x="4754880" y="1234440"/>
            <a:ext cx="3931920" cy="2011680"/>
          </a:xfrm>
          <a:prstGeom prst="roundRect">
            <a:avLst>
              <a:gd name="adj" fmla="val 5455"/>
            </a:avLst>
          </a:prstGeom>
          <a:solidFill>
            <a:schemeClr val="tx2"/>
          </a:solidFill>
          <a:ln w="12700">
            <a:solidFill>
              <a:schemeClr val="tx2"/>
            </a:solidFill>
            <a:prstDash val="solid"/>
          </a:ln>
        </p:spPr>
      </p:sp>
      <p:sp>
        <p:nvSpPr>
          <p:cNvPr id="11" name="Text 9"/>
          <p:cNvSpPr txBox="1"/>
          <p:nvPr/>
        </p:nvSpPr>
        <p:spPr>
          <a:xfrm>
            <a:off x="4983480" y="1417320"/>
            <a:ext cx="347472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KEY LINE</a:t>
            </a:r>
            <a:endParaRPr lang="en-US" sz="1100" dirty="0"/>
          </a:p>
        </p:txBody>
      </p:sp>
      <p:sp>
        <p:nvSpPr>
          <p:cNvPr id="12" name="Text 10"/>
          <p:cNvSpPr txBox="1"/>
          <p:nvPr/>
        </p:nvSpPr>
        <p:spPr>
          <a:xfrm>
            <a:off x="4983480" y="1737360"/>
            <a:ext cx="3474720" cy="1371600"/>
          </a:xfrm>
          <a:prstGeom prst="rect">
            <a:avLst/>
          </a:prstGeom>
          <a:noFill/>
          <a:ln/>
        </p:spPr>
        <p:txBody>
          <a:bodyPr wrap="square" lIns="0" tIns="0" rIns="0" bIns="0" rtlCol="0" anchor="t"/>
          <a:lstStyle/>
          <a:p>
            <a:pPr indent="0" marL="0">
              <a:buNone/>
            </a:pPr>
            <a:r>
              <a:rPr lang="en-US" sz="1500" i="1" dirty="0">
                <a:solidFill>
                  <a:schemeClr val="bg1"/>
                </a:solidFill>
              </a:rPr>
              <a:t>“An email summary tells the rep what’s been said at a glance.”</a:t>
            </a:r>
            <a:endParaRPr lang="en-US" sz="1500" dirty="0"/>
          </a:p>
        </p:txBody>
      </p:sp>
      <p:sp>
        <p:nvSpPr>
          <p:cNvPr id="13" name="Benefit card"/>
          <p:cNvSpPr/>
          <p:nvPr/>
        </p:nvSpPr>
        <p:spPr>
          <a:xfrm>
            <a:off x="4754880" y="3429000"/>
            <a:ext cx="3931920" cy="1143000"/>
          </a:xfrm>
          <a:prstGeom prst="roundRect">
            <a:avLst>
              <a:gd name="adj" fmla="val 9600"/>
            </a:avLst>
          </a:prstGeom>
          <a:solidFill>
            <a:schemeClr val="bg1"/>
          </a:solidFill>
          <a:ln w="12700">
            <a:solidFill>
              <a:schemeClr val="accent5"/>
            </a:solidFill>
            <a:prstDash val="solid"/>
          </a:ln>
          <a:effectLst>
            <a:outerShdw sx="100000" sy="100000" kx="0" ky="0" algn="bl" rotWithShape="0" blurRad="76200" dist="25400" dir="5400000">
              <a:srgbClr val="0B2D5B">
                <a:alpha val="15000"/>
              </a:srgbClr>
            </a:outerShdw>
          </a:effectLst>
        </p:spPr>
      </p:sp>
      <p:sp>
        <p:nvSpPr>
          <p:cNvPr id="14" name="Text 12"/>
          <p:cNvSpPr txBox="1"/>
          <p:nvPr/>
        </p:nvSpPr>
        <p:spPr>
          <a:xfrm>
            <a:off x="4983480" y="3566160"/>
            <a:ext cx="34747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WHY IT MATTERS FOR NFCU</a:t>
            </a:r>
            <a:endParaRPr lang="en-US" sz="1100" dirty="0"/>
          </a:p>
        </p:txBody>
      </p:sp>
      <p:sp>
        <p:nvSpPr>
          <p:cNvPr id="15" name="Text 13"/>
          <p:cNvSpPr txBox="1"/>
          <p:nvPr/>
        </p:nvSpPr>
        <p:spPr>
          <a:xfrm>
            <a:off x="4983480" y="3858768"/>
            <a:ext cx="3474720" cy="640080"/>
          </a:xfrm>
          <a:prstGeom prst="rect">
            <a:avLst/>
          </a:prstGeom>
          <a:noFill/>
          <a:ln/>
        </p:spPr>
        <p:txBody>
          <a:bodyPr wrap="square" lIns="0" tIns="0" rIns="0" bIns="0" rtlCol="0" anchor="t"/>
          <a:lstStyle/>
          <a:p>
            <a:pPr indent="0" marL="0">
              <a:buNone/>
            </a:pPr>
            <a:r>
              <a:rPr lang="en-US" sz="1500" b="1" dirty="0">
                <a:solidFill>
                  <a:schemeClr val="tx2"/>
                </a:solidFill>
              </a:rPr>
              <a:t>Catch up on any conversation without reading the thread</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Command Center for Service</a:t>
            </a:r>
            <a:endParaRPr lang="en-US" sz="3000" dirty="0"/>
          </a:p>
        </p:txBody>
      </p:sp>
      <p:sp>
        <p:nvSpPr>
          <p:cNvPr id="3" name="Time"/>
          <p:cNvSpPr/>
          <p:nvPr/>
        </p:nvSpPr>
        <p:spPr>
          <a:xfrm>
            <a:off x="7452360" y="502920"/>
            <a:ext cx="1234440" cy="329184"/>
          </a:xfrm>
          <a:prstGeom prst="roundRect">
            <a:avLst>
              <a:gd name="adj" fmla="val 50000"/>
            </a:avLst>
          </a:prstGeom>
          <a:solidFill>
            <a:schemeClr val="accent2"/>
          </a:solidFill>
          <a:ln w="12700">
            <a:solidFill>
              <a:schemeClr val="accent2"/>
            </a:solidFill>
            <a:prstDash val="solid"/>
          </a:ln>
        </p:spPr>
      </p:sp>
      <p:sp>
        <p:nvSpPr>
          <p:cNvPr id="4" name="Time label"/>
          <p:cNvSpPr txBox="1"/>
          <p:nvPr/>
        </p:nvSpPr>
        <p:spPr>
          <a:xfrm>
            <a:off x="7452360" y="50292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2:34–2:52</a:t>
            </a:r>
            <a:endParaRPr lang="en-US" sz="1200" dirty="0"/>
          </a:p>
        </p:txBody>
      </p:sp>
      <p:sp>
        <p:nvSpPr>
          <p:cNvPr id="5" name="On screen card"/>
          <p:cNvSpPr/>
          <p:nvPr/>
        </p:nvSpPr>
        <p:spPr>
          <a:xfrm>
            <a:off x="457200" y="1234440"/>
            <a:ext cx="4023360" cy="3337560"/>
          </a:xfrm>
          <a:prstGeom prst="roundRect">
            <a:avLst>
              <a:gd name="adj" fmla="val 3288"/>
            </a:avLst>
          </a:prstGeom>
          <a:solidFill>
            <a:schemeClr val="bg2"/>
          </a:solidFill>
          <a:ln w="12700">
            <a:solidFill>
              <a:schemeClr val="bg2"/>
            </a:solidFill>
            <a:prstDash val="solid"/>
          </a:ln>
        </p:spPr>
      </p:sp>
      <p:sp>
        <p:nvSpPr>
          <p:cNvPr id="6" name="Text 4"/>
          <p:cNvSpPr txBox="1"/>
          <p:nvPr/>
        </p:nvSpPr>
        <p:spPr>
          <a:xfrm>
            <a:off x="685800" y="1417320"/>
            <a:ext cx="356616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ON SCREEN</a:t>
            </a:r>
            <a:endParaRPr lang="en-US" sz="1100" dirty="0"/>
          </a:p>
        </p:txBody>
      </p:sp>
      <p:sp>
        <p:nvSpPr>
          <p:cNvPr id="7" name="Step 1"/>
          <p:cNvSpPr/>
          <p:nvPr/>
        </p:nvSpPr>
        <p:spPr>
          <a:xfrm>
            <a:off x="685800" y="1883664"/>
            <a:ext cx="310896" cy="310896"/>
          </a:xfrm>
          <a:prstGeom prst="ellipse">
            <a:avLst/>
          </a:prstGeom>
          <a:solidFill>
            <a:schemeClr val="tx2"/>
          </a:solidFill>
          <a:ln w="12700">
            <a:solidFill>
              <a:schemeClr val="tx2"/>
            </a:solidFill>
            <a:prstDash val="solid"/>
          </a:ln>
        </p:spPr>
      </p:sp>
      <p:sp>
        <p:nvSpPr>
          <p:cNvPr id="8" name="Step 1 number"/>
          <p:cNvSpPr txBox="1"/>
          <p:nvPr/>
        </p:nvSpPr>
        <p:spPr>
          <a:xfrm>
            <a:off x="685800" y="1883664"/>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1115568" y="1828800"/>
            <a:ext cx="3200400" cy="566928"/>
          </a:xfrm>
          <a:prstGeom prst="rect">
            <a:avLst/>
          </a:prstGeom>
          <a:noFill/>
          <a:ln/>
        </p:spPr>
        <p:txBody>
          <a:bodyPr wrap="square" lIns="0" tIns="0" rIns="0" bIns="0" rtlCol="0" anchor="ctr"/>
          <a:lstStyle/>
          <a:p>
            <a:pPr indent="0" marL="0">
              <a:buNone/>
            </a:pPr>
            <a:r>
              <a:rPr lang="en-US" sz="1300" dirty="0">
                <a:solidFill>
                  <a:schemeClr val="tx1"/>
                </a:solidFill>
              </a:rPr>
              <a:t>Queue backlog, wait times, rep capacity.</a:t>
            </a:r>
            <a:endParaRPr lang="en-US" sz="1300" dirty="0"/>
          </a:p>
        </p:txBody>
      </p:sp>
      <p:sp>
        <p:nvSpPr>
          <p:cNvPr id="10" name="Step 2"/>
          <p:cNvSpPr/>
          <p:nvPr/>
        </p:nvSpPr>
        <p:spPr>
          <a:xfrm>
            <a:off x="685800" y="2560320"/>
            <a:ext cx="310896" cy="310896"/>
          </a:xfrm>
          <a:prstGeom prst="ellipse">
            <a:avLst/>
          </a:prstGeom>
          <a:solidFill>
            <a:schemeClr val="tx2"/>
          </a:solidFill>
          <a:ln w="12700">
            <a:solidFill>
              <a:schemeClr val="tx2"/>
            </a:solidFill>
            <a:prstDash val="solid"/>
          </a:ln>
        </p:spPr>
      </p:sp>
      <p:sp>
        <p:nvSpPr>
          <p:cNvPr id="11" name="Step 2 number"/>
          <p:cNvSpPr txBox="1"/>
          <p:nvPr/>
        </p:nvSpPr>
        <p:spPr>
          <a:xfrm>
            <a:off x="685800" y="25603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10"/>
          <p:cNvSpPr txBox="1"/>
          <p:nvPr/>
        </p:nvSpPr>
        <p:spPr>
          <a:xfrm>
            <a:off x="1115568" y="2505456"/>
            <a:ext cx="3200400" cy="566928"/>
          </a:xfrm>
          <a:prstGeom prst="rect">
            <a:avLst/>
          </a:prstGeom>
          <a:noFill/>
          <a:ln/>
        </p:spPr>
        <p:txBody>
          <a:bodyPr wrap="square" lIns="0" tIns="0" rIns="0" bIns="0" rtlCol="0" anchor="ctr"/>
          <a:lstStyle/>
          <a:p>
            <a:pPr indent="0" marL="0">
              <a:buNone/>
            </a:pPr>
            <a:r>
              <a:rPr lang="en-US" sz="1300" dirty="0">
                <a:solidFill>
                  <a:schemeClr val="tx1"/>
                </a:solidFill>
              </a:rPr>
              <a:t>Omni Supervisor: live chats and a raised flag.</a:t>
            </a:r>
            <a:endParaRPr lang="en-US" sz="1300" dirty="0"/>
          </a:p>
        </p:txBody>
      </p:sp>
      <p:sp>
        <p:nvSpPr>
          <p:cNvPr id="13" name="Key line card"/>
          <p:cNvSpPr/>
          <p:nvPr/>
        </p:nvSpPr>
        <p:spPr>
          <a:xfrm>
            <a:off x="4754880" y="1234440"/>
            <a:ext cx="3931920" cy="2011680"/>
          </a:xfrm>
          <a:prstGeom prst="roundRect">
            <a:avLst>
              <a:gd name="adj" fmla="val 5455"/>
            </a:avLst>
          </a:prstGeom>
          <a:solidFill>
            <a:schemeClr val="tx2"/>
          </a:solidFill>
          <a:ln w="12700">
            <a:solidFill>
              <a:schemeClr val="tx2"/>
            </a:solidFill>
            <a:prstDash val="solid"/>
          </a:ln>
        </p:spPr>
      </p:sp>
      <p:sp>
        <p:nvSpPr>
          <p:cNvPr id="14" name="Text 12"/>
          <p:cNvSpPr txBox="1"/>
          <p:nvPr/>
        </p:nvSpPr>
        <p:spPr>
          <a:xfrm>
            <a:off x="4983480" y="1417320"/>
            <a:ext cx="347472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KEY LINE</a:t>
            </a:r>
            <a:endParaRPr lang="en-US" sz="1100" dirty="0"/>
          </a:p>
        </p:txBody>
      </p:sp>
      <p:sp>
        <p:nvSpPr>
          <p:cNvPr id="15" name="Text 13"/>
          <p:cNvSpPr txBox="1"/>
          <p:nvPr/>
        </p:nvSpPr>
        <p:spPr>
          <a:xfrm>
            <a:off x="4983480" y="1737360"/>
            <a:ext cx="3474720" cy="1371600"/>
          </a:xfrm>
          <a:prstGeom prst="rect">
            <a:avLst/>
          </a:prstGeom>
          <a:noFill/>
          <a:ln/>
        </p:spPr>
        <p:txBody>
          <a:bodyPr wrap="square" lIns="0" tIns="0" rIns="0" bIns="0" rtlCol="0" anchor="t"/>
          <a:lstStyle/>
          <a:p>
            <a:pPr indent="0" marL="0">
              <a:buNone/>
            </a:pPr>
            <a:r>
              <a:rPr lang="en-US" sz="1500" i="1" dirty="0">
                <a:solidFill>
                  <a:schemeClr val="bg1"/>
                </a:solidFill>
              </a:rPr>
              <a:t>“Supervisors see it all in Command Center for Service.”</a:t>
            </a:r>
            <a:endParaRPr lang="en-US" sz="1500" dirty="0"/>
          </a:p>
        </p:txBody>
      </p:sp>
      <p:sp>
        <p:nvSpPr>
          <p:cNvPr id="16" name="Benefit card"/>
          <p:cNvSpPr/>
          <p:nvPr/>
        </p:nvSpPr>
        <p:spPr>
          <a:xfrm>
            <a:off x="4754880" y="3429000"/>
            <a:ext cx="3931920" cy="1143000"/>
          </a:xfrm>
          <a:prstGeom prst="roundRect">
            <a:avLst>
              <a:gd name="adj" fmla="val 9600"/>
            </a:avLst>
          </a:prstGeom>
          <a:solidFill>
            <a:schemeClr val="bg1"/>
          </a:solidFill>
          <a:ln w="12700">
            <a:solidFill>
              <a:schemeClr val="accent5"/>
            </a:solidFill>
            <a:prstDash val="solid"/>
          </a:ln>
          <a:effectLst>
            <a:outerShdw sx="100000" sy="100000" kx="0" ky="0" algn="bl" rotWithShape="0" blurRad="76200" dist="25400" dir="5400000">
              <a:srgbClr val="0B2D5B">
                <a:alpha val="15000"/>
              </a:srgbClr>
            </a:outerShdw>
          </a:effectLst>
        </p:spPr>
      </p:sp>
      <p:sp>
        <p:nvSpPr>
          <p:cNvPr id="17" name="Text 15"/>
          <p:cNvSpPr txBox="1"/>
          <p:nvPr/>
        </p:nvSpPr>
        <p:spPr>
          <a:xfrm>
            <a:off x="4983480" y="3566160"/>
            <a:ext cx="3474720" cy="274320"/>
          </a:xfrm>
          <a:prstGeom prst="rect">
            <a:avLst/>
          </a:prstGeom>
          <a:noFill/>
          <a:ln/>
        </p:spPr>
        <p:txBody>
          <a:bodyPr wrap="square" lIns="0" tIns="0" rIns="0" bIns="0" rtlCol="0" anchor="ctr"/>
          <a:lstStyle/>
          <a:p>
            <a:pPr indent="0" marL="0">
              <a:buNone/>
            </a:pPr>
            <a:r>
              <a:rPr lang="en-US" sz="1100" b="1" spc="200" kern="0" dirty="0">
                <a:solidFill>
                  <a:schemeClr val="accent6"/>
                </a:solidFill>
              </a:rPr>
              <a:t>WHY IT MATTERS FOR NFCU</a:t>
            </a:r>
            <a:endParaRPr lang="en-US" sz="1100" dirty="0"/>
          </a:p>
        </p:txBody>
      </p:sp>
      <p:sp>
        <p:nvSpPr>
          <p:cNvPr id="18" name="Text 16"/>
          <p:cNvSpPr txBox="1"/>
          <p:nvPr/>
        </p:nvSpPr>
        <p:spPr>
          <a:xfrm>
            <a:off x="4983480" y="3858768"/>
            <a:ext cx="3474720" cy="640080"/>
          </a:xfrm>
          <a:prstGeom prst="rect">
            <a:avLst/>
          </a:prstGeom>
          <a:noFill/>
          <a:ln/>
        </p:spPr>
        <p:txBody>
          <a:bodyPr wrap="square" lIns="0" tIns="0" rIns="0" bIns="0" rtlCol="0" anchor="t"/>
          <a:lstStyle/>
          <a:p>
            <a:pPr indent="0" marL="0">
              <a:buNone/>
            </a:pPr>
            <a:r>
              <a:rPr lang="en-US" sz="1500" b="1" dirty="0">
                <a:solidFill>
                  <a:schemeClr val="tx2"/>
                </a:solidFill>
              </a:rPr>
              <a:t>Leaders spot a surge in card applications before members feel it</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One conversation</a:t>
            </a:r>
            <a:endParaRPr lang="en-US" sz="4000" dirty="0"/>
          </a:p>
        </p:txBody>
      </p:sp>
      <p:sp>
        <p:nvSpPr>
          <p:cNvPr id="3" name="Text 0"/>
          <p:cNvSpPr/>
          <p:nvPr>
            <p:ph idx="101" type="body" hasCustomPrompt="1"/>
          </p:nvPr>
        </p:nvSpPr>
        <p:spPr>
          <a:xfrm>
            <a:off x="548640" y="2514600"/>
            <a:ext cx="8046720" cy="822960"/>
          </a:xfrm>
          <a:prstGeom prst="rect">
            <a:avLst/>
          </a:prstGeom>
          <a:noFill/>
          <a:ln/>
        </p:spPr>
        <p:txBody>
          <a:bodyPr wrap="square" lIns="0" tIns="0" rIns="0" bIns="0" rtlCol="0" anchor="t"/>
          <a:lstStyle/>
          <a:p>
            <a:pPr indent="0" marL="0">
              <a:buNone/>
            </a:pPr>
            <a:r>
              <a:rPr lang="en-US" sz="1800" dirty="0">
                <a:solidFill>
                  <a:schemeClr val="accent2"/>
                </a:solidFill>
              </a:rPr>
              <a:t>From a portal chat to a finished application</a:t>
            </a:r>
            <a:endParaRPr lang="en-US" sz="1800" dirty="0"/>
          </a:p>
        </p:txBody>
      </p:sp>
      <p:sp>
        <p:nvSpPr>
          <p:cNvPr id="4" name="Time"/>
          <p:cNvSpPr/>
          <p:nvPr/>
        </p:nvSpPr>
        <p:spPr>
          <a:xfrm>
            <a:off x="548640" y="3566160"/>
            <a:ext cx="1234440" cy="329184"/>
          </a:xfrm>
          <a:prstGeom prst="roundRect">
            <a:avLst>
              <a:gd name="adj" fmla="val 50000"/>
            </a:avLst>
          </a:prstGeom>
          <a:solidFill>
            <a:schemeClr val="accent2"/>
          </a:solidFill>
          <a:ln w="12700">
            <a:solidFill>
              <a:schemeClr val="accent2"/>
            </a:solidFill>
            <a:prstDash val="solid"/>
          </a:ln>
        </p:spPr>
      </p:sp>
      <p:sp>
        <p:nvSpPr>
          <p:cNvPr id="5" name="Text 3"/>
          <p:cNvSpPr txBox="1"/>
          <p:nvPr/>
        </p:nvSpPr>
        <p:spPr>
          <a:xfrm>
            <a:off x="548640" y="3566160"/>
            <a:ext cx="1234440" cy="329184"/>
          </a:xfrm>
          <a:prstGeom prst="rect">
            <a:avLst/>
          </a:prstGeom>
          <a:noFill/>
          <a:ln/>
        </p:spPr>
        <p:txBody>
          <a:bodyPr wrap="square" lIns="0" tIns="0" rIns="0" bIns="0" rtlCol="0" anchor="ctr"/>
          <a:lstStyle/>
          <a:p>
            <a:pPr algn="ctr" indent="0" marL="0">
              <a:buNone/>
            </a:pPr>
            <a:r>
              <a:rPr lang="en-US" sz="1200" b="1" dirty="0">
                <a:solidFill>
                  <a:schemeClr val="tx2"/>
                </a:solidFill>
              </a:rPr>
              <a:t>2:52–3:00</a:t>
            </a:r>
            <a:endParaRPr lang="en-US" sz="1200" dirty="0"/>
          </a:p>
        </p:txBody>
      </p:sp>
      <p:sp>
        <p:nvSpPr>
          <p:cNvPr id="6" name="Text 4"/>
          <p:cNvSpPr txBox="1"/>
          <p:nvPr/>
        </p:nvSpPr>
        <p:spPr>
          <a:xfrm>
            <a:off x="1965960" y="3520440"/>
            <a:ext cx="6583680" cy="420624"/>
          </a:xfrm>
          <a:prstGeom prst="rect">
            <a:avLst/>
          </a:prstGeom>
          <a:noFill/>
          <a:ln/>
        </p:spPr>
        <p:txBody>
          <a:bodyPr wrap="square" lIns="0" tIns="0" rIns="0" bIns="0" rtlCol="0" anchor="ctr"/>
          <a:lstStyle/>
          <a:p>
            <a:pPr indent="0" marL="0">
              <a:buNone/>
            </a:pPr>
            <a:r>
              <a:rPr lang="en-US" sz="1400" dirty="0">
                <a:solidFill>
                  <a:schemeClr val="accent5"/>
                </a:solidFill>
              </a:rPr>
              <a:t>Service Cloud with Agentforce at Navy Federal</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6858000" cy="68580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Before you record</a:t>
            </a:r>
            <a:endParaRPr lang="en-US" sz="3000" dirty="0"/>
          </a:p>
        </p:txBody>
      </p:sp>
      <p:sp>
        <p:nvSpPr>
          <p:cNvPr id="3" name="Prep 1"/>
          <p:cNvSpPr/>
          <p:nvPr/>
        </p:nvSpPr>
        <p:spPr>
          <a:xfrm>
            <a:off x="457200" y="1234440"/>
            <a:ext cx="4023360" cy="1600200"/>
          </a:xfrm>
          <a:prstGeom prst="roundRect">
            <a:avLst>
              <a:gd name="adj" fmla="val 6857"/>
            </a:avLst>
          </a:prstGeom>
          <a:solidFill>
            <a:schemeClr val="bg2"/>
          </a:solidFill>
          <a:ln w="12700">
            <a:solidFill>
              <a:schemeClr val="bg2"/>
            </a:solidFill>
            <a:prstDash val="solid"/>
          </a:ln>
        </p:spPr>
      </p:sp>
      <p:sp>
        <p:nvSpPr>
          <p:cNvPr id="4" name="Step 1"/>
          <p:cNvSpPr/>
          <p:nvPr/>
        </p:nvSpPr>
        <p:spPr>
          <a:xfrm>
            <a:off x="685800" y="1463040"/>
            <a:ext cx="365760" cy="365760"/>
          </a:xfrm>
          <a:prstGeom prst="ellipse">
            <a:avLst/>
          </a:prstGeom>
          <a:solidFill>
            <a:schemeClr val="accent2"/>
          </a:solidFill>
          <a:ln w="12700">
            <a:solidFill>
              <a:schemeClr val="accent2"/>
            </a:solidFill>
            <a:prstDash val="solid"/>
          </a:ln>
        </p:spPr>
      </p:sp>
      <p:sp>
        <p:nvSpPr>
          <p:cNvPr id="5" name="Step 1 number"/>
          <p:cNvSpPr txBox="1"/>
          <p:nvPr/>
        </p:nvSpPr>
        <p:spPr>
          <a:xfrm>
            <a:off x="685800" y="1463040"/>
            <a:ext cx="365760" cy="365760"/>
          </a:xfrm>
          <a:prstGeom prst="rect">
            <a:avLst/>
          </a:prstGeom>
          <a:no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6" name="Text 4"/>
          <p:cNvSpPr txBox="1"/>
          <p:nvPr/>
        </p:nvSpPr>
        <p:spPr>
          <a:xfrm>
            <a:off x="1188720" y="1435608"/>
            <a:ext cx="3108960" cy="420624"/>
          </a:xfrm>
          <a:prstGeom prst="rect">
            <a:avLst/>
          </a:prstGeom>
          <a:noFill/>
          <a:ln/>
        </p:spPr>
        <p:txBody>
          <a:bodyPr wrap="square" lIns="0" tIns="0" rIns="0" bIns="0" rtlCol="0" anchor="ctr"/>
          <a:lstStyle/>
          <a:p>
            <a:pPr indent="0" marL="0">
              <a:buNone/>
            </a:pPr>
            <a:r>
              <a:rPr lang="en-US" sz="1600" b="1" dirty="0">
                <a:solidFill>
                  <a:schemeClr val="tx2"/>
                </a:solidFill>
              </a:rPr>
              <a:t>Checkbox</a:t>
            </a:r>
            <a:endParaRPr lang="en-US" sz="1600" dirty="0"/>
          </a:p>
        </p:txBody>
      </p:sp>
      <p:sp>
        <p:nvSpPr>
          <p:cNvPr id="7" name="Text 5"/>
          <p:cNvSpPr txBox="1"/>
          <p:nvPr/>
        </p:nvSpPr>
        <p:spPr>
          <a:xfrm>
            <a:off x="1188720" y="1892808"/>
            <a:ext cx="3108960" cy="868680"/>
          </a:xfrm>
          <a:prstGeom prst="rect">
            <a:avLst/>
          </a:prstGeom>
          <a:noFill/>
          <a:ln/>
        </p:spPr>
        <p:txBody>
          <a:bodyPr wrap="square" lIns="0" tIns="0" rIns="0" bIns="0" rtlCol="0" anchor="t"/>
          <a:lstStyle/>
          <a:p>
            <a:pPr indent="0" marL="0">
              <a:buNone/>
            </a:pPr>
            <a:r>
              <a:rPr lang="en-US" sz="1300" dirty="0">
                <a:solidFill>
                  <a:schemeClr val="tx1"/>
                </a:solidFill>
              </a:rPr>
              <a:t>Point to the action bar checkmarks after the email step, and the confirmation box in Verify Identity.</a:t>
            </a:r>
            <a:endParaRPr lang="en-US" sz="1300" dirty="0"/>
          </a:p>
        </p:txBody>
      </p:sp>
      <p:sp>
        <p:nvSpPr>
          <p:cNvPr id="8" name="Prep 2"/>
          <p:cNvSpPr/>
          <p:nvPr/>
        </p:nvSpPr>
        <p:spPr>
          <a:xfrm>
            <a:off x="4663440" y="1234440"/>
            <a:ext cx="4023360" cy="1600200"/>
          </a:xfrm>
          <a:prstGeom prst="roundRect">
            <a:avLst>
              <a:gd name="adj" fmla="val 6857"/>
            </a:avLst>
          </a:prstGeom>
          <a:solidFill>
            <a:schemeClr val="bg2"/>
          </a:solidFill>
          <a:ln w="12700">
            <a:solidFill>
              <a:schemeClr val="bg2"/>
            </a:solidFill>
            <a:prstDash val="solid"/>
          </a:ln>
        </p:spPr>
      </p:sp>
      <p:sp>
        <p:nvSpPr>
          <p:cNvPr id="9" name="Step 2"/>
          <p:cNvSpPr/>
          <p:nvPr/>
        </p:nvSpPr>
        <p:spPr>
          <a:xfrm>
            <a:off x="4892040" y="1463040"/>
            <a:ext cx="365760" cy="365760"/>
          </a:xfrm>
          <a:prstGeom prst="ellipse">
            <a:avLst/>
          </a:prstGeom>
          <a:solidFill>
            <a:schemeClr val="accent2"/>
          </a:solidFill>
          <a:ln w="12700">
            <a:solidFill>
              <a:schemeClr val="accent2"/>
            </a:solidFill>
            <a:prstDash val="solid"/>
          </a:ln>
        </p:spPr>
      </p:sp>
      <p:sp>
        <p:nvSpPr>
          <p:cNvPr id="10" name="Step 2 number"/>
          <p:cNvSpPr txBox="1"/>
          <p:nvPr/>
        </p:nvSpPr>
        <p:spPr>
          <a:xfrm>
            <a:off x="4892040" y="1463040"/>
            <a:ext cx="365760" cy="365760"/>
          </a:xfrm>
          <a:prstGeom prst="rect">
            <a:avLst/>
          </a:prstGeom>
          <a:no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11" name="Text 9"/>
          <p:cNvSpPr txBox="1"/>
          <p:nvPr/>
        </p:nvSpPr>
        <p:spPr>
          <a:xfrm>
            <a:off x="5394960" y="1435608"/>
            <a:ext cx="3108960" cy="420624"/>
          </a:xfrm>
          <a:prstGeom prst="rect">
            <a:avLst/>
          </a:prstGeom>
          <a:noFill/>
          <a:ln/>
        </p:spPr>
        <p:txBody>
          <a:bodyPr wrap="square" lIns="0" tIns="0" rIns="0" bIns="0" rtlCol="0" anchor="ctr"/>
          <a:lstStyle/>
          <a:p>
            <a:pPr indent="0" marL="0">
              <a:buNone/>
            </a:pPr>
            <a:r>
              <a:rPr lang="en-US" sz="1600" b="1" dirty="0">
                <a:solidFill>
                  <a:schemeClr val="tx2"/>
                </a:solidFill>
              </a:rPr>
              <a:t>Agent</a:t>
            </a:r>
            <a:endParaRPr lang="en-US" sz="1600" dirty="0"/>
          </a:p>
        </p:txBody>
      </p:sp>
      <p:sp>
        <p:nvSpPr>
          <p:cNvPr id="12" name="Text 10"/>
          <p:cNvSpPr txBox="1"/>
          <p:nvPr/>
        </p:nvSpPr>
        <p:spPr>
          <a:xfrm>
            <a:off x="5394960" y="1892808"/>
            <a:ext cx="3108960" cy="868680"/>
          </a:xfrm>
          <a:prstGeom prst="rect">
            <a:avLst/>
          </a:prstGeom>
          <a:noFill/>
          <a:ln/>
        </p:spPr>
        <p:txBody>
          <a:bodyPr wrap="square" lIns="0" tIns="0" rIns="0" bIns="0" rtlCol="0" anchor="t"/>
          <a:lstStyle/>
          <a:p>
            <a:pPr indent="0" marL="0">
              <a:buNone/>
            </a:pPr>
            <a:r>
              <a:rPr lang="en-US" sz="1300" dirty="0">
                <a:solidFill>
                  <a:schemeClr val="tx1"/>
                </a:solidFill>
              </a:rPr>
              <a:t>Status, eligibility, card comparison and handoff are tested. Identity check is simulated; knowledge isn’t on the topic yet.</a:t>
            </a:r>
            <a:endParaRPr lang="en-US" sz="1300" dirty="0"/>
          </a:p>
        </p:txBody>
      </p:sp>
      <p:sp>
        <p:nvSpPr>
          <p:cNvPr id="13" name="Prep 3"/>
          <p:cNvSpPr/>
          <p:nvPr/>
        </p:nvSpPr>
        <p:spPr>
          <a:xfrm>
            <a:off x="457200" y="2971800"/>
            <a:ext cx="4023360" cy="1600200"/>
          </a:xfrm>
          <a:prstGeom prst="roundRect">
            <a:avLst>
              <a:gd name="adj" fmla="val 6857"/>
            </a:avLst>
          </a:prstGeom>
          <a:solidFill>
            <a:schemeClr val="bg2"/>
          </a:solidFill>
          <a:ln w="12700">
            <a:solidFill>
              <a:schemeClr val="bg2"/>
            </a:solidFill>
            <a:prstDash val="solid"/>
          </a:ln>
        </p:spPr>
      </p:sp>
      <p:sp>
        <p:nvSpPr>
          <p:cNvPr id="14" name="Step 3"/>
          <p:cNvSpPr/>
          <p:nvPr/>
        </p:nvSpPr>
        <p:spPr>
          <a:xfrm>
            <a:off x="685800" y="3200400"/>
            <a:ext cx="365760" cy="365760"/>
          </a:xfrm>
          <a:prstGeom prst="ellipse">
            <a:avLst/>
          </a:prstGeom>
          <a:solidFill>
            <a:schemeClr val="accent2"/>
          </a:solidFill>
          <a:ln w="12700">
            <a:solidFill>
              <a:schemeClr val="accent2"/>
            </a:solidFill>
            <a:prstDash val="solid"/>
          </a:ln>
        </p:spPr>
      </p:sp>
      <p:sp>
        <p:nvSpPr>
          <p:cNvPr id="15" name="Step 3 number"/>
          <p:cNvSpPr txBox="1"/>
          <p:nvPr/>
        </p:nvSpPr>
        <p:spPr>
          <a:xfrm>
            <a:off x="685800" y="3200400"/>
            <a:ext cx="365760" cy="365760"/>
          </a:xfrm>
          <a:prstGeom prst="rect">
            <a:avLst/>
          </a:prstGeom>
          <a:no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16" name="Text 14"/>
          <p:cNvSpPr txBox="1"/>
          <p:nvPr/>
        </p:nvSpPr>
        <p:spPr>
          <a:xfrm>
            <a:off x="1188720" y="3172968"/>
            <a:ext cx="3108960" cy="420624"/>
          </a:xfrm>
          <a:prstGeom prst="rect">
            <a:avLst/>
          </a:prstGeom>
          <a:noFill/>
          <a:ln/>
        </p:spPr>
        <p:txBody>
          <a:bodyPr wrap="square" lIns="0" tIns="0" rIns="0" bIns="0" rtlCol="0" anchor="ctr"/>
          <a:lstStyle/>
          <a:p>
            <a:pPr indent="0" marL="0">
              <a:buNone/>
            </a:pPr>
            <a:r>
              <a:rPr lang="en-US" sz="1600" b="1" dirty="0">
                <a:solidFill>
                  <a:schemeClr val="tx2"/>
                </a:solidFill>
              </a:rPr>
              <a:t>Not built in this org</a:t>
            </a:r>
            <a:endParaRPr lang="en-US" sz="1600" dirty="0"/>
          </a:p>
        </p:txBody>
      </p:sp>
      <p:sp>
        <p:nvSpPr>
          <p:cNvPr id="17" name="Text 15"/>
          <p:cNvSpPr txBox="1"/>
          <p:nvPr/>
        </p:nvSpPr>
        <p:spPr>
          <a:xfrm>
            <a:off x="1188720" y="3630168"/>
            <a:ext cx="3108960" cy="868680"/>
          </a:xfrm>
          <a:prstGeom prst="rect">
            <a:avLst/>
          </a:prstGeom>
          <a:noFill/>
          <a:ln/>
        </p:spPr>
        <p:txBody>
          <a:bodyPr wrap="square" lIns="0" tIns="0" rIns="0" bIns="0" rtlCol="0" anchor="t"/>
          <a:lstStyle/>
          <a:p>
            <a:pPr indent="0" marL="0">
              <a:buNone/>
            </a:pPr>
            <a:r>
              <a:rPr lang="en-US" sz="1300" dirty="0">
                <a:solidFill>
                  <a:schemeClr val="tx1"/>
                </a:solidFill>
              </a:rPr>
              <a:t>Case summaries, email summaries and Command Center. Check they render, with live work in Omni Supervisor.</a:t>
            </a:r>
            <a:endParaRPr lang="en-US" sz="1300" dirty="0"/>
          </a:p>
        </p:txBody>
      </p:sp>
      <p:sp>
        <p:nvSpPr>
          <p:cNvPr id="18" name="Prep 4"/>
          <p:cNvSpPr/>
          <p:nvPr/>
        </p:nvSpPr>
        <p:spPr>
          <a:xfrm>
            <a:off x="4663440" y="2971800"/>
            <a:ext cx="4023360" cy="1600200"/>
          </a:xfrm>
          <a:prstGeom prst="roundRect">
            <a:avLst>
              <a:gd name="adj" fmla="val 6857"/>
            </a:avLst>
          </a:prstGeom>
          <a:solidFill>
            <a:schemeClr val="bg2"/>
          </a:solidFill>
          <a:ln w="12700">
            <a:solidFill>
              <a:schemeClr val="bg2"/>
            </a:solidFill>
            <a:prstDash val="solid"/>
          </a:ln>
        </p:spPr>
      </p:sp>
      <p:sp>
        <p:nvSpPr>
          <p:cNvPr id="19" name="Step 4"/>
          <p:cNvSpPr/>
          <p:nvPr/>
        </p:nvSpPr>
        <p:spPr>
          <a:xfrm>
            <a:off x="4892040" y="3200400"/>
            <a:ext cx="365760" cy="365760"/>
          </a:xfrm>
          <a:prstGeom prst="ellipse">
            <a:avLst/>
          </a:prstGeom>
          <a:solidFill>
            <a:schemeClr val="accent2"/>
          </a:solidFill>
          <a:ln w="12700">
            <a:solidFill>
              <a:schemeClr val="accent2"/>
            </a:solidFill>
            <a:prstDash val="solid"/>
          </a:ln>
        </p:spPr>
      </p:sp>
      <p:sp>
        <p:nvSpPr>
          <p:cNvPr id="20" name="Step 4 number"/>
          <p:cNvSpPr txBox="1"/>
          <p:nvPr/>
        </p:nvSpPr>
        <p:spPr>
          <a:xfrm>
            <a:off x="4892040" y="3200400"/>
            <a:ext cx="365760" cy="365760"/>
          </a:xfrm>
          <a:prstGeom prst="rect">
            <a:avLst/>
          </a:prstGeom>
          <a:no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21" name="Text 19"/>
          <p:cNvSpPr txBox="1"/>
          <p:nvPr/>
        </p:nvSpPr>
        <p:spPr>
          <a:xfrm>
            <a:off x="5394960" y="3172968"/>
            <a:ext cx="3108960" cy="420624"/>
          </a:xfrm>
          <a:prstGeom prst="rect">
            <a:avLst/>
          </a:prstGeom>
          <a:noFill/>
          <a:ln/>
        </p:spPr>
        <p:txBody>
          <a:bodyPr wrap="square" lIns="0" tIns="0" rIns="0" bIns="0" rtlCol="0" anchor="ctr"/>
          <a:lstStyle/>
          <a:p>
            <a:pPr indent="0" marL="0">
              <a:buNone/>
            </a:pPr>
            <a:r>
              <a:rPr lang="en-US" sz="1600" b="1" dirty="0">
                <a:solidFill>
                  <a:schemeClr val="tx2"/>
                </a:solidFill>
              </a:rPr>
              <a:t>Fresh case</a:t>
            </a:r>
            <a:endParaRPr lang="en-US" sz="1600" dirty="0"/>
          </a:p>
        </p:txBody>
      </p:sp>
      <p:sp>
        <p:nvSpPr>
          <p:cNvPr id="22" name="Text 20"/>
          <p:cNvSpPr txBox="1"/>
          <p:nvPr/>
        </p:nvSpPr>
        <p:spPr>
          <a:xfrm>
            <a:off x="5394960" y="3630168"/>
            <a:ext cx="3108960" cy="868680"/>
          </a:xfrm>
          <a:prstGeom prst="rect">
            <a:avLst/>
          </a:prstGeom>
          <a:noFill/>
          <a:ln/>
        </p:spPr>
        <p:txBody>
          <a:bodyPr wrap="square" lIns="0" tIns="0" rIns="0" bIns="0" rtlCol="0" anchor="t"/>
          <a:lstStyle/>
          <a:p>
            <a:pPr indent="0" marL="0">
              <a:buNone/>
            </a:pPr>
            <a:r>
              <a:rPr lang="en-US" sz="1300" dirty="0">
                <a:solidFill>
                  <a:schemeClr val="tx1"/>
                </a:solidFill>
              </a:rPr>
              <a:t>Use a case with the PDF, ID and PCS orders attached and no actions run yet, so counts and checkmarks look right.</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NFCU Talk Track">
  <a:themeElements>
    <a:clrScheme name="NFCU Talk Track">
      <a:dk1>
        <a:srgbClr val="1B1F27"/>
      </a:dk1>
      <a:lt1>
        <a:srgbClr val="FFFFFF"/>
      </a:lt1>
      <a:dk2>
        <a:srgbClr val="0B2D5B"/>
      </a:dk2>
      <a:lt2>
        <a:srgbClr val="EEF3F9"/>
      </a:lt2>
      <a:accent1>
        <a:srgbClr val="0B2D5B"/>
      </a:accent1>
      <a:accent2>
        <a:srgbClr val="C8962E"/>
      </a:accent2>
      <a:accent3>
        <a:srgbClr val="2E6DB4"/>
      </a:accent3>
      <a:accent4>
        <a:srgbClr val="5A6473"/>
      </a:accent4>
      <a:accent5>
        <a:srgbClr val="DCE6F2"/>
      </a:accent5>
      <a:accent6>
        <a:srgbClr val="8A6A1F"/>
      </a:accent6>
      <a:hlink>
        <a:srgbClr val="2E6DB4"/>
      </a:hlink>
      <a:folHlink>
        <a:srgbClr val="5A6473"/>
      </a:folHlink>
    </a:clrScheme>
    <a:fontScheme name="NFCU Talk Tra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NFCU Card Account Opening — 3-minute video talk track</dc:title>
  <dc:subject>PptxGenJS Presentation</dc:subject>
  <dc:creator>Chris McCarthy</dc:creator>
  <cp:lastModifiedBy>Chris McCarthy</cp:lastModifiedBy>
  <cp:revision>1</cp:revision>
  <dcterms:created xsi:type="dcterms:W3CDTF">2026-10-05T21:15:06Z</dcterms:created>
  <dcterms:modified xsi:type="dcterms:W3CDTF">2026-10-05T21:15:06Z</dcterms:modified>
</cp:coreProperties>
</file>